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397751" y="566928"/>
            <a:ext cx="2373319" cy="5705856"/>
          </a:xfrm>
          <a:prstGeom prst="roundRect">
            <a:avLst>
              <a:gd name="adj" fmla="val 7000"/>
            </a:avLst>
          </a:prstGeom>
          <a:noFill/>
          <a:ln w="12700">
            <a:solidFill>
              <a:srgbClr val="2B3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5495" y="713232"/>
            <a:ext cx="1897831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960120"/>
            <a:ext cx="8410199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400" b="1" i="0">
                <a:solidFill>
                  <a:srgbClr val="F5B53F"/>
                </a:solidFill>
                <a:latin typeface="Nirmala UI"/>
                <a:ea typeface="Nirmala UI"/>
                <a:cs typeface="Nirmala UI"/>
              </a:rPr>
              <a:t>সতর্ক</a:t>
            </a:r>
          </a:p>
          <a:p>
            <a:pPr algn="l">
              <a:spcBef>
                <a:spcPts val="0"/>
              </a:spcBef>
              <a:spcAft>
                <a:spcPts val="3000"/>
              </a:spcAft>
            </a:pPr>
            <a:r>
              <a:rPr sz="2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Shotorko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Stop the scam.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200"/>
              </a:spcAft>
            </a:pPr>
            <a:r>
              <a:rPr sz="33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Not the call.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Bangla-first voice safety  ·  any phone  ·  no app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358384"/>
            <a:ext cx="841019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GP FutureMakers 2026 · Concept Pitch Round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Live prototype · abukawser.xyz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4D43"/>
                </a:solidFill>
                <a:latin typeface="Nirmala UI"/>
                <a:ea typeface="Nirmala UI"/>
                <a:cs typeface="Nirmala UI"/>
              </a:rPr>
              <a:t>ভয় · তাড়া · একা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66543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Fear. Urgency. Secrecy.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697480"/>
            <a:ext cx="64008" cy="1783080"/>
          </a:xfrm>
          <a:prstGeom prst="rect">
            <a:avLst/>
          </a:prstGeom>
          <a:solidFill>
            <a:srgbClr val="FF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2376" y="2697480"/>
            <a:ext cx="5513831" cy="1783080"/>
          </a:xfrm>
          <a:prstGeom prst="roundRect">
            <a:avLst>
              <a:gd name="adj" fmla="val 6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889504"/>
            <a:ext cx="495604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আমি থানার ওসি। আপনার ছেলেকে ধরা হয়েছে। এখনই ৩০,০০০ টাকা পাঠান। কাউকে বলবেন না।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Fake police. Son arrested. Send the money now. Tell no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700016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Who absorbs it: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older parents in district towns, on the phone they already 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97480"/>
            <a:ext cx="48582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ONE CALL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9128" y="3017520"/>
            <a:ext cx="20116" cy="2514600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75120" y="3118103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F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3017520"/>
            <a:ext cx="4492447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0:00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ভয়   </a:t>
            </a:r>
            <a:r>
              <a:rPr sz="11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fear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63016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F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3529584"/>
            <a:ext cx="4492447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0:20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তাড়া   </a:t>
            </a:r>
            <a:r>
              <a:rPr sz="11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rush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414223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F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4041648"/>
            <a:ext cx="4492447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1:10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একা   </a:t>
            </a:r>
            <a:r>
              <a:rPr sz="11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alone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465429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5B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4553712"/>
            <a:ext cx="4492447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3:00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টাকা পাঠানো   </a:t>
            </a:r>
            <a:r>
              <a:rPr sz="11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money leaves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516636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93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0" y="5065776"/>
            <a:ext cx="4492447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+2 দিন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নাম্বার বন্ধ   </a:t>
            </a:r>
            <a:r>
              <a:rPr sz="11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number dead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760720"/>
            <a:ext cx="10874959" cy="502920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760720"/>
            <a:ext cx="103628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The gap:  </a:t>
            </a:r>
            <a:r>
              <a:rPr sz="17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nobody defends those three minutes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PROBLEM DEPTH · COMPETITION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Every defence answers a different crime.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212848"/>
            <a:ext cx="10874959" cy="566928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212848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Carrier spam filters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768" y="2212848"/>
            <a:ext cx="6943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built for volume, rarely for one persuasive voice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9823" y="2212848"/>
            <a:ext cx="4023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907791"/>
            <a:ext cx="10874959" cy="566928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907791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Number blocklists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8768" y="2907791"/>
            <a:ext cx="6943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a new SIM can cost as little as Tk 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9823" y="2907791"/>
            <a:ext cx="4023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602736"/>
            <a:ext cx="10874959" cy="566928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3602736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Bank and MFS 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768" y="3602736"/>
            <a:ext cx="6943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they see the transfer, never the 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29823" y="3602736"/>
            <a:ext cx="4023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297680"/>
            <a:ext cx="10874959" cy="566928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429768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Awareness campaigns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8768" y="4297680"/>
            <a:ext cx="6943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script rewords faster than the poster prints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9823" y="4297680"/>
            <a:ext cx="4023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992624"/>
            <a:ext cx="10874959" cy="566928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7" y="4992624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Smartphone security apps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8768" y="4992624"/>
            <a:ext cx="6943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phone at risk costs about Tk 1,000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9823" y="4992624"/>
            <a:ext cx="4023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779008"/>
            <a:ext cx="10874959" cy="502920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628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Missing:  </a:t>
            </a:r>
            <a:r>
              <a:rPr sz="18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a defender inside the call, in Bangla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THE MARKET THE MONEY IS 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money is already digital.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0312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MOBILE FINANCIAL SERVICES — BANGLADESH BANK, JULY 2026  ·  SUBSCRIBERS — BTRC, AUGUST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77440"/>
            <a:ext cx="2028687" cy="129844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542032"/>
            <a:ext cx="1589775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Tk 2.17T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MFS value / month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69935" y="2377440"/>
            <a:ext cx="2028687" cy="129844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9391" y="2542032"/>
            <a:ext cx="1589775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Tk 182.7B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e-money balance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81503" y="2377440"/>
            <a:ext cx="2028687" cy="129844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0959" y="2542032"/>
            <a:ext cx="1589775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258.7M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registered accounts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93071" y="2377440"/>
            <a:ext cx="2028687" cy="129844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2527" y="2542032"/>
            <a:ext cx="1589775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191.09M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mobile SIMs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4639" y="2377440"/>
            <a:ext cx="2028687" cy="129844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24095" y="2542032"/>
            <a:ext cx="1589775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87.20M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Grameenphone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45.6% share</a:t>
            </a:r>
          </a:p>
        </p:txBody>
      </p:sp>
      <p:pic>
        <p:nvPicPr>
          <p:cNvPr id="18" name="Picture 17" descr="p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803904"/>
            <a:ext cx="897636" cy="1737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5488" y="5577840"/>
            <a:ext cx="144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this phone too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9508" y="3803904"/>
            <a:ext cx="93738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WHY THAT MATTERS FOR GP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59508" y="4096512"/>
            <a:ext cx="93738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4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over a billion MFS transactions in a month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59508" y="4553712"/>
            <a:ext cx="93738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4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130.2M registered MFS accounts are rural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59508" y="5010912"/>
            <a:ext cx="93738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45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68M subscribers are still outside 4G — so the defence cannot live in the cloud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9508" y="5614416"/>
            <a:ext cx="93738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Bangladesh Bank MFS statistics, Tables 9 and 8 (2026) · BTRC subscribers (Aug 2026) · links and what is calculated: Appendix A1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897880"/>
            <a:ext cx="10874959" cy="457200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897880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The buyer is not the victim:  </a:t>
            </a:r>
            <a:r>
              <a:rPr sz="14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a parent loses the money, Grameenphone loses the trust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THE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Four moments. One defence.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1487" y="1536192"/>
            <a:ext cx="329184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4FD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captured from the live prototype</a:t>
            </a:r>
          </a:p>
        </p:txBody>
      </p:sp>
      <p:pic>
        <p:nvPicPr>
          <p:cNvPr id="8" name="Picture 7" descr="p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537" y="2103120"/>
            <a:ext cx="1511808" cy="2926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5157216"/>
            <a:ext cx="255414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5B53F"/>
                </a:solidFill>
                <a:latin typeface="Nirmala UI"/>
                <a:ea typeface="Nirmala UI"/>
                <a:cs typeface="Nirmala UI"/>
              </a:rPr>
              <a:t>১  </a:t>
            </a: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কলের আগে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before the call</a:t>
            </a:r>
          </a:p>
        </p:txBody>
      </p:sp>
      <p:pic>
        <p:nvPicPr>
          <p:cNvPr id="10" name="Picture 9" descr="du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3101" y="2103120"/>
            <a:ext cx="1531888" cy="2926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31971" y="5157216"/>
            <a:ext cx="255414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5B53F"/>
                </a:solidFill>
                <a:latin typeface="Nirmala UI"/>
                <a:ea typeface="Nirmala UI"/>
                <a:cs typeface="Nirmala UI"/>
              </a:rPr>
              <a:t>২  </a:t>
            </a: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কলের ভেতরে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during the call</a:t>
            </a:r>
          </a:p>
        </p:txBody>
      </p:sp>
      <p:pic>
        <p:nvPicPr>
          <p:cNvPr id="12" name="Picture 11" descr="thamu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705" y="2103120"/>
            <a:ext cx="153188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05575" y="5157216"/>
            <a:ext cx="255414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5B53F"/>
                </a:solidFill>
                <a:latin typeface="Nirmala UI"/>
                <a:ea typeface="Nirmala UI"/>
                <a:cs typeface="Nirmala UI"/>
              </a:rPr>
              <a:t>৩  </a:t>
            </a: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থামুন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the pause</a:t>
            </a:r>
          </a:p>
        </p:txBody>
      </p:sp>
      <p:pic>
        <p:nvPicPr>
          <p:cNvPr id="14" name="Picture 13" descr="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0308" y="2103120"/>
            <a:ext cx="1531888" cy="2926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79179" y="5157216"/>
            <a:ext cx="255414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5B53F"/>
                </a:solidFill>
                <a:latin typeface="Nirmala UI"/>
                <a:ea typeface="Nirmala UI"/>
                <a:cs typeface="Nirmala UI"/>
              </a:rPr>
              <a:t>৪  </a:t>
            </a: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রিপোর্ট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after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779008"/>
            <a:ext cx="10874959" cy="475488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779008"/>
            <a:ext cx="1036289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Two of the four need no smartphone at all.</a:t>
            </a:r>
            <a:r>
              <a:rPr sz="15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  They happen in the network.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THE INTERVENTION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6 / 10</a:t>
            </a:r>
          </a:p>
        </p:txBody>
      </p:sp>
      <p:pic>
        <p:nvPicPr>
          <p:cNvPr id="6" name="Picture 5" descr="tham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7622" y="1572768"/>
            <a:ext cx="2345704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13302" y="6089904"/>
            <a:ext cx="2894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live capture · risk 100/100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798061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0" b="1" i="0">
                <a:solidFill>
                  <a:srgbClr val="FF4D43"/>
                </a:solidFill>
                <a:latin typeface="Nirmala UI"/>
                <a:ea typeface="Nirmala UI"/>
                <a:cs typeface="Nirmala UI"/>
              </a:rPr>
              <a:t>থামুন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05456"/>
            <a:ext cx="798061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One question. Three buttons.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72384"/>
            <a:ext cx="5760720" cy="566928"/>
          </a:xfrm>
          <a:prstGeom prst="roundRect">
            <a:avLst>
              <a:gd name="adj" fmla="val 16000"/>
            </a:avLst>
          </a:prstGeom>
          <a:solidFill>
            <a:srgbClr val="18212D"/>
          </a:solidFill>
          <a:ln w="15875">
            <a:solidFill>
              <a:srgbClr val="4FD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072384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যাচাই করুন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072384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we dial the verification number for you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730752"/>
            <a:ext cx="5760720" cy="566928"/>
          </a:xfrm>
          <a:prstGeom prst="roundRect">
            <a:avLst>
              <a:gd name="adj" fmla="val 16000"/>
            </a:avLst>
          </a:prstGeom>
          <a:solidFill>
            <a:srgbClr val="18212D"/>
          </a:solidFill>
          <a:ln w="15875">
            <a:solidFill>
              <a:srgbClr val="4FD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730752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পরিবারকে ফোন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730752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the family you already saved, one tap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389120"/>
            <a:ext cx="5760720" cy="566928"/>
          </a:xfrm>
          <a:prstGeom prst="roundRect">
            <a:avLst>
              <a:gd name="adj" fmla="val 16000"/>
            </a:avLst>
          </a:prstGeom>
          <a:solidFill>
            <a:srgbClr val="18212D"/>
          </a:solidFill>
          <a:ln w="15875">
            <a:solidFill>
              <a:srgbClr val="93A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389120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আমি জানি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38912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the user decides — and it is still reported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230368"/>
            <a:ext cx="798061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Warn. Never block.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815584"/>
            <a:ext cx="798061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Wrong:  </a:t>
            </a:r>
            <a:r>
              <a:rPr sz="15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one screen.</a:t>
            </a:r>
            <a:r>
              <a:rPr sz="15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      Right:  </a:t>
            </a:r>
            <a:r>
              <a:rPr sz="15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Tk 30,000.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AI APPLICATION &amp; TECHNICAL RATIONALE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Intent</a:t>
            </a:r>
            <a:r>
              <a:rPr sz="2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, not a word 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0312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EIGHT SIGNALS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77440"/>
            <a:ext cx="1014983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authority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92223" y="2377440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leverage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43783" y="2377440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urgency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3048" y="2377440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secrecy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82312" y="23774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credential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761488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payment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27632" y="2761488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reward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2761488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install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73552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×  THE SITUATION AROUND THEM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547872"/>
            <a:ext cx="13342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93A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unknown caller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11532" y="3547872"/>
            <a:ext cx="1485717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93A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call in progress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16121" y="3547872"/>
            <a:ext cx="13342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93A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first receiver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931920"/>
            <a:ext cx="13342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93A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unusual amount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11532" y="3931920"/>
            <a:ext cx="1031443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93A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late night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498848"/>
            <a:ext cx="5623560" cy="713232"/>
          </a:xfrm>
          <a:prstGeom prst="roundRect">
            <a:avLst>
              <a:gd name="adj" fmla="val 9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4498848"/>
            <a:ext cx="518464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risk ≥ 50</a:t>
            </a:r>
            <a:r>
              <a:rPr sz="16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   +   </a:t>
            </a:r>
            <a:r>
              <a:rPr sz="19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an actual ask</a:t>
            </a:r>
            <a:r>
              <a:rPr sz="16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   =   </a:t>
            </a:r>
            <a:r>
              <a:rPr sz="2000" b="1" i="0">
                <a:solidFill>
                  <a:srgbClr val="FF4D43"/>
                </a:solidFill>
                <a:latin typeface="Nirmala UI"/>
                <a:ea typeface="Nirmala UI"/>
                <a:cs typeface="Nirmala UI"/>
              </a:rPr>
              <a:t>থামুন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358383"/>
            <a:ext cx="5623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One signal is normal conversation.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 mother asking for money is not a scam. The combination 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3408" y="2103120"/>
            <a:ext cx="48399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THE SAME SENTENCE, JUDGED LIVE</a:t>
            </a:r>
          </a:p>
        </p:txBody>
      </p:sp>
      <p:pic>
        <p:nvPicPr>
          <p:cNvPr id="26" name="Picture 25" descr="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77440"/>
            <a:ext cx="4839919" cy="157463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93408" y="4043511"/>
            <a:ext cx="483991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 hosted model call from the free-play console: risk 95/100, five signals named in Bangla.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3408" y="4610439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0 of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4610439"/>
            <a:ext cx="34225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ordinary sentences paused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93408" y="4976199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4 of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0728" y="4976199"/>
            <a:ext cx="34225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reworded scam scripts paused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93408" y="5341959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0728" y="5341959"/>
            <a:ext cx="34225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backend checks, not accuracy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5835735"/>
            <a:ext cx="48399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Preliminary: 15 test sentences, no real calls yet. On the handset — no cloud call.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BUSINESS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Who pays, and why they keep paying.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3108960" cy="111556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03120"/>
            <a:ext cx="2743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WHO PAYS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Subscriber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Tk 20 a month · opt-in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2478024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0248" y="2103120"/>
            <a:ext cx="3108960" cy="111556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2103120"/>
            <a:ext cx="2743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WHO BILLS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Grameenphone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 the phone bill, as a pack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9208" y="2478024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82128" y="2103120"/>
            <a:ext cx="3108960" cy="111556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5008" y="2103120"/>
            <a:ext cx="2743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WHO BUILDS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Shotorko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model · engine · report standard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456432"/>
            <a:ext cx="3478682" cy="1298448"/>
          </a:xfrm>
          <a:prstGeom prst="roundRect">
            <a:avLst>
              <a:gd name="adj" fmla="val 7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3456432"/>
            <a:ext cx="3478682" cy="50292"/>
          </a:xfrm>
          <a:prstGeom prst="rect">
            <a:avLst/>
          </a:prstGeom>
          <a:solidFill>
            <a:srgbClr val="F5B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3611879"/>
            <a:ext cx="3076346" cy="9875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Revenue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Tk 20 × 1% of GP's 87.20M base = Tk 209M in year 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56506" y="3456432"/>
            <a:ext cx="3478682" cy="1298448"/>
          </a:xfrm>
          <a:prstGeom prst="roundRect">
            <a:avLst>
              <a:gd name="adj" fmla="val 7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56506" y="3456432"/>
            <a:ext cx="3478682" cy="50292"/>
          </a:xfrm>
          <a:prstGeom prst="rect">
            <a:avLst/>
          </a:prstGeom>
          <a:solidFill>
            <a:srgbClr val="4FD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7674" y="3611879"/>
            <a:ext cx="3076346" cy="9875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Cost avoided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fraud refunds · hotline minutes · churn after a publicised loss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4644" y="3456432"/>
            <a:ext cx="3478682" cy="1298448"/>
          </a:xfrm>
          <a:prstGeom prst="roundRect">
            <a:avLst>
              <a:gd name="adj" fmla="val 7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54644" y="3456432"/>
            <a:ext cx="3478682" cy="50292"/>
          </a:xfrm>
          <a:prstGeom prst="rect">
            <a:avLst/>
          </a:prstGeom>
          <a:solidFill>
            <a:srgbClr val="93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5812" y="3611879"/>
            <a:ext cx="3076346" cy="9875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Later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scam-network intelligence, licensed to MFS operators, 999 and BTRC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974336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PROOF THAT PEOPLE PAY FOR THIS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266944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Truecaller: 4M+ paying subscribers, 0.75% of free users convert (Mar 2026)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577840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Verizon Call Filter Plus: USD 3.99 a month — and it only blocks numbers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943600"/>
            <a:ext cx="10874959" cy="438912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36289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Margin:  </a:t>
            </a: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classifier runs on the handset, so a warning is not a cloud bill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MARKET SIZE · GO-TO-MARKET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TAM · SAM · SOM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3478682" cy="1371600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267712"/>
            <a:ext cx="303977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Tk 45.9B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TAM · every mobile subscriber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191.09M × Tk 20 × 12 · calculated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6506" y="2103120"/>
            <a:ext cx="3478682" cy="1371600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5962" y="2267712"/>
            <a:ext cx="303977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Tk 20.9B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SAM · Grameenphone's base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87.20M × Tk 20 × 12 · calculated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4644" y="2103120"/>
            <a:ext cx="3478682" cy="1371600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4100" y="2267712"/>
            <a:ext cx="303977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Tk 209M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SOM · year one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1% attach · Truecaller converts 0.75%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749039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GO-TO-MARKET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41648"/>
            <a:ext cx="3478682" cy="1225296"/>
          </a:xfrm>
          <a:prstGeom prst="roundRect">
            <a:avLst>
              <a:gd name="adj" fmla="val 7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197096"/>
            <a:ext cx="307634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Phase 1 · 0–6 months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one district · 5,000 opt-in · GP fraud-cell audio · the network warning first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6506" y="4041648"/>
            <a:ext cx="3478682" cy="1225296"/>
          </a:xfrm>
          <a:prstGeom prst="roundRect">
            <a:avLst>
              <a:gd name="adj" fmla="val 7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7674" y="4197096"/>
            <a:ext cx="307634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Phase 2 · 6–18 months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nationwide add-on pack · MFS agent shops · 999 and fraud-cell handoff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4644" y="4041648"/>
            <a:ext cx="3478682" cy="1225296"/>
          </a:xfrm>
          <a:prstGeom prst="roundRect">
            <a:avLst>
              <a:gd name="adj" fmla="val 7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5812" y="4197096"/>
            <a:ext cx="307634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Phase 3 · 18 months +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 shared report standard · other operators · licensed to MFS and BTRC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449824"/>
            <a:ext cx="1087495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Denominators: BTRC subscribers (Aug 2026), Bangladesh Bank MFS (Jul 2026). The Tk 20 price and the 1% attach rate are our assumptions, not a surveyed willingness to pay.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815584"/>
            <a:ext cx="10874959" cy="457200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81558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Entry wedge:  </a:t>
            </a: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pre-call network warning reaches every handset GP already serves — no install, no upgrade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IMPACT · THE ASK · LIVE PROOF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5B53F"/>
                </a:solidFill>
                <a:latin typeface="Nirmala UI"/>
                <a:ea typeface="Nirmala UI"/>
                <a:cs typeface="Nirmala UI"/>
              </a:rPr>
              <a:t>সতর্ক থাকুন।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21408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Stay alert. Tell the family.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42032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WHAT CHANGES IF THIS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16352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Tk 30,000 stays with the person least able to lose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163824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one filed report instead of one family argument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11296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trust in digital money stays with Grameenphone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02336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WHAT WE ASK GP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297680"/>
            <a:ext cx="8138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1.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fraud-call audio and CDR patterns, anonymised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626864"/>
            <a:ext cx="8138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2.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one network announcement slot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956048"/>
            <a:ext cx="8138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3.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one USSD gating test on *21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285232"/>
            <a:ext cx="8138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4.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one pilot district · 90 days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5575" y="1517904"/>
            <a:ext cx="2706624" cy="2706624"/>
          </a:xfrm>
          <a:prstGeom prst="roundRect">
            <a:avLst>
              <a:gd name="adj" fmla="val 5000"/>
            </a:avLst>
          </a:prstGeom>
          <a:solidFill>
            <a:srgbClr val="EEF3F8"/>
          </a:solidFill>
          <a:ln w="1905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r-abukaw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1645920"/>
            <a:ext cx="2468880" cy="2468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515807" y="43159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abukawser.xyz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no login · no install · works on a phone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7424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On the site:  </a:t>
            </a:r>
            <a:r>
              <a:rPr sz="12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Play the story</a:t>
            </a: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  runs the whole intervention in under a minute;  </a:t>
            </a:r>
            <a:r>
              <a:rPr sz="12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নিজে যাচাই </a:t>
            </a: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takes a scam line you were actually sent.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Reputations and radar records are demo data, and the page says so on every screen.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APPENDIX ·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A1 /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Every number, and where it came from.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03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Tk 2.17T · Tk 182.7B · 258.7M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1648" y="2103120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Bangladesh Bank, MFS statistics: transactions table 9, accounts table 8, 2026 — bb.org.bd/econdata/fin_digitalfstat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624328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62432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191.09M · 87.20M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624328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BTRC, mobile subscribers by operator, August 2026 — btrc.gov.bd/pages/static-pages/6922dda8933eb65569e15c3d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145536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14553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122.71M on 4G · 69.18% mobile-internet penetration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3145536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BTRC, teledensity and penetration, August 2026 — btrc.gov.bd/pages/static-pages/teledensity-penetration-8ecc0e-6922e009933eb65569e2524c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66744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66674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4M+ subscribers · 0.75% conversion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1648" y="3666744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Truecaller AB, 10 March 2026 — news.cision.com/truecaller-ab/r/truecaller-surpasses-4-million-premium-subscribers,c4318816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187952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418795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USD 3.99 a 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1648" y="4187952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Verizon Call Filter Plus — verizon.com/support/call-filter-faqs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709160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47091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USD 3.5B lost to imposter scams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1648" y="4709160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US Federal Trade Commission, 15 June 2026 — ftc.gov/news-events/news/press-releases/2026/06/ftc-data-show-people-reported-losing-3-point-5-billion-imposter-scams-2025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523036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Tk 45.9B · 20.9B · 209M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41648" y="5230368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calculated by us from the tables above; the Tk 20 price and 1% attach rate are our own assumptions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870448"/>
            <a:ext cx="10874959" cy="475488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870448"/>
            <a:ext cx="1036289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What we will not claim:  </a:t>
            </a: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there is no published Bangladeshi national fraud-loss figure, and we did not invent 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APPENDIX · UNIT ECONOMICS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A2 /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Sensitivity — what revenue could look like.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84831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GROSS REVENUE POTENTIAL, NOT PROFIT · 87.20M GP BASELINE · Tk 20 ASSUMED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94183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0.5%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9928" y="2487168"/>
            <a:ext cx="6949440" cy="274320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09928" y="2487168"/>
            <a:ext cx="1158240" cy="274320"/>
          </a:xfrm>
          <a:prstGeom prst="roundRect">
            <a:avLst>
              <a:gd name="adj" fmla="val 50000"/>
            </a:avLst>
          </a:prstGeom>
          <a:solidFill>
            <a:srgbClr val="93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5672" y="2395728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Tk 105M / yr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907792"/>
            <a:ext cx="94183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09928" y="2999232"/>
            <a:ext cx="6949440" cy="274320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09928" y="2999232"/>
            <a:ext cx="2316480" cy="274320"/>
          </a:xfrm>
          <a:prstGeom prst="roundRect">
            <a:avLst>
              <a:gd name="adj" fmla="val 50000"/>
            </a:avLst>
          </a:prstGeom>
          <a:solidFill>
            <a:srgbClr val="F5B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05672" y="2907792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Tk 209M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13847" y="290779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base case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419856"/>
            <a:ext cx="94183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09928" y="3511296"/>
            <a:ext cx="6949440" cy="274320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709928" y="3511296"/>
            <a:ext cx="4632960" cy="274320"/>
          </a:xfrm>
          <a:prstGeom prst="roundRect">
            <a:avLst>
              <a:gd name="adj" fmla="val 50000"/>
            </a:avLst>
          </a:prstGeom>
          <a:solidFill>
            <a:srgbClr val="93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05672" y="3419856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Tk 419M / yr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931920"/>
            <a:ext cx="94183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09928" y="4023360"/>
            <a:ext cx="6949440" cy="274320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709928" y="4023360"/>
            <a:ext cx="6949440" cy="274320"/>
          </a:xfrm>
          <a:prstGeom prst="roundRect">
            <a:avLst>
              <a:gd name="adj" fmla="val 50000"/>
            </a:avLst>
          </a:prstGeom>
          <a:solidFill>
            <a:srgbClr val="93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05672" y="393192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Tk 628M / yr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61772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EXPECTED COST ADVANTAGES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910328"/>
            <a:ext cx="5440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classifier runs on the handset — no inference per call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221224"/>
            <a:ext cx="5440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cloud is used only to write the complaint letter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532120"/>
            <a:ext cx="5440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no app-store royalty: the product is a network service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843016"/>
            <a:ext cx="5440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not yet measured: USSD and airtime, support, model updates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617720"/>
            <a:ext cx="52239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WHAT GP STANDS TO GAIN — TO BE 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910328"/>
            <a:ext cx="52239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retention: safety is a reason to stay on the network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221224"/>
            <a:ext cx="52239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Tk 182.7B of e-money float depends on trust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5532120"/>
            <a:ext cx="52239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fewer fraud tickets in the contact centre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843016"/>
            <a:ext cx="52239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consumer-protection leadership with BTRC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APPENDIX · BACKUP: JUDGE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A3 /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What each question is really asking.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03120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Revenue opportunity?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2103120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Tk 45.9B all operators · Tk 20.9B on GP's base — gross, before cost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596896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596896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Tk 20 and 1% — on what basis?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2596896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Truecaller 0.75% conversion, global; our 1% is a target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090672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090672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No-app phones — how?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7328" y="3090672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GP signals before the ring; the Bangla listening is on the handset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584448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584448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Prototype vs production?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7328" y="3584448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this demo uses a hosted model; production runs on the handset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078224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4078224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What still costs money?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4078224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USSD and airtime, complaint handling, updates, support — unmeasured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572000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4572000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GP nets more than it spends?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4572000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unknown today — the 90-day pilot exists to show 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065776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5065776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Do people pay for this?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67328" y="5065776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evidence users pay for safety, not proof of this price point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59552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" y="5559552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What would change the plan?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67328" y="5559552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real Bangla speech that cannot hold the false-positive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144768"/>
            <a:ext cx="108749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Every figure above traces to Appendix A1. The price and attach rate are our assumptions, not surveyed willingness to pay.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Shotorko (সতর্ক) — GP FutureMakers 2026 Concept Pitch</dc:title>
  <dc:subject/>
  <dc:creator>Shotorko</dc:creator>
  <cp:keywords/>
  <dc:description>10 projector slides + 3 appendix. Screenshots from the live prototype at abukawser.xyz. Market figures trace to Bangladesh Bank, BTRC, Truecaller, Verizon and the US FTC (Appendix A1). Speaker notes carry timing, criterion and Q&amp;A pointers.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