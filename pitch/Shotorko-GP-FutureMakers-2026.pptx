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Shotorko means *be alert*. One sentence: a scam only works for about ninety seconds, and Shotorko is built to win those ninety seconds on the cheapest phone in Bangladesh. There's a working prototype at the end — I'll show you the link.</a:t>
            </a:r>
          </a:p>
          <a:p/>
          <a:p>
            <a:r>
              <a:t>— Scoring: Clarity — one sentence, one promise, and the prototype named up front</a:t>
            </a:r>
          </a:p>
          <a:p>
            <a:r>
              <a:t>— If asked: Q&amp;A 11 — isn't this a feature? The loop is the product, not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knows these calls happen. What gets missed is the mechanism. The scam is not a knowledge problem — the victim is not stupid. It is a timing problem. Fear, urgency and a demand for secrecy arrive together, and that combination shuts down the part of the brain that checks. Our design starts from one question: where in that ninety-second window can a network actually intervene?</a:t>
            </a:r>
          </a:p>
          <a:p/>
          <a:p>
            <a:r>
              <a:t>— Scoring: Depth of problem understanding — the mechanism — fear, urgency and secrecy arriving together — not the fact that scams exist</a:t>
            </a:r>
          </a:p>
          <a:p>
            <a:r>
              <a:t>— If asked: Q&amp;A 13 — Google and Samsung already do this: they need the right handset and a supported language.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is a real control and each has a reason it doesn't reach this case. The important one: the bank sees a transaction, the operator sees a call, and no one sees the moment where a person is being frightened into pressing buttons. That moment is the product. Also note the last row — the handset most exposed to this is the one no app can protect.</a:t>
            </a:r>
          </a:p>
          <a:p/>
          <a:p>
            <a:r>
              <a:t>— Scoring: Depth of problem understanding — knowing exactly why each existing control misses this case</a:t>
            </a:r>
          </a:p>
          <a:p>
            <a:r>
              <a:t>— If asked: Q&amp;A 6 — can you really inject before the ring? An operator capability, with an honest weaker fallback.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whole product. The pre-call and network pieces are Grameenphone-native, which is why this belongs to an operator rather than to an app company. The pause is the heart, and I'll show it live in a moment. The after-piece matters for a different reason: today a victim's story never becomes a usable police or fraud-cell record, so the network never learns. Shotorko turns one spoken sentence into three filings.</a:t>
            </a:r>
          </a:p>
          <a:p/>
          <a:p>
            <a:r>
              <a:t>— Scoring: Solution strength — four moments of one continuous defence, two of which need no handset at all</a:t>
            </a:r>
          </a:p>
          <a:p>
            <a:r>
              <a:t>— If asked: Q&amp;A 5 — what does the model see? Nothing is stored; opt out of call listening and two layers still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Notice what it does *not* do. It does not block the call. It does not say 'you are being scammed' — we may be wrong, and when we're wrong we must not have cost someone a real transaction. It asks one question that a frightened person can answer honestly, and gives two exits, both of which are a phone call to a human. And there is a third button: 'I know, send it anyway' — which is honoured, and which teaches the model. On a feature phone the same pause is a voice prompt with two keys. The pause here scored risk 100/100 on the on-device engine, with ভুয়া পুলিশ and মামলা as the two intent labels.</a:t>
            </a:r>
          </a:p>
          <a:p/>
          <a:p>
            <a:r>
              <a:t>— Scoring: Solution strength &amp; differentiation — the intervention itself, and the restraint inside it</a:t>
            </a:r>
          </a:p>
          <a:p>
            <a:r>
              <a:t>— If asked: Q&amp;A 2 — false positives: three gates, and warn-never-block means a wrong answer costs one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claim I want you to test is this: the classifier does not look for the word 'OTP'. It looks for pressure — someone claiming authority, someone mentioning your child, someone rushing you, someone telling you to stay quiet, and then someone asking for money or a code. Any one of those is normal conversation. The combination is the signature, and rewording doesn't escape it because the signals are semantic. The reason it has to be on-device is not privacy alone — it's that a rural handset on 2G cannot round-trip to a cloud model inside the pause window. The prototype on the last slide runs this real classifier in your browser. Any one of those eight signals is normal conversation; the combination is the signature. The hosted model carries only the generative part — a spoken story into a filed complaint — and never decides the interruption alone.</a:t>
            </a:r>
          </a:p>
          <a:p/>
          <a:p>
            <a:r>
              <a:t>— Scoring: AI application &amp; technical rationale — semantic signals over a word list, and why they must run on the handset</a:t>
            </a:r>
          </a:p>
          <a:p>
            <a:r>
              <a:t>— If asked: Q&amp;A 3 — a scoring function, not a neural net: the contract is the design work, the corpus is the ask.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 company can only protect the smartphone it was told to protect. Grameenphone sits where the call, the SIM, the USSD session and the agent network all already are. That's why the same product reaches a feature phone and a smartphone without asking anyone to install anything. We've also listed what we can't do — because the honest version of this plan is stronger, and the constraints are all solvable inside the operator.</a:t>
            </a:r>
          </a:p>
          <a:p/>
          <a:p>
            <a:r>
              <a:t>— Scoring: Differentiation &amp; feasibility — the capabilities only an operator holds, and the constraints we designed around</a:t>
            </a:r>
          </a:p>
          <a:p>
            <a:r>
              <a:t>— If asked: Q&amp;A 7 — Android can't read USSD, so we don't claim it: AccessibilityService, or operator-side gating.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precise about that dashboard: it's the prototype's own demo data, not results from users. The number I'd defend is the 41-second average pause — because that's not a revenue metric, it's the measurement of whether we interrupted the fear long enough for a second human to enter the conversation. And false alarms are counted deliberately. A safety product that doesn't measure its own wrongness will be switched off within a month.</a:t>
            </a:r>
          </a:p>
          <a:p/>
          <a:p>
            <a:r>
              <a:t>— Scoring: Impact &amp; scalability — societal impact first, and the one metric we would defend in the room</a:t>
            </a:r>
          </a:p>
          <a:p>
            <a:r>
              <a:t>— If asked: Q&amp;A 9 — what breaks at 100,000 users: reputation staleness, and trust in the alert.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deliberately narrow. The first four weeks are not building a product, they're getting permission to be honest about the model — we cannot claim a Bangla scam classifier without real Bangla scam speech, and that data sits in GP's fraud cell. If the classifier's false-positive rate is bad after week four, the right decision is to ship the pre-call warning and the radar alone, which still need no handset at all.</a:t>
            </a:r>
          </a:p>
          <a:p/>
          <a:p>
            <a:r>
              <a:t>— Scoring: Feasibility &amp; scalability — a 90-day plan narrow enough to finish, and a specific ask</a:t>
            </a:r>
          </a:p>
          <a:p>
            <a:r>
              <a:t>— If asked: Q&amp;A 16 — what would make us stop: if four weeks of real speech can't hold the false-positive rate, the pause is dropped and the network layer ships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you saw on the pause screen is running in that page. The on-device engine answers with no network whatsoever, and that is the version phase one ships. Flip the **Live agent** switch and the same screen makes a real hosted model call instead: on the থামুন transcript it came back risk 95, five intent signals, ভুয়া পুলিশ, and it paused; on family talk and a recharge SMS it came back zero and stayed quiet. The number reputations and the radar are demo data, and the page says so on every screen. Nothing in the classifier is a mock — type into it. Thank you.</a:t>
            </a:r>
          </a:p>
          <a:p/>
          <a:p>
            <a:r>
              <a:t>— Scoring: Clarity — the claim and the proof are the same page, and the judges can open it</a:t>
            </a:r>
          </a:p>
          <a:p>
            <a:r>
              <a:t>— If asked: Q&amp;A 1 and 3b — why on-device, and is the pause a cloud call? The offline engine is what ships first.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ounded Rectangle 1"/>
          <p:cNvSpPr/>
          <p:nvPr/>
        </p:nvSpPr>
        <p:spPr>
          <a:xfrm>
            <a:off x="9264675" y="548640"/>
            <a:ext cx="2542971" cy="6035040"/>
          </a:xfrm>
          <a:prstGeom prst="roundRect">
            <a:avLst>
              <a:gd name="adj" fmla="val 8000"/>
            </a:avLst>
          </a:prstGeom>
          <a:noFill/>
          <a:ln w="12700">
            <a:solidFill>
              <a:srgbClr val="2B3A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ome.png"/>
          <p:cNvPicPr>
            <a:picLocks noChangeAspect="1"/>
          </p:cNvPicPr>
          <p:nvPr/>
        </p:nvPicPr>
        <p:blipFill>
          <a:blip r:embed="rId2"/>
          <a:stretch>
            <a:fillRect/>
          </a:stretch>
        </p:blipFill>
        <p:spPr>
          <a:xfrm>
            <a:off x="9538995" y="685800"/>
            <a:ext cx="1994331" cy="5669280"/>
          </a:xfrm>
          <a:prstGeom prst="rect">
            <a:avLst/>
          </a:prstGeom>
        </p:spPr>
      </p:pic>
      <p:sp>
        <p:nvSpPr>
          <p:cNvPr id="4" name="TextBox 3"/>
          <p:cNvSpPr txBox="1"/>
          <p:nvPr/>
        </p:nvSpPr>
        <p:spPr>
          <a:xfrm>
            <a:off x="658368" y="1051560"/>
            <a:ext cx="8240547" cy="4023360"/>
          </a:xfrm>
          <a:prstGeom prst="rect">
            <a:avLst/>
          </a:prstGeom>
          <a:noFill/>
        </p:spPr>
        <p:txBody>
          <a:bodyPr wrap="square" lIns="0" rIns="0" tIns="0" bIns="0" anchor="t">
            <a:spAutoFit/>
          </a:bodyPr>
          <a:lstStyle/>
          <a:p>
            <a:pPr algn="l">
              <a:spcBef>
                <a:spcPts val="0"/>
              </a:spcBef>
              <a:spcAft>
                <a:spcPts val="400"/>
              </a:spcAft>
            </a:pPr>
            <a:r>
              <a:rPr sz="7200" b="1" i="0">
                <a:solidFill>
                  <a:srgbClr val="F5B53F"/>
                </a:solidFill>
                <a:latin typeface="Nirmala UI"/>
                <a:ea typeface="Nirmala UI"/>
                <a:cs typeface="Nirmala UI"/>
              </a:rPr>
              <a:t>সতর্ক</a:t>
            </a:r>
          </a:p>
          <a:p>
            <a:pPr algn="l">
              <a:spcBef>
                <a:spcPts val="0"/>
              </a:spcBef>
              <a:spcAft>
                <a:spcPts val="2200"/>
              </a:spcAft>
            </a:pPr>
            <a:r>
              <a:rPr sz="2800" b="1" i="0">
                <a:solidFill>
                  <a:srgbClr val="EEF3F8"/>
                </a:solidFill>
                <a:latin typeface="Segoe UI"/>
                <a:ea typeface="Segoe UI"/>
                <a:cs typeface="Segoe UI"/>
              </a:rPr>
              <a:t>Shotorko</a:t>
            </a:r>
          </a:p>
          <a:p>
            <a:pPr algn="l">
              <a:lnSpc>
                <a:spcPct val="110000"/>
              </a:lnSpc>
              <a:spcBef>
                <a:spcPts val="0"/>
              </a:spcBef>
              <a:spcAft>
                <a:spcPts val="0"/>
              </a:spcAft>
            </a:pPr>
            <a:r>
              <a:rPr sz="2500" b="1" i="0">
                <a:solidFill>
                  <a:srgbClr val="EEF3F8"/>
                </a:solidFill>
                <a:latin typeface="Segoe UI"/>
                <a:ea typeface="Segoe UI"/>
                <a:cs typeface="Segoe UI"/>
              </a:rPr>
              <a:t>The 90 seconds when a phone scam</a:t>
            </a:r>
          </a:p>
          <a:p>
            <a:pPr algn="l">
              <a:lnSpc>
                <a:spcPct val="110000"/>
              </a:lnSpc>
              <a:spcBef>
                <a:spcPts val="0"/>
              </a:spcBef>
              <a:spcAft>
                <a:spcPts val="1600"/>
              </a:spcAft>
            </a:pPr>
            <a:r>
              <a:rPr sz="2500" b="1" i="0">
                <a:solidFill>
                  <a:srgbClr val="F5B53F"/>
                </a:solidFill>
                <a:latin typeface="Segoe UI"/>
                <a:ea typeface="Segoe UI"/>
                <a:cs typeface="Segoe UI"/>
              </a:rPr>
              <a:t>is actually winnable.</a:t>
            </a:r>
          </a:p>
          <a:p>
            <a:pPr algn="l">
              <a:lnSpc>
                <a:spcPct val="130000"/>
              </a:lnSpc>
              <a:spcBef>
                <a:spcPts val="0"/>
              </a:spcBef>
              <a:spcAft>
                <a:spcPts val="0"/>
              </a:spcAft>
            </a:pPr>
            <a:r>
              <a:rPr sz="1500" b="0" i="0">
                <a:solidFill>
                  <a:srgbClr val="93A6BA"/>
                </a:solidFill>
                <a:latin typeface="Segoe UI"/>
                <a:ea typeface="Segoe UI"/>
                <a:cs typeface="Segoe UI"/>
              </a:rPr>
              <a:t>AI that warns a grandmother in Bangla, on any phone — before she sends the money.</a:t>
            </a:r>
          </a:p>
        </p:txBody>
      </p:sp>
      <p:sp>
        <p:nvSpPr>
          <p:cNvPr id="5" name="TextBox 4"/>
          <p:cNvSpPr txBox="1"/>
          <p:nvPr/>
        </p:nvSpPr>
        <p:spPr>
          <a:xfrm>
            <a:off x="658368" y="5440680"/>
            <a:ext cx="8240547" cy="822960"/>
          </a:xfrm>
          <a:prstGeom prst="rect">
            <a:avLst/>
          </a:prstGeom>
          <a:noFill/>
        </p:spPr>
        <p:txBody>
          <a:bodyPr wrap="square" lIns="0" rIns="0" tIns="0" bIns="0" anchor="t">
            <a:spAutoFit/>
          </a:bodyPr>
          <a:lstStyle/>
          <a:p>
            <a:pPr algn="l">
              <a:spcBef>
                <a:spcPts val="0"/>
              </a:spcBef>
              <a:spcAft>
                <a:spcPts val="500"/>
              </a:spcAft>
            </a:pPr>
            <a:r>
              <a:rPr sz="1250" b="0" i="0">
                <a:solidFill>
                  <a:srgbClr val="EEF3F8"/>
                </a:solidFill>
                <a:latin typeface="Segoe UI"/>
                <a:ea typeface="Segoe UI"/>
                <a:cs typeface="Segoe UI"/>
              </a:rPr>
              <a:t>GP FutureMakers 2026 · Concept Pitch Round · 17 October 2026</a:t>
            </a:r>
          </a:p>
          <a:p>
            <a:pPr algn="l">
              <a:spcBef>
                <a:spcPts val="0"/>
              </a:spcBef>
              <a:spcAft>
                <a:spcPts val="0"/>
              </a:spcAft>
            </a:pPr>
            <a:r>
              <a:rPr sz="1250" b="1" i="0">
                <a:solidFill>
                  <a:srgbClr val="4FD6A8"/>
                </a:solidFill>
                <a:latin typeface="Segoe UI"/>
                <a:ea typeface="Segoe UI"/>
                <a:cs typeface="Segoe UI"/>
              </a:rPr>
              <a:t>A working prototype is inside this deck — live at abukawser.xyz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THE PROBLEM</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2 / 10</a:t>
            </a:r>
          </a:p>
        </p:txBody>
      </p:sp>
      <p:sp>
        <p:nvSpPr>
          <p:cNvPr id="6" name="TextBox 5"/>
          <p:cNvSpPr txBox="1"/>
          <p:nvPr/>
        </p:nvSpPr>
        <p:spPr>
          <a:xfrm>
            <a:off x="658368" y="1536192"/>
            <a:ext cx="10874959" cy="502920"/>
          </a:xfrm>
          <a:prstGeom prst="rect">
            <a:avLst/>
          </a:prstGeom>
          <a:noFill/>
        </p:spPr>
        <p:txBody>
          <a:bodyPr wrap="square" lIns="0" rIns="0" tIns="0" bIns="0" anchor="t">
            <a:spAutoFit/>
          </a:bodyPr>
          <a:lstStyle/>
          <a:p>
            <a:pPr algn="l">
              <a:spcBef>
                <a:spcPts val="0"/>
              </a:spcBef>
              <a:spcAft>
                <a:spcPts val="0"/>
              </a:spcAft>
            </a:pPr>
            <a:r>
              <a:rPr sz="2800" b="1" i="0">
                <a:solidFill>
                  <a:srgbClr val="EEF3F8"/>
                </a:solidFill>
                <a:latin typeface="Segoe UI"/>
                <a:ea typeface="Segoe UI"/>
                <a:cs typeface="Segoe UI"/>
              </a:rPr>
              <a:t>It is not ignorance. It is </a:t>
            </a:r>
            <a:r>
              <a:rPr sz="2800" b="1" i="0">
                <a:solidFill>
                  <a:srgbClr val="F5B53F"/>
                </a:solidFill>
                <a:latin typeface="Segoe UI"/>
                <a:ea typeface="Segoe UI"/>
                <a:cs typeface="Segoe UI"/>
              </a:rPr>
              <a:t>timing.</a:t>
            </a:r>
          </a:p>
        </p:txBody>
      </p:sp>
      <p:sp>
        <p:nvSpPr>
          <p:cNvPr id="7" name="Rounded Rectangle 6"/>
          <p:cNvSpPr/>
          <p:nvPr/>
        </p:nvSpPr>
        <p:spPr>
          <a:xfrm>
            <a:off x="658368" y="2121408"/>
            <a:ext cx="5943600" cy="1755648"/>
          </a:xfrm>
          <a:prstGeom prst="roundRect">
            <a:avLst>
              <a:gd name="adj" fmla="val 8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121408"/>
            <a:ext cx="64008" cy="1755648"/>
          </a:xfrm>
          <a:prstGeom prst="rect">
            <a:avLst/>
          </a:prstGeom>
          <a:solidFill>
            <a:srgbClr val="FF4D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286000"/>
            <a:ext cx="5394960" cy="1463040"/>
          </a:xfrm>
          <a:prstGeom prst="rect">
            <a:avLst/>
          </a:prstGeom>
          <a:noFill/>
        </p:spPr>
        <p:txBody>
          <a:bodyPr wrap="square" lIns="0" rIns="0" tIns="0" bIns="0" anchor="t">
            <a:spAutoFit/>
          </a:bodyPr>
          <a:lstStyle/>
          <a:p>
            <a:pPr algn="l">
              <a:lnSpc>
                <a:spcPct val="135000"/>
              </a:lnSpc>
              <a:spcBef>
                <a:spcPts val="0"/>
              </a:spcBef>
              <a:spcAft>
                <a:spcPts val="1000"/>
              </a:spcAft>
            </a:pPr>
            <a:r>
              <a:rPr sz="1800" b="0" i="0">
                <a:solidFill>
                  <a:srgbClr val="EEF3F8"/>
                </a:solidFill>
                <a:latin typeface="Nirmala UI"/>
                <a:ea typeface="Nirmala UI"/>
                <a:cs typeface="Nirmala UI"/>
              </a:rPr>
              <a:t>“আমি থানার ওসি। আপনার ছেলেকে ইয়াবাসহ ধরা হয়েছে। এখনই ৩০,০০০ টাকা পাঠান। কাউকে বলবেন না।”</a:t>
            </a:r>
          </a:p>
          <a:p>
            <a:pPr algn="l">
              <a:lnSpc>
                <a:spcPct val="120000"/>
              </a:lnSpc>
              <a:spcBef>
                <a:spcPts val="0"/>
              </a:spcBef>
              <a:spcAft>
                <a:spcPts val="0"/>
              </a:spcAft>
            </a:pPr>
            <a:r>
              <a:rPr sz="1200" b="0" i="1">
                <a:solidFill>
                  <a:srgbClr val="93A6BA"/>
                </a:solidFill>
                <a:latin typeface="Segoe UI"/>
                <a:ea typeface="Segoe UI"/>
                <a:cs typeface="Segoe UI"/>
              </a:rPr>
              <a:t>“I am the officer in charge. Your son was caught with yaba. Send 30,000 taka now. Tell no one.”</a:t>
            </a:r>
          </a:p>
        </p:txBody>
      </p:sp>
      <p:sp>
        <p:nvSpPr>
          <p:cNvPr id="10" name="TextBox 9"/>
          <p:cNvSpPr txBox="1"/>
          <p:nvPr/>
        </p:nvSpPr>
        <p:spPr>
          <a:xfrm>
            <a:off x="658368" y="4133087"/>
            <a:ext cx="5943600" cy="1920240"/>
          </a:xfrm>
          <a:prstGeom prst="rect">
            <a:avLst/>
          </a:prstGeom>
          <a:noFill/>
        </p:spPr>
        <p:txBody>
          <a:bodyPr wrap="square" lIns="0" rIns="0" tIns="0" bIns="0" anchor="t">
            <a:spAutoFit/>
          </a:bodyPr>
          <a:lstStyle/>
          <a:p>
            <a:pPr algn="l">
              <a:spcBef>
                <a:spcPts val="0"/>
              </a:spcBef>
              <a:spcAft>
                <a:spcPts val="1100"/>
              </a:spcAft>
            </a:pPr>
            <a:r>
              <a:rPr sz="1050" b="1" i="0">
                <a:solidFill>
                  <a:srgbClr val="93A6BA"/>
                </a:solidFill>
                <a:latin typeface="Segoe UI"/>
                <a:ea typeface="Segoe UI"/>
                <a:cs typeface="Segoe UI"/>
              </a:rPr>
              <a:t>WHY THE SCRIPT WORKS</a:t>
            </a:r>
          </a:p>
          <a:p>
            <a:pPr algn="l">
              <a:spcBef>
                <a:spcPts val="0"/>
              </a:spcBef>
              <a:spcAft>
                <a:spcPts val="1100"/>
              </a:spcAft>
            </a:pPr>
            <a:r>
              <a:rPr sz="1400" b="0" i="0">
                <a:solidFill>
                  <a:srgbClr val="FF4D43"/>
                </a:solidFill>
                <a:latin typeface="Segoe UI"/>
                <a:ea typeface="Segoe UI"/>
                <a:cs typeface="Segoe UI"/>
              </a:rPr>
              <a:t>—  </a:t>
            </a:r>
            <a:r>
              <a:rPr sz="1400" b="0" i="0">
                <a:solidFill>
                  <a:srgbClr val="EEF3F8"/>
                </a:solidFill>
                <a:latin typeface="Segoe UI"/>
                <a:ea typeface="Segoe UI"/>
                <a:cs typeface="Segoe UI"/>
              </a:rPr>
              <a:t>Fear arrives before verification is possible.</a:t>
            </a:r>
          </a:p>
          <a:p>
            <a:pPr algn="l">
              <a:spcBef>
                <a:spcPts val="0"/>
              </a:spcBef>
              <a:spcAft>
                <a:spcPts val="1100"/>
              </a:spcAft>
            </a:pPr>
            <a:r>
              <a:rPr sz="1400" b="0" i="0">
                <a:solidFill>
                  <a:srgbClr val="FF4D43"/>
                </a:solidFill>
                <a:latin typeface="Segoe UI"/>
                <a:ea typeface="Segoe UI"/>
                <a:cs typeface="Segoe UI"/>
              </a:rPr>
              <a:t>—  </a:t>
            </a:r>
            <a:r>
              <a:rPr sz="1400" b="0" i="0">
                <a:solidFill>
                  <a:srgbClr val="EEF3F8"/>
                </a:solidFill>
                <a:latin typeface="Segoe UI"/>
                <a:ea typeface="Segoe UI"/>
                <a:cs typeface="Segoe UI"/>
              </a:rPr>
              <a:t>Silence is demanded, so nobody can correct them.</a:t>
            </a:r>
          </a:p>
          <a:p>
            <a:pPr algn="l">
              <a:spcBef>
                <a:spcPts val="0"/>
              </a:spcBef>
              <a:spcAft>
                <a:spcPts val="1100"/>
              </a:spcAft>
            </a:pPr>
            <a:r>
              <a:rPr sz="1400" b="0" i="0">
                <a:solidFill>
                  <a:srgbClr val="FF4D43"/>
                </a:solidFill>
                <a:latin typeface="Segoe UI"/>
                <a:ea typeface="Segoe UI"/>
                <a:cs typeface="Segoe UI"/>
              </a:rPr>
              <a:t>—  </a:t>
            </a:r>
            <a:r>
              <a:rPr sz="1400" b="0" i="0">
                <a:solidFill>
                  <a:srgbClr val="EEF3F8"/>
                </a:solidFill>
                <a:latin typeface="Segoe UI"/>
                <a:ea typeface="Segoe UI"/>
                <a:cs typeface="Segoe UI"/>
              </a:rPr>
              <a:t>Cash moves through an agent shop or USSD in under five minutes.</a:t>
            </a:r>
          </a:p>
          <a:p>
            <a:pPr algn="l">
              <a:spcBef>
                <a:spcPts val="0"/>
              </a:spcBef>
              <a:spcAft>
                <a:spcPts val="0"/>
              </a:spcAft>
            </a:pPr>
            <a:r>
              <a:rPr sz="1400" b="0" i="0">
                <a:solidFill>
                  <a:srgbClr val="FF4D43"/>
                </a:solidFill>
                <a:latin typeface="Segoe UI"/>
                <a:ea typeface="Segoe UI"/>
                <a:cs typeface="Segoe UI"/>
              </a:rPr>
              <a:t>—  </a:t>
            </a:r>
            <a:r>
              <a:rPr sz="1400" b="0" i="0">
                <a:solidFill>
                  <a:srgbClr val="EEF3F8"/>
                </a:solidFill>
                <a:latin typeface="Segoe UI"/>
                <a:ea typeface="Segoe UI"/>
                <a:cs typeface="Segoe UI"/>
              </a:rPr>
              <a:t>By the time the family hears about it, the number is dead.</a:t>
            </a:r>
          </a:p>
        </p:txBody>
      </p:sp>
      <p:sp>
        <p:nvSpPr>
          <p:cNvPr id="11" name="TextBox 10"/>
          <p:cNvSpPr txBox="1"/>
          <p:nvPr/>
        </p:nvSpPr>
        <p:spPr>
          <a:xfrm>
            <a:off x="7086600" y="2121408"/>
            <a:ext cx="4446727"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THE SAME CALL, SECOND BY SECOND</a:t>
            </a:r>
          </a:p>
        </p:txBody>
      </p:sp>
      <p:sp>
        <p:nvSpPr>
          <p:cNvPr id="12" name="Rectangle 11"/>
          <p:cNvSpPr/>
          <p:nvPr/>
        </p:nvSpPr>
        <p:spPr>
          <a:xfrm>
            <a:off x="7168896" y="2542032"/>
            <a:ext cx="20116" cy="2743200"/>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2615184"/>
            <a:ext cx="182880" cy="182880"/>
          </a:xfrm>
          <a:prstGeom prst="roundRect">
            <a:avLst>
              <a:gd name="adj" fmla="val 50000"/>
            </a:avLst>
          </a:prstGeom>
          <a:solidFill>
            <a:srgbClr val="FF4D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2523744"/>
            <a:ext cx="4062679" cy="685800"/>
          </a:xfrm>
          <a:prstGeom prst="rect">
            <a:avLst/>
          </a:prstGeom>
          <a:noFill/>
        </p:spPr>
        <p:txBody>
          <a:bodyPr wrap="square" lIns="0" rIns="0" tIns="0" bIns="0" anchor="t">
            <a:spAutoFit/>
          </a:bodyPr>
          <a:lstStyle/>
          <a:p>
            <a:pPr algn="l">
              <a:spcBef>
                <a:spcPts val="0"/>
              </a:spcBef>
              <a:spcAft>
                <a:spcPts val="100"/>
              </a:spcAft>
            </a:pPr>
            <a:r>
              <a:rPr sz="1250" b="1" i="0">
                <a:solidFill>
                  <a:srgbClr val="FF4D43"/>
                </a:solidFill>
                <a:latin typeface="Segoe UI"/>
                <a:ea typeface="Segoe UI"/>
                <a:cs typeface="Segoe UI"/>
              </a:rPr>
              <a:t>0:00</a:t>
            </a:r>
          </a:p>
          <a:p>
            <a:pPr algn="l">
              <a:lnSpc>
                <a:spcPct val="110000"/>
              </a:lnSpc>
              <a:spcBef>
                <a:spcPts val="0"/>
              </a:spcBef>
              <a:spcAft>
                <a:spcPts val="0"/>
              </a:spcAft>
            </a:pPr>
            <a:r>
              <a:rPr sz="1300" b="0" i="0">
                <a:solidFill>
                  <a:srgbClr val="EEF3F8"/>
                </a:solidFill>
                <a:latin typeface="Segoe UI"/>
                <a:ea typeface="Segoe UI"/>
                <a:cs typeface="Segoe UI"/>
              </a:rPr>
              <a:t>“Your son has been arrested.”</a:t>
            </a:r>
          </a:p>
        </p:txBody>
      </p:sp>
      <p:sp>
        <p:nvSpPr>
          <p:cNvPr id="15" name="Rounded Rectangle 14"/>
          <p:cNvSpPr/>
          <p:nvPr/>
        </p:nvSpPr>
        <p:spPr>
          <a:xfrm>
            <a:off x="7086600" y="3401568"/>
            <a:ext cx="182880" cy="182880"/>
          </a:xfrm>
          <a:prstGeom prst="roundRect">
            <a:avLst>
              <a:gd name="adj" fmla="val 50000"/>
            </a:avLst>
          </a:prstGeom>
          <a:solidFill>
            <a:srgbClr val="FF4D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3310127"/>
            <a:ext cx="4062679" cy="685800"/>
          </a:xfrm>
          <a:prstGeom prst="rect">
            <a:avLst/>
          </a:prstGeom>
          <a:noFill/>
        </p:spPr>
        <p:txBody>
          <a:bodyPr wrap="square" lIns="0" rIns="0" tIns="0" bIns="0" anchor="t">
            <a:spAutoFit/>
          </a:bodyPr>
          <a:lstStyle/>
          <a:p>
            <a:pPr algn="l">
              <a:spcBef>
                <a:spcPts val="0"/>
              </a:spcBef>
              <a:spcAft>
                <a:spcPts val="100"/>
              </a:spcAft>
            </a:pPr>
            <a:r>
              <a:rPr sz="1250" b="1" i="0">
                <a:solidFill>
                  <a:srgbClr val="FF4D43"/>
                </a:solidFill>
                <a:latin typeface="Segoe UI"/>
                <a:ea typeface="Segoe UI"/>
                <a:cs typeface="Segoe UI"/>
              </a:rPr>
              <a:t>0:20</a:t>
            </a:r>
          </a:p>
          <a:p>
            <a:pPr algn="l">
              <a:lnSpc>
                <a:spcPct val="110000"/>
              </a:lnSpc>
              <a:spcBef>
                <a:spcPts val="0"/>
              </a:spcBef>
              <a:spcAft>
                <a:spcPts val="0"/>
              </a:spcAft>
            </a:pPr>
            <a:r>
              <a:rPr sz="1300" b="0" i="0">
                <a:solidFill>
                  <a:srgbClr val="EEF3F8"/>
                </a:solidFill>
                <a:latin typeface="Segoe UI"/>
                <a:ea typeface="Segoe UI"/>
                <a:cs typeface="Segoe UI"/>
              </a:rPr>
              <a:t>“Tell no one or the case grows.”</a:t>
            </a:r>
          </a:p>
        </p:txBody>
      </p:sp>
      <p:sp>
        <p:nvSpPr>
          <p:cNvPr id="17" name="Rounded Rectangle 16"/>
          <p:cNvSpPr/>
          <p:nvPr/>
        </p:nvSpPr>
        <p:spPr>
          <a:xfrm>
            <a:off x="7086600" y="4187952"/>
            <a:ext cx="182880" cy="182880"/>
          </a:xfrm>
          <a:prstGeom prst="roundRect">
            <a:avLst>
              <a:gd name="adj" fmla="val 50000"/>
            </a:avLst>
          </a:prstGeom>
          <a:solidFill>
            <a:srgbClr val="F5B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0648" y="4096512"/>
            <a:ext cx="4062679" cy="685800"/>
          </a:xfrm>
          <a:prstGeom prst="rect">
            <a:avLst/>
          </a:prstGeom>
          <a:noFill/>
        </p:spPr>
        <p:txBody>
          <a:bodyPr wrap="square" lIns="0" rIns="0" tIns="0" bIns="0" anchor="t">
            <a:spAutoFit/>
          </a:bodyPr>
          <a:lstStyle/>
          <a:p>
            <a:pPr algn="l">
              <a:spcBef>
                <a:spcPts val="0"/>
              </a:spcBef>
              <a:spcAft>
                <a:spcPts val="100"/>
              </a:spcAft>
            </a:pPr>
            <a:r>
              <a:rPr sz="1250" b="1" i="0">
                <a:solidFill>
                  <a:srgbClr val="F5B53F"/>
                </a:solidFill>
                <a:latin typeface="Segoe UI"/>
                <a:ea typeface="Segoe UI"/>
                <a:cs typeface="Segoe UI"/>
              </a:rPr>
              <a:t>3:00</a:t>
            </a:r>
          </a:p>
          <a:p>
            <a:pPr algn="l">
              <a:lnSpc>
                <a:spcPct val="110000"/>
              </a:lnSpc>
              <a:spcBef>
                <a:spcPts val="0"/>
              </a:spcBef>
              <a:spcAft>
                <a:spcPts val="0"/>
              </a:spcAft>
            </a:pPr>
            <a:r>
              <a:rPr sz="1300" b="0" i="0">
                <a:solidFill>
                  <a:srgbClr val="EEF3F8"/>
                </a:solidFill>
                <a:latin typeface="Segoe UI"/>
                <a:ea typeface="Segoe UI"/>
                <a:cs typeface="Segoe UI"/>
              </a:rPr>
              <a:t>The money leaves.</a:t>
            </a:r>
          </a:p>
        </p:txBody>
      </p:sp>
      <p:sp>
        <p:nvSpPr>
          <p:cNvPr id="19" name="Rounded Rectangle 18"/>
          <p:cNvSpPr/>
          <p:nvPr/>
        </p:nvSpPr>
        <p:spPr>
          <a:xfrm>
            <a:off x="7086600" y="4974336"/>
            <a:ext cx="182880" cy="182880"/>
          </a:xfrm>
          <a:prstGeom prst="roundRect">
            <a:avLst>
              <a:gd name="adj" fmla="val 50000"/>
            </a:avLst>
          </a:prstGeom>
          <a:solidFill>
            <a:srgbClr val="93A6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70648" y="4882896"/>
            <a:ext cx="4062679" cy="685800"/>
          </a:xfrm>
          <a:prstGeom prst="rect">
            <a:avLst/>
          </a:prstGeom>
          <a:noFill/>
        </p:spPr>
        <p:txBody>
          <a:bodyPr wrap="square" lIns="0" rIns="0" tIns="0" bIns="0" anchor="t">
            <a:spAutoFit/>
          </a:bodyPr>
          <a:lstStyle/>
          <a:p>
            <a:pPr algn="l">
              <a:spcBef>
                <a:spcPts val="0"/>
              </a:spcBef>
              <a:spcAft>
                <a:spcPts val="100"/>
              </a:spcAft>
            </a:pPr>
            <a:r>
              <a:rPr sz="1250" b="1" i="0">
                <a:solidFill>
                  <a:srgbClr val="93A6BA"/>
                </a:solidFill>
                <a:latin typeface="Segoe UI"/>
                <a:ea typeface="Segoe UI"/>
                <a:cs typeface="Segoe UI"/>
              </a:rPr>
              <a:t>+2 days</a:t>
            </a:r>
          </a:p>
          <a:p>
            <a:pPr algn="l">
              <a:lnSpc>
                <a:spcPct val="110000"/>
              </a:lnSpc>
              <a:spcBef>
                <a:spcPts val="0"/>
              </a:spcBef>
              <a:spcAft>
                <a:spcPts val="0"/>
              </a:spcAft>
            </a:pPr>
            <a:r>
              <a:rPr sz="1300" b="0" i="0">
                <a:solidFill>
                  <a:srgbClr val="EEF3F8"/>
                </a:solidFill>
                <a:latin typeface="Segoe UI"/>
                <a:ea typeface="Segoe UI"/>
                <a:cs typeface="Segoe UI"/>
              </a:rPr>
              <a:t>The number is gone. The script is not.</a:t>
            </a:r>
          </a:p>
        </p:txBody>
      </p:sp>
      <p:sp>
        <p:nvSpPr>
          <p:cNvPr id="21" name="TextBox 20"/>
          <p:cNvSpPr txBox="1"/>
          <p:nvPr/>
        </p:nvSpPr>
        <p:spPr>
          <a:xfrm>
            <a:off x="7086600" y="5742432"/>
            <a:ext cx="4446727" cy="658368"/>
          </a:xfrm>
          <a:prstGeom prst="rect">
            <a:avLst/>
          </a:prstGeom>
          <a:noFill/>
        </p:spPr>
        <p:txBody>
          <a:bodyPr wrap="square" lIns="0" rIns="0" tIns="0" bIns="0" anchor="t">
            <a:spAutoFit/>
          </a:bodyPr>
          <a:lstStyle/>
          <a:p>
            <a:pPr algn="l">
              <a:lnSpc>
                <a:spcPct val="125000"/>
              </a:lnSpc>
              <a:spcBef>
                <a:spcPts val="0"/>
              </a:spcBef>
              <a:spcAft>
                <a:spcPts val="0"/>
              </a:spcAft>
            </a:pPr>
            <a:r>
              <a:rPr sz="1250" b="1" i="0">
                <a:solidFill>
                  <a:srgbClr val="F5B53F"/>
                </a:solidFill>
                <a:latin typeface="Segoe UI"/>
                <a:ea typeface="Segoe UI"/>
                <a:cs typeface="Segoe UI"/>
              </a:rPr>
              <a:t>Who absorbs it: </a:t>
            </a:r>
            <a:r>
              <a:rPr sz="1250" b="0" i="0">
                <a:solidFill>
                  <a:srgbClr val="EEF3F8"/>
                </a:solidFill>
                <a:latin typeface="Segoe UI"/>
                <a:ea typeface="Segoe UI"/>
                <a:cs typeface="Segoe UI"/>
              </a:rPr>
              <a:t>older parents in district towns, and every dialect no product was built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DEPTH OF PROBLEM UNDERSTANDING</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3 / 10</a:t>
            </a:r>
          </a:p>
        </p:txBody>
      </p:sp>
      <p:sp>
        <p:nvSpPr>
          <p:cNvPr id="6" name="TextBox 5"/>
          <p:cNvSpPr txBox="1"/>
          <p:nvPr/>
        </p:nvSpPr>
        <p:spPr>
          <a:xfrm>
            <a:off x="658368" y="1536192"/>
            <a:ext cx="10874959" cy="502920"/>
          </a:xfrm>
          <a:prstGeom prst="rect">
            <a:avLst/>
          </a:prstGeom>
          <a:noFill/>
        </p:spPr>
        <p:txBody>
          <a:bodyPr wrap="square" lIns="0" rIns="0" tIns="0" bIns="0" anchor="t">
            <a:spAutoFit/>
          </a:bodyPr>
          <a:lstStyle/>
          <a:p>
            <a:pPr algn="l">
              <a:spcBef>
                <a:spcPts val="0"/>
              </a:spcBef>
              <a:spcAft>
                <a:spcPts val="0"/>
              </a:spcAft>
            </a:pPr>
            <a:r>
              <a:rPr sz="2700" b="1" i="0">
                <a:solidFill>
                  <a:srgbClr val="EEF3F8"/>
                </a:solidFill>
                <a:latin typeface="Segoe UI"/>
                <a:ea typeface="Segoe UI"/>
                <a:cs typeface="Segoe UI"/>
              </a:rPr>
              <a:t>Every existing control has a reason it misses this case.</a:t>
            </a:r>
          </a:p>
        </p:txBody>
      </p:sp>
      <p:sp>
        <p:nvSpPr>
          <p:cNvPr id="7" name="Rounded Rectangle 6"/>
          <p:cNvSpPr/>
          <p:nvPr/>
        </p:nvSpPr>
        <p:spPr>
          <a:xfrm>
            <a:off x="658368" y="2148840"/>
            <a:ext cx="10874959" cy="512064"/>
          </a:xfrm>
          <a:prstGeom prst="roundRect">
            <a:avLst>
              <a:gd name="adj" fmla="val 12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148840"/>
            <a:ext cx="2788920" cy="512064"/>
          </a:xfrm>
          <a:prstGeom prst="rect">
            <a:avLst/>
          </a:prstGeom>
          <a:noFill/>
        </p:spPr>
        <p:txBody>
          <a:bodyPr wrap="square" lIns="0" rIns="0" tIns="0" bIns="0" anchor="ctr">
            <a:spAutoFit/>
          </a:bodyPr>
          <a:lstStyle/>
          <a:p>
            <a:pPr algn="l">
              <a:spcBef>
                <a:spcPts val="0"/>
              </a:spcBef>
              <a:spcAft>
                <a:spcPts val="0"/>
              </a:spcAft>
            </a:pPr>
            <a:r>
              <a:rPr sz="1400" b="1" i="0">
                <a:solidFill>
                  <a:srgbClr val="F5B53F"/>
                </a:solidFill>
                <a:latin typeface="Segoe UI"/>
                <a:ea typeface="Segoe UI"/>
                <a:cs typeface="Segoe UI"/>
              </a:rPr>
              <a:t>Carrier spam filters</a:t>
            </a:r>
          </a:p>
        </p:txBody>
      </p:sp>
      <p:sp>
        <p:nvSpPr>
          <p:cNvPr id="9" name="TextBox 8"/>
          <p:cNvSpPr txBox="1"/>
          <p:nvPr/>
        </p:nvSpPr>
        <p:spPr>
          <a:xfrm>
            <a:off x="3721608" y="2148840"/>
            <a:ext cx="7583119" cy="512064"/>
          </a:xfrm>
          <a:prstGeom prst="rect">
            <a:avLst/>
          </a:prstGeom>
          <a:noFill/>
        </p:spPr>
        <p:txBody>
          <a:bodyPr wrap="square" lIns="0" rIns="0" tIns="0" bIns="0" anchor="ctr">
            <a:spAutoFit/>
          </a:bodyPr>
          <a:lstStyle/>
          <a:p>
            <a:pPr algn="l">
              <a:spcBef>
                <a:spcPts val="0"/>
              </a:spcBef>
              <a:spcAft>
                <a:spcPts val="0"/>
              </a:spcAft>
            </a:pPr>
            <a:r>
              <a:rPr sz="1400" b="0" i="0">
                <a:solidFill>
                  <a:srgbClr val="EEF3F8"/>
                </a:solidFill>
                <a:latin typeface="Segoe UI"/>
                <a:ea typeface="Segoe UI"/>
                <a:cs typeface="Segoe UI"/>
              </a:rPr>
              <a:t>Built for nuisance volume, not for one persuasive human voice</a:t>
            </a:r>
          </a:p>
        </p:txBody>
      </p:sp>
      <p:sp>
        <p:nvSpPr>
          <p:cNvPr id="10" name="Rounded Rectangle 9"/>
          <p:cNvSpPr/>
          <p:nvPr/>
        </p:nvSpPr>
        <p:spPr>
          <a:xfrm>
            <a:off x="658368" y="2752344"/>
            <a:ext cx="10874959" cy="512064"/>
          </a:xfrm>
          <a:prstGeom prst="roundRect">
            <a:avLst>
              <a:gd name="adj" fmla="val 12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2752344"/>
            <a:ext cx="2788920" cy="512064"/>
          </a:xfrm>
          <a:prstGeom prst="rect">
            <a:avLst/>
          </a:prstGeom>
          <a:noFill/>
        </p:spPr>
        <p:txBody>
          <a:bodyPr wrap="square" lIns="0" rIns="0" tIns="0" bIns="0" anchor="ctr">
            <a:spAutoFit/>
          </a:bodyPr>
          <a:lstStyle/>
          <a:p>
            <a:pPr algn="l">
              <a:spcBef>
                <a:spcPts val="0"/>
              </a:spcBef>
              <a:spcAft>
                <a:spcPts val="0"/>
              </a:spcAft>
            </a:pPr>
            <a:r>
              <a:rPr sz="1400" b="1" i="0">
                <a:solidFill>
                  <a:srgbClr val="F5B53F"/>
                </a:solidFill>
                <a:latin typeface="Segoe UI"/>
                <a:ea typeface="Segoe UI"/>
                <a:cs typeface="Segoe UI"/>
              </a:rPr>
              <a:t>Number blocklists</a:t>
            </a:r>
          </a:p>
        </p:txBody>
      </p:sp>
      <p:sp>
        <p:nvSpPr>
          <p:cNvPr id="12" name="TextBox 11"/>
          <p:cNvSpPr txBox="1"/>
          <p:nvPr/>
        </p:nvSpPr>
        <p:spPr>
          <a:xfrm>
            <a:off x="3721608" y="2752344"/>
            <a:ext cx="7583119" cy="512064"/>
          </a:xfrm>
          <a:prstGeom prst="rect">
            <a:avLst/>
          </a:prstGeom>
          <a:noFill/>
        </p:spPr>
        <p:txBody>
          <a:bodyPr wrap="square" lIns="0" rIns="0" tIns="0" bIns="0" anchor="ctr">
            <a:spAutoFit/>
          </a:bodyPr>
          <a:lstStyle/>
          <a:p>
            <a:pPr algn="l">
              <a:spcBef>
                <a:spcPts val="0"/>
              </a:spcBef>
              <a:spcAft>
                <a:spcPts val="0"/>
              </a:spcAft>
            </a:pPr>
            <a:r>
              <a:rPr sz="1400" b="0" i="0">
                <a:solidFill>
                  <a:srgbClr val="EEF3F8"/>
                </a:solidFill>
                <a:latin typeface="Segoe UI"/>
                <a:ea typeface="Segoe UI"/>
                <a:cs typeface="Segoe UI"/>
              </a:rPr>
              <a:t>A fresh SIM costs Tk 200 — the script survives, the number doesn't</a:t>
            </a:r>
          </a:p>
        </p:txBody>
      </p:sp>
      <p:sp>
        <p:nvSpPr>
          <p:cNvPr id="13" name="Rounded Rectangle 12"/>
          <p:cNvSpPr/>
          <p:nvPr/>
        </p:nvSpPr>
        <p:spPr>
          <a:xfrm>
            <a:off x="658368" y="3355848"/>
            <a:ext cx="10874959" cy="512064"/>
          </a:xfrm>
          <a:prstGeom prst="roundRect">
            <a:avLst>
              <a:gd name="adj" fmla="val 12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3355848"/>
            <a:ext cx="2788920" cy="512064"/>
          </a:xfrm>
          <a:prstGeom prst="rect">
            <a:avLst/>
          </a:prstGeom>
          <a:noFill/>
        </p:spPr>
        <p:txBody>
          <a:bodyPr wrap="square" lIns="0" rIns="0" tIns="0" bIns="0" anchor="ctr">
            <a:spAutoFit/>
          </a:bodyPr>
          <a:lstStyle/>
          <a:p>
            <a:pPr algn="l">
              <a:spcBef>
                <a:spcPts val="0"/>
              </a:spcBef>
              <a:spcAft>
                <a:spcPts val="0"/>
              </a:spcAft>
            </a:pPr>
            <a:r>
              <a:rPr sz="1400" b="1" i="0">
                <a:solidFill>
                  <a:srgbClr val="F5B53F"/>
                </a:solidFill>
                <a:latin typeface="Segoe UI"/>
                <a:ea typeface="Segoe UI"/>
                <a:cs typeface="Segoe UI"/>
              </a:rPr>
              <a:t>Bank and MFS fraud rules</a:t>
            </a:r>
          </a:p>
        </p:txBody>
      </p:sp>
      <p:sp>
        <p:nvSpPr>
          <p:cNvPr id="15" name="TextBox 14"/>
          <p:cNvSpPr txBox="1"/>
          <p:nvPr/>
        </p:nvSpPr>
        <p:spPr>
          <a:xfrm>
            <a:off x="3721608" y="3355848"/>
            <a:ext cx="7583119" cy="512064"/>
          </a:xfrm>
          <a:prstGeom prst="rect">
            <a:avLst/>
          </a:prstGeom>
          <a:noFill/>
        </p:spPr>
        <p:txBody>
          <a:bodyPr wrap="square" lIns="0" rIns="0" tIns="0" bIns="0" anchor="ctr">
            <a:spAutoFit/>
          </a:bodyPr>
          <a:lstStyle/>
          <a:p>
            <a:pPr algn="l">
              <a:spcBef>
                <a:spcPts val="0"/>
              </a:spcBef>
              <a:spcAft>
                <a:spcPts val="0"/>
              </a:spcAft>
            </a:pPr>
            <a:r>
              <a:rPr sz="1400" b="0" i="0">
                <a:solidFill>
                  <a:srgbClr val="EEF3F8"/>
                </a:solidFill>
                <a:latin typeface="Segoe UI"/>
                <a:ea typeface="Segoe UI"/>
                <a:cs typeface="Segoe UI"/>
              </a:rPr>
              <a:t>They see the transfer, never the call that caused it</a:t>
            </a:r>
          </a:p>
        </p:txBody>
      </p:sp>
      <p:sp>
        <p:nvSpPr>
          <p:cNvPr id="16" name="Rounded Rectangle 15"/>
          <p:cNvSpPr/>
          <p:nvPr/>
        </p:nvSpPr>
        <p:spPr>
          <a:xfrm>
            <a:off x="658368" y="3959352"/>
            <a:ext cx="10874959" cy="512064"/>
          </a:xfrm>
          <a:prstGeom prst="roundRect">
            <a:avLst>
              <a:gd name="adj" fmla="val 12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3959352"/>
            <a:ext cx="2788920" cy="512064"/>
          </a:xfrm>
          <a:prstGeom prst="rect">
            <a:avLst/>
          </a:prstGeom>
          <a:noFill/>
        </p:spPr>
        <p:txBody>
          <a:bodyPr wrap="square" lIns="0" rIns="0" tIns="0" bIns="0" anchor="ctr">
            <a:spAutoFit/>
          </a:bodyPr>
          <a:lstStyle/>
          <a:p>
            <a:pPr algn="l">
              <a:spcBef>
                <a:spcPts val="0"/>
              </a:spcBef>
              <a:spcAft>
                <a:spcPts val="0"/>
              </a:spcAft>
            </a:pPr>
            <a:r>
              <a:rPr sz="1400" b="1" i="0">
                <a:solidFill>
                  <a:srgbClr val="F5B53F"/>
                </a:solidFill>
                <a:latin typeface="Segoe UI"/>
                <a:ea typeface="Segoe UI"/>
                <a:cs typeface="Segoe UI"/>
              </a:rPr>
              <a:t>Awareness campaigns</a:t>
            </a:r>
          </a:p>
        </p:txBody>
      </p:sp>
      <p:sp>
        <p:nvSpPr>
          <p:cNvPr id="18" name="TextBox 17"/>
          <p:cNvSpPr txBox="1"/>
          <p:nvPr/>
        </p:nvSpPr>
        <p:spPr>
          <a:xfrm>
            <a:off x="3721608" y="3959352"/>
            <a:ext cx="7583119" cy="512064"/>
          </a:xfrm>
          <a:prstGeom prst="rect">
            <a:avLst/>
          </a:prstGeom>
          <a:noFill/>
        </p:spPr>
        <p:txBody>
          <a:bodyPr wrap="square" lIns="0" rIns="0" tIns="0" bIns="0" anchor="ctr">
            <a:spAutoFit/>
          </a:bodyPr>
          <a:lstStyle/>
          <a:p>
            <a:pPr algn="l">
              <a:spcBef>
                <a:spcPts val="0"/>
              </a:spcBef>
              <a:spcAft>
                <a:spcPts val="0"/>
              </a:spcAft>
            </a:pPr>
            <a:r>
              <a:rPr sz="1400" b="0" i="0">
                <a:solidFill>
                  <a:srgbClr val="EEF3F8"/>
                </a:solidFill>
                <a:latin typeface="Segoe UI"/>
                <a:ea typeface="Segoe UI"/>
                <a:cs typeface="Segoe UI"/>
              </a:rPr>
              <a:t>They teach a phrase list; scammers reword faster than campaigns print</a:t>
            </a:r>
          </a:p>
        </p:txBody>
      </p:sp>
      <p:sp>
        <p:nvSpPr>
          <p:cNvPr id="19" name="Rounded Rectangle 18"/>
          <p:cNvSpPr/>
          <p:nvPr/>
        </p:nvSpPr>
        <p:spPr>
          <a:xfrm>
            <a:off x="658368" y="4562856"/>
            <a:ext cx="10874959" cy="512064"/>
          </a:xfrm>
          <a:prstGeom prst="roundRect">
            <a:avLst>
              <a:gd name="adj" fmla="val 12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562856"/>
            <a:ext cx="2788920" cy="512064"/>
          </a:xfrm>
          <a:prstGeom prst="rect">
            <a:avLst/>
          </a:prstGeom>
          <a:noFill/>
        </p:spPr>
        <p:txBody>
          <a:bodyPr wrap="square" lIns="0" rIns="0" tIns="0" bIns="0" anchor="ctr">
            <a:spAutoFit/>
          </a:bodyPr>
          <a:lstStyle/>
          <a:p>
            <a:pPr algn="l">
              <a:spcBef>
                <a:spcPts val="0"/>
              </a:spcBef>
              <a:spcAft>
                <a:spcPts val="0"/>
              </a:spcAft>
            </a:pPr>
            <a:r>
              <a:rPr sz="1400" b="1" i="0">
                <a:solidFill>
                  <a:srgbClr val="F5B53F"/>
                </a:solidFill>
                <a:latin typeface="Segoe UI"/>
                <a:ea typeface="Segoe UI"/>
                <a:cs typeface="Segoe UI"/>
              </a:rPr>
              <a:t>Smartphone security apps</a:t>
            </a:r>
          </a:p>
        </p:txBody>
      </p:sp>
      <p:sp>
        <p:nvSpPr>
          <p:cNvPr id="21" name="TextBox 20"/>
          <p:cNvSpPr txBox="1"/>
          <p:nvPr/>
        </p:nvSpPr>
        <p:spPr>
          <a:xfrm>
            <a:off x="3721608" y="4562856"/>
            <a:ext cx="7583119" cy="512064"/>
          </a:xfrm>
          <a:prstGeom prst="rect">
            <a:avLst/>
          </a:prstGeom>
          <a:noFill/>
        </p:spPr>
        <p:txBody>
          <a:bodyPr wrap="square" lIns="0" rIns="0" tIns="0" bIns="0" anchor="ctr">
            <a:spAutoFit/>
          </a:bodyPr>
          <a:lstStyle/>
          <a:p>
            <a:pPr algn="l">
              <a:spcBef>
                <a:spcPts val="0"/>
              </a:spcBef>
              <a:spcAft>
                <a:spcPts val="0"/>
              </a:spcAft>
            </a:pPr>
            <a:r>
              <a:rPr sz="1400" b="0" i="0">
                <a:solidFill>
                  <a:srgbClr val="EEF3F8"/>
                </a:solidFill>
                <a:latin typeface="Segoe UI"/>
                <a:ea typeface="Segoe UI"/>
                <a:cs typeface="Segoe UI"/>
              </a:rPr>
              <a:t>Useless on the Tk 800 button phone that is most at risk</a:t>
            </a:r>
          </a:p>
        </p:txBody>
      </p:sp>
      <p:sp>
        <p:nvSpPr>
          <p:cNvPr id="22" name="Rounded Rectangle 21"/>
          <p:cNvSpPr/>
          <p:nvPr/>
        </p:nvSpPr>
        <p:spPr>
          <a:xfrm>
            <a:off x="658368" y="5385816"/>
            <a:ext cx="10874959" cy="868680"/>
          </a:xfrm>
          <a:prstGeom prst="roundRect">
            <a:avLst>
              <a:gd name="adj" fmla="val 10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5385816"/>
            <a:ext cx="10326319" cy="868680"/>
          </a:xfrm>
          <a:prstGeom prst="rect">
            <a:avLst/>
          </a:prstGeom>
          <a:noFill/>
        </p:spPr>
        <p:txBody>
          <a:bodyPr wrap="square" lIns="0" rIns="0" tIns="0" bIns="0" anchor="ctr">
            <a:spAutoFit/>
          </a:bodyPr>
          <a:lstStyle/>
          <a:p>
            <a:pPr algn="l">
              <a:spcBef>
                <a:spcPts val="0"/>
              </a:spcBef>
              <a:spcAft>
                <a:spcPts val="0"/>
              </a:spcAft>
            </a:pPr>
            <a:r>
              <a:rPr sz="1700" b="1" i="0">
                <a:solidFill>
                  <a:srgbClr val="F5B53F"/>
                </a:solidFill>
                <a:latin typeface="Segoe UI"/>
                <a:ea typeface="Segoe UI"/>
                <a:cs typeface="Segoe UI"/>
              </a:rPr>
              <a:t>The gap:  </a:t>
            </a:r>
            <a:r>
              <a:rPr sz="1700" b="0" i="0">
                <a:solidFill>
                  <a:srgbClr val="EEF3F8"/>
                </a:solidFill>
                <a:latin typeface="Segoe UI"/>
                <a:ea typeface="Segoe UI"/>
                <a:cs typeface="Segoe UI"/>
              </a:rPr>
              <a:t>nobody intervenes </a:t>
            </a:r>
            <a:r>
              <a:rPr sz="1700" b="1" i="0">
                <a:solidFill>
                  <a:srgbClr val="EEF3F8"/>
                </a:solidFill>
                <a:latin typeface="Segoe UI"/>
                <a:ea typeface="Segoe UI"/>
                <a:cs typeface="Segoe UI"/>
              </a:rPr>
              <a:t>between the call and the money</a:t>
            </a:r>
            <a:r>
              <a:rPr sz="1700" b="0" i="0">
                <a:solidFill>
                  <a:srgbClr val="EEF3F8"/>
                </a:solidFill>
                <a:latin typeface="Segoe UI"/>
                <a:ea typeface="Segoe UI"/>
                <a:cs typeface="Segoe UI"/>
              </a:rPr>
              <a:t> — in Bangla, on the phone the victim actually owns.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THE SOLUTION</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4 / 10</a:t>
            </a:r>
          </a:p>
        </p:txBody>
      </p:sp>
      <p:sp>
        <p:nvSpPr>
          <p:cNvPr id="6" name="TextBox 5"/>
          <p:cNvSpPr txBox="1"/>
          <p:nvPr/>
        </p:nvSpPr>
        <p:spPr>
          <a:xfrm>
            <a:off x="658368" y="1536192"/>
            <a:ext cx="10874959" cy="502920"/>
          </a:xfrm>
          <a:prstGeom prst="rect">
            <a:avLst/>
          </a:prstGeom>
          <a:noFill/>
        </p:spPr>
        <p:txBody>
          <a:bodyPr wrap="square" lIns="0" rIns="0" tIns="0" bIns="0" anchor="t">
            <a:spAutoFit/>
          </a:bodyPr>
          <a:lstStyle/>
          <a:p>
            <a:pPr algn="l">
              <a:spcBef>
                <a:spcPts val="0"/>
              </a:spcBef>
              <a:spcAft>
                <a:spcPts val="0"/>
              </a:spcAft>
            </a:pPr>
            <a:r>
              <a:rPr sz="2700" b="1" i="0">
                <a:solidFill>
                  <a:srgbClr val="EEF3F8"/>
                </a:solidFill>
                <a:latin typeface="Segoe UI"/>
                <a:ea typeface="Segoe UI"/>
                <a:cs typeface="Segoe UI"/>
              </a:rPr>
              <a:t>Four moments, one continuous defence.</a:t>
            </a:r>
          </a:p>
        </p:txBody>
      </p:sp>
      <p:sp>
        <p:nvSpPr>
          <p:cNvPr id="7" name="Rounded Rectangle 6"/>
          <p:cNvSpPr/>
          <p:nvPr/>
        </p:nvSpPr>
        <p:spPr>
          <a:xfrm>
            <a:off x="658368" y="2048256"/>
            <a:ext cx="2554147" cy="3639312"/>
          </a:xfrm>
          <a:prstGeom prst="roundRect">
            <a:avLst>
              <a:gd name="adj" fmla="val 6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157984"/>
            <a:ext cx="2224963" cy="274320"/>
          </a:xfrm>
          <a:prstGeom prst="rect">
            <a:avLst/>
          </a:prstGeom>
          <a:noFill/>
        </p:spPr>
        <p:txBody>
          <a:bodyPr wrap="square" lIns="0" rIns="0" tIns="0" bIns="0" anchor="t">
            <a:spAutoFit/>
          </a:bodyPr>
          <a:lstStyle/>
          <a:p>
            <a:pPr algn="l">
              <a:spcBef>
                <a:spcPts val="0"/>
              </a:spcBef>
              <a:spcAft>
                <a:spcPts val="0"/>
              </a:spcAft>
            </a:pPr>
            <a:r>
              <a:rPr sz="1500" b="1" i="0">
                <a:solidFill>
                  <a:srgbClr val="F5B53F"/>
                </a:solidFill>
                <a:latin typeface="Nirmala UI"/>
                <a:ea typeface="Nirmala UI"/>
                <a:cs typeface="Nirmala UI"/>
              </a:rPr>
              <a:t>১  </a:t>
            </a:r>
            <a:r>
              <a:rPr sz="1000" b="1" i="0">
                <a:solidFill>
                  <a:srgbClr val="93A6BA"/>
                </a:solidFill>
                <a:latin typeface="Segoe UI"/>
                <a:ea typeface="Segoe UI"/>
                <a:cs typeface="Segoe UI"/>
              </a:rPr>
              <a:t>BEFORE THE CALL</a:t>
            </a:r>
          </a:p>
        </p:txBody>
      </p:sp>
      <p:pic>
        <p:nvPicPr>
          <p:cNvPr id="9" name="Picture 8" descr="precall.png"/>
          <p:cNvPicPr>
            <a:picLocks noChangeAspect="1"/>
          </p:cNvPicPr>
          <p:nvPr/>
        </p:nvPicPr>
        <p:blipFill>
          <a:blip r:embed="rId2"/>
          <a:stretch>
            <a:fillRect/>
          </a:stretch>
        </p:blipFill>
        <p:spPr>
          <a:xfrm>
            <a:off x="1451190" y="2505456"/>
            <a:ext cx="968501" cy="1874519"/>
          </a:xfrm>
          <a:prstGeom prst="rect">
            <a:avLst/>
          </a:prstGeom>
        </p:spPr>
      </p:pic>
      <p:sp>
        <p:nvSpPr>
          <p:cNvPr id="10" name="TextBox 9"/>
          <p:cNvSpPr txBox="1"/>
          <p:nvPr/>
        </p:nvSpPr>
        <p:spPr>
          <a:xfrm>
            <a:off x="804672" y="4443984"/>
            <a:ext cx="2261539" cy="1170432"/>
          </a:xfrm>
          <a:prstGeom prst="rect">
            <a:avLst/>
          </a:prstGeom>
          <a:noFill/>
        </p:spPr>
        <p:txBody>
          <a:bodyPr wrap="square" lIns="0" rIns="0" tIns="0" bIns="0" anchor="t">
            <a:spAutoFit/>
          </a:bodyPr>
          <a:lstStyle/>
          <a:p>
            <a:pPr algn="ctr">
              <a:spcBef>
                <a:spcPts val="0"/>
              </a:spcBef>
              <a:spcAft>
                <a:spcPts val="400"/>
              </a:spcAft>
            </a:pPr>
            <a:r>
              <a:rPr sz="1500" b="1" i="0">
                <a:solidFill>
                  <a:srgbClr val="EEF3F8"/>
                </a:solidFill>
                <a:latin typeface="Nirmala UI"/>
                <a:ea typeface="Nirmala UI"/>
                <a:cs typeface="Nirmala UI"/>
              </a:rPr>
              <a:t>কলের আগে</a:t>
            </a:r>
          </a:p>
          <a:p>
            <a:pPr algn="ctr">
              <a:lnSpc>
                <a:spcPct val="118000"/>
              </a:lnSpc>
              <a:spcBef>
                <a:spcPts val="0"/>
              </a:spcBef>
              <a:spcAft>
                <a:spcPts val="0"/>
              </a:spcAft>
            </a:pPr>
            <a:r>
              <a:rPr sz="1050" b="0" i="0">
                <a:solidFill>
                  <a:srgbClr val="93A6BA"/>
                </a:solidFill>
                <a:latin typeface="Segoe UI"/>
                <a:ea typeface="Segoe UI"/>
                <a:cs typeface="Segoe UI"/>
              </a:rPr>
              <a:t>One Bangla sentence plays in the network, before the phone rings. No app, no install.</a:t>
            </a:r>
          </a:p>
        </p:txBody>
      </p:sp>
      <p:sp>
        <p:nvSpPr>
          <p:cNvPr id="11" name="Rounded Rectangle 10"/>
          <p:cNvSpPr/>
          <p:nvPr/>
        </p:nvSpPr>
        <p:spPr>
          <a:xfrm>
            <a:off x="3431971" y="2048256"/>
            <a:ext cx="2554147" cy="3639312"/>
          </a:xfrm>
          <a:prstGeom prst="roundRect">
            <a:avLst>
              <a:gd name="adj" fmla="val 6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6563" y="2157984"/>
            <a:ext cx="2224963" cy="274320"/>
          </a:xfrm>
          <a:prstGeom prst="rect">
            <a:avLst/>
          </a:prstGeom>
          <a:noFill/>
        </p:spPr>
        <p:txBody>
          <a:bodyPr wrap="square" lIns="0" rIns="0" tIns="0" bIns="0" anchor="t">
            <a:spAutoFit/>
          </a:bodyPr>
          <a:lstStyle/>
          <a:p>
            <a:pPr algn="l">
              <a:spcBef>
                <a:spcPts val="0"/>
              </a:spcBef>
              <a:spcAft>
                <a:spcPts val="0"/>
              </a:spcAft>
            </a:pPr>
            <a:r>
              <a:rPr sz="1500" b="1" i="0">
                <a:solidFill>
                  <a:srgbClr val="F5B53F"/>
                </a:solidFill>
                <a:latin typeface="Nirmala UI"/>
                <a:ea typeface="Nirmala UI"/>
                <a:cs typeface="Nirmala UI"/>
              </a:rPr>
              <a:t>২  </a:t>
            </a:r>
            <a:r>
              <a:rPr sz="1000" b="1" i="0">
                <a:solidFill>
                  <a:srgbClr val="93A6BA"/>
                </a:solidFill>
                <a:latin typeface="Segoe UI"/>
                <a:ea typeface="Segoe UI"/>
                <a:cs typeface="Segoe UI"/>
              </a:rPr>
              <a:t>DURING THE CALL</a:t>
            </a:r>
          </a:p>
        </p:txBody>
      </p:sp>
      <p:pic>
        <p:nvPicPr>
          <p:cNvPr id="13" name="Picture 12" descr="during.png"/>
          <p:cNvPicPr>
            <a:picLocks noChangeAspect="1"/>
          </p:cNvPicPr>
          <p:nvPr/>
        </p:nvPicPr>
        <p:blipFill>
          <a:blip r:embed="rId3"/>
          <a:stretch>
            <a:fillRect/>
          </a:stretch>
        </p:blipFill>
        <p:spPr>
          <a:xfrm>
            <a:off x="4218362" y="2505456"/>
            <a:ext cx="981366" cy="1874519"/>
          </a:xfrm>
          <a:prstGeom prst="rect">
            <a:avLst/>
          </a:prstGeom>
        </p:spPr>
      </p:pic>
      <p:sp>
        <p:nvSpPr>
          <p:cNvPr id="14" name="TextBox 13"/>
          <p:cNvSpPr txBox="1"/>
          <p:nvPr/>
        </p:nvSpPr>
        <p:spPr>
          <a:xfrm>
            <a:off x="3578275" y="4443984"/>
            <a:ext cx="2261539" cy="1170432"/>
          </a:xfrm>
          <a:prstGeom prst="rect">
            <a:avLst/>
          </a:prstGeom>
          <a:noFill/>
        </p:spPr>
        <p:txBody>
          <a:bodyPr wrap="square" lIns="0" rIns="0" tIns="0" bIns="0" anchor="t">
            <a:spAutoFit/>
          </a:bodyPr>
          <a:lstStyle/>
          <a:p>
            <a:pPr algn="ctr">
              <a:spcBef>
                <a:spcPts val="0"/>
              </a:spcBef>
              <a:spcAft>
                <a:spcPts val="400"/>
              </a:spcAft>
            </a:pPr>
            <a:r>
              <a:rPr sz="1500" b="1" i="0">
                <a:solidFill>
                  <a:srgbClr val="EEF3F8"/>
                </a:solidFill>
                <a:latin typeface="Nirmala UI"/>
                <a:ea typeface="Nirmala UI"/>
                <a:cs typeface="Nirmala UI"/>
              </a:rPr>
              <a:t>কলের ভেতরে</a:t>
            </a:r>
          </a:p>
          <a:p>
            <a:pPr algn="ctr">
              <a:lnSpc>
                <a:spcPct val="118000"/>
              </a:lnSpc>
              <a:spcBef>
                <a:spcPts val="0"/>
              </a:spcBef>
              <a:spcAft>
                <a:spcPts val="0"/>
              </a:spcAft>
            </a:pPr>
            <a:r>
              <a:rPr sz="1050" b="0" i="0">
                <a:solidFill>
                  <a:srgbClr val="93A6BA"/>
                </a:solidFill>
                <a:latin typeface="Segoe UI"/>
                <a:ea typeface="Segoe UI"/>
                <a:cs typeface="Segoe UI"/>
              </a:rPr>
              <a:t>On-device listening understands intent. Nothing recorded, nothing uploaded.</a:t>
            </a:r>
          </a:p>
        </p:txBody>
      </p:sp>
      <p:sp>
        <p:nvSpPr>
          <p:cNvPr id="15" name="Rounded Rectangle 14"/>
          <p:cNvSpPr/>
          <p:nvPr/>
        </p:nvSpPr>
        <p:spPr>
          <a:xfrm>
            <a:off x="6205575" y="2048256"/>
            <a:ext cx="2554147" cy="3639312"/>
          </a:xfrm>
          <a:prstGeom prst="roundRect">
            <a:avLst>
              <a:gd name="adj" fmla="val 6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0167" y="2157984"/>
            <a:ext cx="2224963" cy="274320"/>
          </a:xfrm>
          <a:prstGeom prst="rect">
            <a:avLst/>
          </a:prstGeom>
          <a:noFill/>
        </p:spPr>
        <p:txBody>
          <a:bodyPr wrap="square" lIns="0" rIns="0" tIns="0" bIns="0" anchor="t">
            <a:spAutoFit/>
          </a:bodyPr>
          <a:lstStyle/>
          <a:p>
            <a:pPr algn="l">
              <a:spcBef>
                <a:spcPts val="0"/>
              </a:spcBef>
              <a:spcAft>
                <a:spcPts val="0"/>
              </a:spcAft>
            </a:pPr>
            <a:r>
              <a:rPr sz="1500" b="1" i="0">
                <a:solidFill>
                  <a:srgbClr val="F5B53F"/>
                </a:solidFill>
                <a:latin typeface="Nirmala UI"/>
                <a:ea typeface="Nirmala UI"/>
                <a:cs typeface="Nirmala UI"/>
              </a:rPr>
              <a:t>৩  </a:t>
            </a:r>
            <a:r>
              <a:rPr sz="1000" b="1" i="0">
                <a:solidFill>
                  <a:srgbClr val="93A6BA"/>
                </a:solidFill>
                <a:latin typeface="Segoe UI"/>
                <a:ea typeface="Segoe UI"/>
                <a:cs typeface="Segoe UI"/>
              </a:rPr>
              <a:t>THE PAUSE</a:t>
            </a:r>
          </a:p>
        </p:txBody>
      </p:sp>
      <p:pic>
        <p:nvPicPr>
          <p:cNvPr id="17" name="Picture 16" descr="thamun.png"/>
          <p:cNvPicPr>
            <a:picLocks noChangeAspect="1"/>
          </p:cNvPicPr>
          <p:nvPr/>
        </p:nvPicPr>
        <p:blipFill>
          <a:blip r:embed="rId4"/>
          <a:stretch>
            <a:fillRect/>
          </a:stretch>
        </p:blipFill>
        <p:spPr>
          <a:xfrm>
            <a:off x="6991966" y="2505456"/>
            <a:ext cx="981366" cy="1874519"/>
          </a:xfrm>
          <a:prstGeom prst="rect">
            <a:avLst/>
          </a:prstGeom>
        </p:spPr>
      </p:pic>
      <p:sp>
        <p:nvSpPr>
          <p:cNvPr id="18" name="TextBox 17"/>
          <p:cNvSpPr txBox="1"/>
          <p:nvPr/>
        </p:nvSpPr>
        <p:spPr>
          <a:xfrm>
            <a:off x="6351879" y="4443984"/>
            <a:ext cx="2261539" cy="1170432"/>
          </a:xfrm>
          <a:prstGeom prst="rect">
            <a:avLst/>
          </a:prstGeom>
          <a:noFill/>
        </p:spPr>
        <p:txBody>
          <a:bodyPr wrap="square" lIns="0" rIns="0" tIns="0" bIns="0" anchor="t">
            <a:spAutoFit/>
          </a:bodyPr>
          <a:lstStyle/>
          <a:p>
            <a:pPr algn="ctr">
              <a:spcBef>
                <a:spcPts val="0"/>
              </a:spcBef>
              <a:spcAft>
                <a:spcPts val="400"/>
              </a:spcAft>
            </a:pPr>
            <a:r>
              <a:rPr sz="1500" b="1" i="0">
                <a:solidFill>
                  <a:srgbClr val="EEF3F8"/>
                </a:solidFill>
                <a:latin typeface="Nirmala UI"/>
                <a:ea typeface="Nirmala UI"/>
                <a:cs typeface="Nirmala UI"/>
              </a:rPr>
              <a:t>থামুন</a:t>
            </a:r>
          </a:p>
          <a:p>
            <a:pPr algn="ctr">
              <a:lnSpc>
                <a:spcPct val="118000"/>
              </a:lnSpc>
              <a:spcBef>
                <a:spcPts val="0"/>
              </a:spcBef>
              <a:spcAft>
                <a:spcPts val="0"/>
              </a:spcAft>
            </a:pPr>
            <a:r>
              <a:rPr sz="1050" b="0" i="0">
                <a:solidFill>
                  <a:srgbClr val="93A6BA"/>
                </a:solidFill>
                <a:latin typeface="Segoe UI"/>
                <a:ea typeface="Segoe UI"/>
                <a:cs typeface="Segoe UI"/>
              </a:rPr>
              <a:t>The moment money or an OTP is about to move: one question, two buttons.</a:t>
            </a:r>
          </a:p>
        </p:txBody>
      </p:sp>
      <p:sp>
        <p:nvSpPr>
          <p:cNvPr id="19" name="Rounded Rectangle 18"/>
          <p:cNvSpPr/>
          <p:nvPr/>
        </p:nvSpPr>
        <p:spPr>
          <a:xfrm>
            <a:off x="8979179" y="2048256"/>
            <a:ext cx="2554147" cy="3639312"/>
          </a:xfrm>
          <a:prstGeom prst="roundRect">
            <a:avLst>
              <a:gd name="adj" fmla="val 6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3771" y="2157984"/>
            <a:ext cx="2224963" cy="274320"/>
          </a:xfrm>
          <a:prstGeom prst="rect">
            <a:avLst/>
          </a:prstGeom>
          <a:noFill/>
        </p:spPr>
        <p:txBody>
          <a:bodyPr wrap="square" lIns="0" rIns="0" tIns="0" bIns="0" anchor="t">
            <a:spAutoFit/>
          </a:bodyPr>
          <a:lstStyle/>
          <a:p>
            <a:pPr algn="l">
              <a:spcBef>
                <a:spcPts val="0"/>
              </a:spcBef>
              <a:spcAft>
                <a:spcPts val="0"/>
              </a:spcAft>
            </a:pPr>
            <a:r>
              <a:rPr sz="1500" b="1" i="0">
                <a:solidFill>
                  <a:srgbClr val="F5B53F"/>
                </a:solidFill>
                <a:latin typeface="Nirmala UI"/>
                <a:ea typeface="Nirmala UI"/>
                <a:cs typeface="Nirmala UI"/>
              </a:rPr>
              <a:t>৪  </a:t>
            </a:r>
            <a:r>
              <a:rPr sz="1000" b="1" i="0">
                <a:solidFill>
                  <a:srgbClr val="93A6BA"/>
                </a:solidFill>
                <a:latin typeface="Segoe UI"/>
                <a:ea typeface="Segoe UI"/>
                <a:cs typeface="Segoe UI"/>
              </a:rPr>
              <a:t>AFTER</a:t>
            </a:r>
          </a:p>
        </p:txBody>
      </p:sp>
      <p:pic>
        <p:nvPicPr>
          <p:cNvPr id="21" name="Picture 20" descr="after.png"/>
          <p:cNvPicPr>
            <a:picLocks noChangeAspect="1"/>
          </p:cNvPicPr>
          <p:nvPr/>
        </p:nvPicPr>
        <p:blipFill>
          <a:blip r:embed="rId5"/>
          <a:stretch>
            <a:fillRect/>
          </a:stretch>
        </p:blipFill>
        <p:spPr>
          <a:xfrm>
            <a:off x="9765570" y="2505456"/>
            <a:ext cx="981366" cy="1874519"/>
          </a:xfrm>
          <a:prstGeom prst="rect">
            <a:avLst/>
          </a:prstGeom>
        </p:spPr>
      </p:pic>
      <p:sp>
        <p:nvSpPr>
          <p:cNvPr id="22" name="TextBox 21"/>
          <p:cNvSpPr txBox="1"/>
          <p:nvPr/>
        </p:nvSpPr>
        <p:spPr>
          <a:xfrm>
            <a:off x="9125483" y="4443984"/>
            <a:ext cx="2261539" cy="1170432"/>
          </a:xfrm>
          <a:prstGeom prst="rect">
            <a:avLst/>
          </a:prstGeom>
          <a:noFill/>
        </p:spPr>
        <p:txBody>
          <a:bodyPr wrap="square" lIns="0" rIns="0" tIns="0" bIns="0" anchor="t">
            <a:spAutoFit/>
          </a:bodyPr>
          <a:lstStyle/>
          <a:p>
            <a:pPr algn="ctr">
              <a:spcBef>
                <a:spcPts val="0"/>
              </a:spcBef>
              <a:spcAft>
                <a:spcPts val="400"/>
              </a:spcAft>
            </a:pPr>
            <a:r>
              <a:rPr sz="1500" b="1" i="0">
                <a:solidFill>
                  <a:srgbClr val="EEF3F8"/>
                </a:solidFill>
                <a:latin typeface="Nirmala UI"/>
                <a:ea typeface="Nirmala UI"/>
                <a:cs typeface="Nirmala UI"/>
              </a:rPr>
              <a:t>রিপোর্ট</a:t>
            </a:r>
          </a:p>
          <a:p>
            <a:pPr algn="ctr">
              <a:lnSpc>
                <a:spcPct val="118000"/>
              </a:lnSpc>
              <a:spcBef>
                <a:spcPts val="0"/>
              </a:spcBef>
              <a:spcAft>
                <a:spcPts val="0"/>
              </a:spcAft>
            </a:pPr>
            <a:r>
              <a:rPr sz="1050" b="0" i="0">
                <a:solidFill>
                  <a:srgbClr val="93A6BA"/>
                </a:solidFill>
                <a:latin typeface="Segoe UI"/>
                <a:ea typeface="Segoe UI"/>
                <a:cs typeface="Segoe UI"/>
              </a:rPr>
              <a:t>A spoken story becomes a complaint that can be filed, and feeds the radar.</a:t>
            </a:r>
          </a:p>
        </p:txBody>
      </p:sp>
      <p:sp>
        <p:nvSpPr>
          <p:cNvPr id="23" name="Rounded Rectangle 22"/>
          <p:cNvSpPr/>
          <p:nvPr/>
        </p:nvSpPr>
        <p:spPr>
          <a:xfrm>
            <a:off x="658368" y="5870448"/>
            <a:ext cx="3478682" cy="566928"/>
          </a:xfrm>
          <a:prstGeom prst="roundRect">
            <a:avLst>
              <a:gd name="adj" fmla="val 14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870448"/>
            <a:ext cx="3112922" cy="566928"/>
          </a:xfrm>
          <a:prstGeom prst="rect">
            <a:avLst/>
          </a:prstGeom>
          <a:noFill/>
        </p:spPr>
        <p:txBody>
          <a:bodyPr wrap="square" lIns="0" rIns="0" tIns="0" bIns="0" anchor="ctr">
            <a:spAutoFit/>
          </a:bodyPr>
          <a:lstStyle/>
          <a:p>
            <a:pPr algn="l">
              <a:lnSpc>
                <a:spcPct val="110000"/>
              </a:lnSpc>
              <a:spcBef>
                <a:spcPts val="0"/>
              </a:spcBef>
              <a:spcAft>
                <a:spcPts val="0"/>
              </a:spcAft>
            </a:pPr>
            <a:r>
              <a:rPr sz="1300" b="1" i="0">
                <a:solidFill>
                  <a:srgbClr val="4FD6A8"/>
                </a:solidFill>
                <a:latin typeface="Nirmala UI"/>
                <a:ea typeface="Nirmala UI"/>
                <a:cs typeface="Nirmala UI"/>
              </a:rPr>
              <a:t>আপনজন  </a:t>
            </a:r>
            <a:r>
              <a:rPr sz="1150" b="0" i="0">
                <a:solidFill>
                  <a:srgbClr val="93A6BA"/>
                </a:solidFill>
                <a:latin typeface="Segoe UI"/>
                <a:ea typeface="Segoe UI"/>
                <a:cs typeface="Segoe UI"/>
              </a:rPr>
              <a:t>family alert, set up by QR in two minutes</a:t>
            </a:r>
          </a:p>
        </p:txBody>
      </p:sp>
      <p:sp>
        <p:nvSpPr>
          <p:cNvPr id="25" name="Rounded Rectangle 24"/>
          <p:cNvSpPr/>
          <p:nvPr/>
        </p:nvSpPr>
        <p:spPr>
          <a:xfrm>
            <a:off x="4356506" y="5870448"/>
            <a:ext cx="3478682" cy="566928"/>
          </a:xfrm>
          <a:prstGeom prst="roundRect">
            <a:avLst>
              <a:gd name="adj" fmla="val 14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39386" y="5870448"/>
            <a:ext cx="3112922" cy="566928"/>
          </a:xfrm>
          <a:prstGeom prst="rect">
            <a:avLst/>
          </a:prstGeom>
          <a:noFill/>
        </p:spPr>
        <p:txBody>
          <a:bodyPr wrap="square" lIns="0" rIns="0" tIns="0" bIns="0" anchor="ctr">
            <a:spAutoFit/>
          </a:bodyPr>
          <a:lstStyle/>
          <a:p>
            <a:pPr algn="l">
              <a:lnSpc>
                <a:spcPct val="110000"/>
              </a:lnSpc>
              <a:spcBef>
                <a:spcPts val="0"/>
              </a:spcBef>
              <a:spcAft>
                <a:spcPts val="0"/>
              </a:spcAft>
            </a:pPr>
            <a:r>
              <a:rPr sz="1300" b="1" i="0">
                <a:solidFill>
                  <a:srgbClr val="F5B53F"/>
                </a:solidFill>
                <a:latin typeface="Nirmala UI"/>
                <a:ea typeface="Nirmala UI"/>
                <a:cs typeface="Nirmala UI"/>
              </a:rPr>
              <a:t>এজেন্ট সতর্কতা  </a:t>
            </a:r>
            <a:r>
              <a:rPr sz="1150" b="0" i="0">
                <a:solidFill>
                  <a:srgbClr val="93A6BA"/>
                </a:solidFill>
                <a:latin typeface="Segoe UI"/>
                <a:ea typeface="Segoe UI"/>
                <a:cs typeface="Segoe UI"/>
              </a:rPr>
              <a:t>the shopkeeper gets a warning and one question to ask</a:t>
            </a:r>
          </a:p>
        </p:txBody>
      </p:sp>
      <p:sp>
        <p:nvSpPr>
          <p:cNvPr id="27" name="Rounded Rectangle 26"/>
          <p:cNvSpPr/>
          <p:nvPr/>
        </p:nvSpPr>
        <p:spPr>
          <a:xfrm>
            <a:off x="8054644" y="5870448"/>
            <a:ext cx="3478682" cy="566928"/>
          </a:xfrm>
          <a:prstGeom prst="roundRect">
            <a:avLst>
              <a:gd name="adj" fmla="val 14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37524" y="5870448"/>
            <a:ext cx="3112922" cy="566928"/>
          </a:xfrm>
          <a:prstGeom prst="rect">
            <a:avLst/>
          </a:prstGeom>
          <a:noFill/>
        </p:spPr>
        <p:txBody>
          <a:bodyPr wrap="square" lIns="0" rIns="0" tIns="0" bIns="0" anchor="ctr">
            <a:spAutoFit/>
          </a:bodyPr>
          <a:lstStyle/>
          <a:p>
            <a:pPr algn="l">
              <a:lnSpc>
                <a:spcPct val="110000"/>
              </a:lnSpc>
              <a:spcBef>
                <a:spcPts val="0"/>
              </a:spcBef>
              <a:spcAft>
                <a:spcPts val="0"/>
              </a:spcAft>
            </a:pPr>
            <a:r>
              <a:rPr sz="1300" b="1" i="0">
                <a:solidFill>
                  <a:srgbClr val="93A6BA"/>
                </a:solidFill>
                <a:latin typeface="Nirmala UI"/>
                <a:ea typeface="Nirmala UI"/>
                <a:cs typeface="Nirmala UI"/>
              </a:rPr>
              <a:t>স্ক্যাম রাডার  </a:t>
            </a:r>
            <a:r>
              <a:rPr sz="1150" b="0" i="0">
                <a:solidFill>
                  <a:srgbClr val="93A6BA"/>
                </a:solidFill>
                <a:latin typeface="Segoe UI"/>
                <a:ea typeface="Segoe UI"/>
                <a:cs typeface="Segoe UI"/>
              </a:rPr>
              <a:t>reports cluster numbers into the networks behind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THE INTERVENTION</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5 / 10</a:t>
            </a:r>
          </a:p>
        </p:txBody>
      </p:sp>
      <p:pic>
        <p:nvPicPr>
          <p:cNvPr id="6" name="Picture 5" descr="thamun.png"/>
          <p:cNvPicPr>
            <a:picLocks noChangeAspect="1"/>
          </p:cNvPicPr>
          <p:nvPr/>
        </p:nvPicPr>
        <p:blipFill>
          <a:blip r:embed="rId2"/>
          <a:stretch>
            <a:fillRect/>
          </a:stretch>
        </p:blipFill>
        <p:spPr>
          <a:xfrm>
            <a:off x="8978654" y="1517904"/>
            <a:ext cx="2417512" cy="4617720"/>
          </a:xfrm>
          <a:prstGeom prst="rect">
            <a:avLst/>
          </a:prstGeom>
        </p:spPr>
      </p:pic>
      <p:sp>
        <p:nvSpPr>
          <p:cNvPr id="7" name="TextBox 6"/>
          <p:cNvSpPr txBox="1"/>
          <p:nvPr/>
        </p:nvSpPr>
        <p:spPr>
          <a:xfrm>
            <a:off x="8795774" y="6190488"/>
            <a:ext cx="2783272" cy="219456"/>
          </a:xfrm>
          <a:prstGeom prst="rect">
            <a:avLst/>
          </a:prstGeom>
          <a:noFill/>
        </p:spPr>
        <p:txBody>
          <a:bodyPr wrap="square" lIns="0" rIns="0" tIns="0" bIns="0" anchor="t">
            <a:spAutoFit/>
          </a:bodyPr>
          <a:lstStyle/>
          <a:p>
            <a:pPr algn="ctr">
              <a:spcBef>
                <a:spcPts val="0"/>
              </a:spcBef>
              <a:spcAft>
                <a:spcPts val="0"/>
              </a:spcAft>
            </a:pPr>
            <a:r>
              <a:rPr sz="1050" b="0" i="1">
                <a:solidFill>
                  <a:srgbClr val="93A6BA"/>
                </a:solidFill>
                <a:latin typeface="Segoe UI"/>
                <a:ea typeface="Segoe UI"/>
                <a:cs typeface="Segoe UI"/>
              </a:rPr>
              <a:t>captured live from abukawser.xyz</a:t>
            </a:r>
          </a:p>
        </p:txBody>
      </p:sp>
      <p:sp>
        <p:nvSpPr>
          <p:cNvPr id="8" name="TextBox 7"/>
          <p:cNvSpPr txBox="1"/>
          <p:nvPr/>
        </p:nvSpPr>
        <p:spPr>
          <a:xfrm>
            <a:off x="658368" y="1554480"/>
            <a:ext cx="7771646" cy="960120"/>
          </a:xfrm>
          <a:prstGeom prst="rect">
            <a:avLst/>
          </a:prstGeom>
          <a:noFill/>
        </p:spPr>
        <p:txBody>
          <a:bodyPr wrap="square" lIns="0" rIns="0" tIns="0" bIns="0" anchor="t">
            <a:spAutoFit/>
          </a:bodyPr>
          <a:lstStyle/>
          <a:p>
            <a:pPr algn="l">
              <a:spcBef>
                <a:spcPts val="0"/>
              </a:spcBef>
              <a:spcAft>
                <a:spcPts val="0"/>
              </a:spcAft>
            </a:pPr>
            <a:r>
              <a:rPr sz="5800" b="1" i="0">
                <a:solidFill>
                  <a:srgbClr val="FF4D43"/>
                </a:solidFill>
                <a:latin typeface="Nirmala UI"/>
                <a:ea typeface="Nirmala UI"/>
                <a:cs typeface="Nirmala UI"/>
              </a:rPr>
              <a:t>থামুন</a:t>
            </a:r>
          </a:p>
        </p:txBody>
      </p:sp>
      <p:sp>
        <p:nvSpPr>
          <p:cNvPr id="9" name="TextBox 8"/>
          <p:cNvSpPr txBox="1"/>
          <p:nvPr/>
        </p:nvSpPr>
        <p:spPr>
          <a:xfrm>
            <a:off x="658368" y="2578608"/>
            <a:ext cx="7771646" cy="960120"/>
          </a:xfrm>
          <a:prstGeom prst="rect">
            <a:avLst/>
          </a:prstGeom>
          <a:noFill/>
        </p:spPr>
        <p:txBody>
          <a:bodyPr wrap="square" lIns="0" rIns="0" tIns="0" bIns="0" anchor="t">
            <a:spAutoFit/>
          </a:bodyPr>
          <a:lstStyle/>
          <a:p>
            <a:pPr algn="l">
              <a:lnSpc>
                <a:spcPct val="128000"/>
              </a:lnSpc>
              <a:spcBef>
                <a:spcPts val="0"/>
              </a:spcBef>
              <a:spcAft>
                <a:spcPts val="600"/>
              </a:spcAft>
            </a:pPr>
            <a:r>
              <a:rPr sz="1900" b="0" i="0">
                <a:solidFill>
                  <a:srgbClr val="EEF3F8"/>
                </a:solidFill>
                <a:latin typeface="Nirmala UI"/>
                <a:ea typeface="Nirmala UI"/>
                <a:cs typeface="Nirmala UI"/>
              </a:rPr>
              <a:t>কেউ কি ফোনে ভয় দেখাচ্ছে বা তাড়াতাড়ি করতে বলছে?</a:t>
            </a:r>
          </a:p>
          <a:p>
            <a:pPr algn="l">
              <a:spcBef>
                <a:spcPts val="0"/>
              </a:spcBef>
              <a:spcAft>
                <a:spcPts val="0"/>
              </a:spcAft>
            </a:pPr>
            <a:r>
              <a:rPr sz="1300" b="0" i="1">
                <a:solidFill>
                  <a:srgbClr val="93A6BA"/>
                </a:solidFill>
                <a:latin typeface="Segoe UI"/>
                <a:ea typeface="Segoe UI"/>
                <a:cs typeface="Segoe UI"/>
              </a:rPr>
              <a:t>Is someone on the phone scaring you, or rushing you?</a:t>
            </a:r>
          </a:p>
        </p:txBody>
      </p:sp>
      <p:sp>
        <p:nvSpPr>
          <p:cNvPr id="10" name="Rounded Rectangle 9"/>
          <p:cNvSpPr/>
          <p:nvPr/>
        </p:nvSpPr>
        <p:spPr>
          <a:xfrm>
            <a:off x="658368" y="3639312"/>
            <a:ext cx="4937760" cy="530352"/>
          </a:xfrm>
          <a:prstGeom prst="roundRect">
            <a:avLst>
              <a:gd name="adj" fmla="val 18000"/>
            </a:avLst>
          </a:prstGeom>
          <a:solidFill>
            <a:srgbClr val="18212D"/>
          </a:solidFill>
          <a:ln w="15875">
            <a:solidFill>
              <a:srgbClr val="4FD6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639312"/>
            <a:ext cx="4572000" cy="530352"/>
          </a:xfrm>
          <a:prstGeom prst="rect">
            <a:avLst/>
          </a:prstGeom>
          <a:noFill/>
        </p:spPr>
        <p:txBody>
          <a:bodyPr wrap="square" lIns="0" rIns="0" tIns="0" bIns="0" anchor="ctr">
            <a:spAutoFit/>
          </a:bodyPr>
          <a:lstStyle/>
          <a:p>
            <a:pPr algn="l">
              <a:spcBef>
                <a:spcPts val="0"/>
              </a:spcBef>
              <a:spcAft>
                <a:spcPts val="0"/>
              </a:spcAft>
            </a:pPr>
            <a:r>
              <a:rPr sz="1400" b="1" i="0">
                <a:solidFill>
                  <a:srgbClr val="EEF3F8"/>
                </a:solidFill>
                <a:latin typeface="Nirmala UI"/>
                <a:ea typeface="Nirmala UI"/>
                <a:cs typeface="Nirmala UI"/>
              </a:rPr>
              <a:t>আসল কিনা যাচাই করুন   </a:t>
            </a:r>
            <a:r>
              <a:rPr sz="1100" b="0" i="0">
                <a:solidFill>
                  <a:srgbClr val="4FD6A8"/>
                </a:solidFill>
                <a:latin typeface="Segoe UI"/>
                <a:ea typeface="Segoe UI"/>
                <a:cs typeface="Segoe UI"/>
              </a:rPr>
              <a:t>calls 999 or the official helpline for them</a:t>
            </a:r>
          </a:p>
        </p:txBody>
      </p:sp>
      <p:sp>
        <p:nvSpPr>
          <p:cNvPr id="12" name="Rounded Rectangle 11"/>
          <p:cNvSpPr/>
          <p:nvPr/>
        </p:nvSpPr>
        <p:spPr>
          <a:xfrm>
            <a:off x="658368" y="4261104"/>
            <a:ext cx="4937760" cy="530352"/>
          </a:xfrm>
          <a:prstGeom prst="roundRect">
            <a:avLst>
              <a:gd name="adj" fmla="val 18000"/>
            </a:avLst>
          </a:prstGeom>
          <a:solidFill>
            <a:srgbClr val="18212D"/>
          </a:solidFill>
          <a:ln w="15875">
            <a:solidFill>
              <a:srgbClr val="4FD6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261104"/>
            <a:ext cx="4572000" cy="530352"/>
          </a:xfrm>
          <a:prstGeom prst="rect">
            <a:avLst/>
          </a:prstGeom>
          <a:noFill/>
        </p:spPr>
        <p:txBody>
          <a:bodyPr wrap="square" lIns="0" rIns="0" tIns="0" bIns="0" anchor="ctr">
            <a:spAutoFit/>
          </a:bodyPr>
          <a:lstStyle/>
          <a:p>
            <a:pPr algn="l">
              <a:spcBef>
                <a:spcPts val="0"/>
              </a:spcBef>
              <a:spcAft>
                <a:spcPts val="0"/>
              </a:spcAft>
            </a:pPr>
            <a:r>
              <a:rPr sz="1400" b="1" i="0">
                <a:solidFill>
                  <a:srgbClr val="EEF3F8"/>
                </a:solidFill>
                <a:latin typeface="Nirmala UI"/>
                <a:ea typeface="Nirmala UI"/>
                <a:cs typeface="Nirmala UI"/>
              </a:rPr>
              <a:t>পরিবারকে ফোন দিন   </a:t>
            </a:r>
            <a:r>
              <a:rPr sz="1100" b="0" i="0">
                <a:solidFill>
                  <a:srgbClr val="4FD6A8"/>
                </a:solidFill>
                <a:latin typeface="Segoe UI"/>
                <a:ea typeface="Segoe UI"/>
                <a:cs typeface="Segoe UI"/>
              </a:rPr>
              <a:t>calls the trusted family member</a:t>
            </a:r>
          </a:p>
        </p:txBody>
      </p:sp>
      <p:sp>
        <p:nvSpPr>
          <p:cNvPr id="14" name="Rounded Rectangle 13"/>
          <p:cNvSpPr/>
          <p:nvPr/>
        </p:nvSpPr>
        <p:spPr>
          <a:xfrm>
            <a:off x="658368" y="4882896"/>
            <a:ext cx="4937760" cy="530352"/>
          </a:xfrm>
          <a:prstGeom prst="roundRect">
            <a:avLst>
              <a:gd name="adj" fmla="val 18000"/>
            </a:avLst>
          </a:prstGeom>
          <a:solidFill>
            <a:srgbClr val="18212D"/>
          </a:solidFill>
          <a:ln w="15875">
            <a:solidFill>
              <a:srgbClr val="93A6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82896"/>
            <a:ext cx="4572000" cy="530352"/>
          </a:xfrm>
          <a:prstGeom prst="rect">
            <a:avLst/>
          </a:prstGeom>
          <a:noFill/>
        </p:spPr>
        <p:txBody>
          <a:bodyPr wrap="square" lIns="0" rIns="0" tIns="0" bIns="0" anchor="ctr">
            <a:spAutoFit/>
          </a:bodyPr>
          <a:lstStyle/>
          <a:p>
            <a:pPr algn="l">
              <a:spcBef>
                <a:spcPts val="0"/>
              </a:spcBef>
              <a:spcAft>
                <a:spcPts val="0"/>
              </a:spcAft>
            </a:pPr>
            <a:r>
              <a:rPr sz="1400" b="1" i="0">
                <a:solidFill>
                  <a:srgbClr val="EEF3F8"/>
                </a:solidFill>
                <a:latin typeface="Nirmala UI"/>
                <a:ea typeface="Nirmala UI"/>
                <a:cs typeface="Nirmala UI"/>
              </a:rPr>
              <a:t>আমি জানি, পাঠিয়ে দিই   </a:t>
            </a:r>
            <a:r>
              <a:rPr sz="1100" b="0" i="0">
                <a:solidFill>
                  <a:srgbClr val="93A6BA"/>
                </a:solidFill>
                <a:latin typeface="Segoe UI"/>
                <a:ea typeface="Segoe UI"/>
                <a:cs typeface="Segoe UI"/>
              </a:rPr>
              <a:t>respected — and reported to the radar</a:t>
            </a:r>
          </a:p>
        </p:txBody>
      </p:sp>
      <p:sp>
        <p:nvSpPr>
          <p:cNvPr id="16" name="TextBox 15"/>
          <p:cNvSpPr txBox="1"/>
          <p:nvPr/>
        </p:nvSpPr>
        <p:spPr>
          <a:xfrm>
            <a:off x="658368" y="5632703"/>
            <a:ext cx="7771646" cy="786384"/>
          </a:xfrm>
          <a:prstGeom prst="rect">
            <a:avLst/>
          </a:prstGeom>
          <a:noFill/>
        </p:spPr>
        <p:txBody>
          <a:bodyPr wrap="square" lIns="0" rIns="0" tIns="0" bIns="0" anchor="t">
            <a:spAutoFit/>
          </a:bodyPr>
          <a:lstStyle/>
          <a:p>
            <a:pPr algn="l">
              <a:lnSpc>
                <a:spcPct val="115000"/>
              </a:lnSpc>
              <a:spcBef>
                <a:spcPts val="0"/>
              </a:spcBef>
              <a:spcAft>
                <a:spcPts val="600"/>
              </a:spcAft>
            </a:pPr>
            <a:r>
              <a:rPr sz="1600" b="1" i="0">
                <a:solidFill>
                  <a:srgbClr val="F5B53F"/>
                </a:solidFill>
                <a:latin typeface="Segoe UI"/>
                <a:ea typeface="Segoe UI"/>
                <a:cs typeface="Segoe UI"/>
              </a:rPr>
              <a:t>Shotorko never blocks. The user always keeps the last button.</a:t>
            </a:r>
          </a:p>
          <a:p>
            <a:pPr algn="l">
              <a:spcBef>
                <a:spcPts val="0"/>
              </a:spcBef>
              <a:spcAft>
                <a:spcPts val="0"/>
              </a:spcAft>
            </a:pPr>
            <a:r>
              <a:rPr sz="1250" b="0" i="0">
                <a:solidFill>
                  <a:srgbClr val="93A6BA"/>
                </a:solidFill>
                <a:latin typeface="Segoe UI"/>
                <a:ea typeface="Segoe UI"/>
                <a:cs typeface="Segoe UI"/>
              </a:rPr>
              <a:t>On a feature phone the same pause is a voice prompt with two keys.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AI APPLICATION &amp; TECHNICAL RATIONALE</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6 / 10</a:t>
            </a:r>
          </a:p>
        </p:txBody>
      </p:sp>
      <p:sp>
        <p:nvSpPr>
          <p:cNvPr id="6" name="TextBox 5"/>
          <p:cNvSpPr txBox="1"/>
          <p:nvPr/>
        </p:nvSpPr>
        <p:spPr>
          <a:xfrm>
            <a:off x="658368" y="1536192"/>
            <a:ext cx="10874959" cy="502920"/>
          </a:xfrm>
          <a:prstGeom prst="rect">
            <a:avLst/>
          </a:prstGeom>
          <a:noFill/>
        </p:spPr>
        <p:txBody>
          <a:bodyPr wrap="square" lIns="0" rIns="0" tIns="0" bIns="0" anchor="t">
            <a:spAutoFit/>
          </a:bodyPr>
          <a:lstStyle/>
          <a:p>
            <a:pPr algn="l">
              <a:spcBef>
                <a:spcPts val="0"/>
              </a:spcBef>
              <a:spcAft>
                <a:spcPts val="0"/>
              </a:spcAft>
            </a:pPr>
            <a:r>
              <a:rPr sz="2700" b="1" i="0">
                <a:solidFill>
                  <a:srgbClr val="EEF3F8"/>
                </a:solidFill>
                <a:latin typeface="Segoe UI"/>
                <a:ea typeface="Segoe UI"/>
                <a:cs typeface="Segoe UI"/>
              </a:rPr>
              <a:t>The model reads </a:t>
            </a:r>
            <a:r>
              <a:rPr sz="2700" b="1" i="0">
                <a:solidFill>
                  <a:srgbClr val="F5B53F"/>
                </a:solidFill>
                <a:latin typeface="Segoe UI"/>
                <a:ea typeface="Segoe UI"/>
                <a:cs typeface="Segoe UI"/>
              </a:rPr>
              <a:t>intent</a:t>
            </a:r>
            <a:r>
              <a:rPr sz="2700" b="1" i="0">
                <a:solidFill>
                  <a:srgbClr val="EEF3F8"/>
                </a:solidFill>
                <a:latin typeface="Segoe UI"/>
                <a:ea typeface="Segoe UI"/>
                <a:cs typeface="Segoe UI"/>
              </a:rPr>
              <a:t>, not a word list.</a:t>
            </a:r>
          </a:p>
        </p:txBody>
      </p:sp>
      <p:sp>
        <p:nvSpPr>
          <p:cNvPr id="7" name="TextBox 6"/>
          <p:cNvSpPr txBox="1"/>
          <p:nvPr/>
        </p:nvSpPr>
        <p:spPr>
          <a:xfrm>
            <a:off x="658368" y="2048256"/>
            <a:ext cx="5852160"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EIGHT SIGNALS — MEANINGS, NOT STRINGS</a:t>
            </a:r>
          </a:p>
        </p:txBody>
      </p:sp>
      <p:sp>
        <p:nvSpPr>
          <p:cNvPr id="8" name="Rounded Rectangle 7"/>
          <p:cNvSpPr/>
          <p:nvPr/>
        </p:nvSpPr>
        <p:spPr>
          <a:xfrm>
            <a:off x="658368" y="2322576"/>
            <a:ext cx="1014983"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authority</a:t>
            </a:r>
          </a:p>
        </p:txBody>
      </p:sp>
      <p:sp>
        <p:nvSpPr>
          <p:cNvPr id="9" name="Rounded Rectangle 8"/>
          <p:cNvSpPr/>
          <p:nvPr/>
        </p:nvSpPr>
        <p:spPr>
          <a:xfrm>
            <a:off x="1792223" y="2322576"/>
            <a:ext cx="932688"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leverage</a:t>
            </a:r>
          </a:p>
        </p:txBody>
      </p:sp>
      <p:sp>
        <p:nvSpPr>
          <p:cNvPr id="10" name="Rounded Rectangle 9"/>
          <p:cNvSpPr/>
          <p:nvPr/>
        </p:nvSpPr>
        <p:spPr>
          <a:xfrm>
            <a:off x="2843783" y="2322576"/>
            <a:ext cx="850392"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urgency</a:t>
            </a:r>
          </a:p>
        </p:txBody>
      </p:sp>
      <p:sp>
        <p:nvSpPr>
          <p:cNvPr id="11" name="Rounded Rectangle 10"/>
          <p:cNvSpPr/>
          <p:nvPr/>
        </p:nvSpPr>
        <p:spPr>
          <a:xfrm>
            <a:off x="3813048" y="2322576"/>
            <a:ext cx="850392"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secrecy</a:t>
            </a:r>
          </a:p>
        </p:txBody>
      </p:sp>
      <p:sp>
        <p:nvSpPr>
          <p:cNvPr id="12" name="Rounded Rectangle 11"/>
          <p:cNvSpPr/>
          <p:nvPr/>
        </p:nvSpPr>
        <p:spPr>
          <a:xfrm>
            <a:off x="4782312" y="2322576"/>
            <a:ext cx="1097280"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credential</a:t>
            </a:r>
          </a:p>
        </p:txBody>
      </p:sp>
      <p:sp>
        <p:nvSpPr>
          <p:cNvPr id="13" name="Rounded Rectangle 12"/>
          <p:cNvSpPr/>
          <p:nvPr/>
        </p:nvSpPr>
        <p:spPr>
          <a:xfrm>
            <a:off x="658368" y="2706624"/>
            <a:ext cx="850392"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payment</a:t>
            </a:r>
          </a:p>
        </p:txBody>
      </p:sp>
      <p:sp>
        <p:nvSpPr>
          <p:cNvPr id="14" name="Rounded Rectangle 13"/>
          <p:cNvSpPr/>
          <p:nvPr/>
        </p:nvSpPr>
        <p:spPr>
          <a:xfrm>
            <a:off x="1627632" y="2706624"/>
            <a:ext cx="768096"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reward</a:t>
            </a:r>
          </a:p>
        </p:txBody>
      </p:sp>
      <p:sp>
        <p:nvSpPr>
          <p:cNvPr id="15" name="Rounded Rectangle 14"/>
          <p:cNvSpPr/>
          <p:nvPr/>
        </p:nvSpPr>
        <p:spPr>
          <a:xfrm>
            <a:off x="2514600" y="2706624"/>
            <a:ext cx="850392" cy="310896"/>
          </a:xfrm>
          <a:prstGeom prst="roundRect">
            <a:avLst>
              <a:gd name="adj" fmla="val 50000"/>
            </a:avLst>
          </a:prstGeom>
          <a:solidFill>
            <a:srgbClr val="1F2A38"/>
          </a:solidFill>
          <a:ln w="1270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50" b="0" i="0">
                <a:solidFill>
                  <a:srgbClr val="F5B53F"/>
                </a:solidFill>
                <a:latin typeface="Segoe UI"/>
                <a:ea typeface="Segoe UI"/>
                <a:cs typeface="Segoe UI"/>
              </a:rPr>
              <a:t>install</a:t>
            </a:r>
          </a:p>
        </p:txBody>
      </p:sp>
      <p:sp>
        <p:nvSpPr>
          <p:cNvPr id="16" name="TextBox 15"/>
          <p:cNvSpPr txBox="1"/>
          <p:nvPr/>
        </p:nvSpPr>
        <p:spPr>
          <a:xfrm>
            <a:off x="658368" y="3163824"/>
            <a:ext cx="5852160"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  THE SITUATION AROUND THEM</a:t>
            </a:r>
          </a:p>
        </p:txBody>
      </p:sp>
      <p:sp>
        <p:nvSpPr>
          <p:cNvPr id="17" name="Rounded Rectangle 16"/>
          <p:cNvSpPr/>
          <p:nvPr/>
        </p:nvSpPr>
        <p:spPr>
          <a:xfrm>
            <a:off x="658368" y="3438144"/>
            <a:ext cx="1334292" cy="310896"/>
          </a:xfrm>
          <a:prstGeom prst="roundRect">
            <a:avLst>
              <a:gd name="adj" fmla="val 50000"/>
            </a:avLst>
          </a:prstGeom>
          <a:solidFill>
            <a:srgbClr val="1F2A38"/>
          </a:solidFill>
          <a:ln w="12700">
            <a:solidFill>
              <a:srgbClr val="93A6B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a:solidFill>
                  <a:srgbClr val="93A6BA"/>
                </a:solidFill>
                <a:latin typeface="Segoe UI"/>
                <a:ea typeface="Segoe UI"/>
                <a:cs typeface="Segoe UI"/>
              </a:rPr>
              <a:t>unknown caller</a:t>
            </a:r>
          </a:p>
        </p:txBody>
      </p:sp>
      <p:sp>
        <p:nvSpPr>
          <p:cNvPr id="18" name="Rounded Rectangle 17"/>
          <p:cNvSpPr/>
          <p:nvPr/>
        </p:nvSpPr>
        <p:spPr>
          <a:xfrm>
            <a:off x="2111532" y="3438144"/>
            <a:ext cx="1485717" cy="310896"/>
          </a:xfrm>
          <a:prstGeom prst="roundRect">
            <a:avLst>
              <a:gd name="adj" fmla="val 50000"/>
            </a:avLst>
          </a:prstGeom>
          <a:solidFill>
            <a:srgbClr val="1F2A38"/>
          </a:solidFill>
          <a:ln w="12700">
            <a:solidFill>
              <a:srgbClr val="93A6B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a:solidFill>
                  <a:srgbClr val="93A6BA"/>
                </a:solidFill>
                <a:latin typeface="Segoe UI"/>
                <a:ea typeface="Segoe UI"/>
                <a:cs typeface="Segoe UI"/>
              </a:rPr>
              <a:t>call in progress</a:t>
            </a:r>
          </a:p>
        </p:txBody>
      </p:sp>
      <p:sp>
        <p:nvSpPr>
          <p:cNvPr id="19" name="Rounded Rectangle 18"/>
          <p:cNvSpPr/>
          <p:nvPr/>
        </p:nvSpPr>
        <p:spPr>
          <a:xfrm>
            <a:off x="3716121" y="3438144"/>
            <a:ext cx="1712854" cy="310896"/>
          </a:xfrm>
          <a:prstGeom prst="roundRect">
            <a:avLst>
              <a:gd name="adj" fmla="val 50000"/>
            </a:avLst>
          </a:prstGeom>
          <a:solidFill>
            <a:srgbClr val="1F2A38"/>
          </a:solidFill>
          <a:ln w="12700">
            <a:solidFill>
              <a:srgbClr val="93A6B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a:solidFill>
                  <a:srgbClr val="93A6BA"/>
                </a:solidFill>
                <a:latin typeface="Segoe UI"/>
                <a:ea typeface="Segoe UI"/>
                <a:cs typeface="Segoe UI"/>
              </a:rPr>
              <a:t>first-time receiver</a:t>
            </a:r>
          </a:p>
        </p:txBody>
      </p:sp>
      <p:sp>
        <p:nvSpPr>
          <p:cNvPr id="20" name="Rounded Rectangle 19"/>
          <p:cNvSpPr/>
          <p:nvPr/>
        </p:nvSpPr>
        <p:spPr>
          <a:xfrm>
            <a:off x="658368" y="3822191"/>
            <a:ext cx="1334292" cy="310896"/>
          </a:xfrm>
          <a:prstGeom prst="roundRect">
            <a:avLst>
              <a:gd name="adj" fmla="val 50000"/>
            </a:avLst>
          </a:prstGeom>
          <a:solidFill>
            <a:srgbClr val="1F2A38"/>
          </a:solidFill>
          <a:ln w="12700">
            <a:solidFill>
              <a:srgbClr val="93A6B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a:solidFill>
                  <a:srgbClr val="93A6BA"/>
                </a:solidFill>
                <a:latin typeface="Segoe UI"/>
                <a:ea typeface="Segoe UI"/>
                <a:cs typeface="Segoe UI"/>
              </a:rPr>
              <a:t>unusual amount</a:t>
            </a:r>
          </a:p>
        </p:txBody>
      </p:sp>
      <p:sp>
        <p:nvSpPr>
          <p:cNvPr id="21" name="Rounded Rectangle 20"/>
          <p:cNvSpPr/>
          <p:nvPr/>
        </p:nvSpPr>
        <p:spPr>
          <a:xfrm>
            <a:off x="2111532" y="3822191"/>
            <a:ext cx="1031443" cy="310896"/>
          </a:xfrm>
          <a:prstGeom prst="roundRect">
            <a:avLst>
              <a:gd name="adj" fmla="val 50000"/>
            </a:avLst>
          </a:prstGeom>
          <a:solidFill>
            <a:srgbClr val="1F2A38"/>
          </a:solidFill>
          <a:ln w="12700">
            <a:solidFill>
              <a:srgbClr val="93A6B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0" i="0">
                <a:solidFill>
                  <a:srgbClr val="93A6BA"/>
                </a:solidFill>
                <a:latin typeface="Segoe UI"/>
                <a:ea typeface="Segoe UI"/>
                <a:cs typeface="Segoe UI"/>
              </a:rPr>
              <a:t>late night</a:t>
            </a:r>
          </a:p>
        </p:txBody>
      </p:sp>
      <p:sp>
        <p:nvSpPr>
          <p:cNvPr id="22" name="TextBox 21"/>
          <p:cNvSpPr txBox="1"/>
          <p:nvPr/>
        </p:nvSpPr>
        <p:spPr>
          <a:xfrm>
            <a:off x="658368" y="4315968"/>
            <a:ext cx="5852160"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THE SAME WORDS, DIFFERENT RISK</a:t>
            </a:r>
          </a:p>
        </p:txBody>
      </p:sp>
      <p:sp>
        <p:nvSpPr>
          <p:cNvPr id="23" name="Rounded Rectangle 22"/>
          <p:cNvSpPr/>
          <p:nvPr/>
        </p:nvSpPr>
        <p:spPr>
          <a:xfrm>
            <a:off x="658368" y="4608576"/>
            <a:ext cx="5852160" cy="512064"/>
          </a:xfrm>
          <a:prstGeom prst="roundRect">
            <a:avLst>
              <a:gd name="adj" fmla="val 14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4608576"/>
            <a:ext cx="4572000" cy="512064"/>
          </a:xfrm>
          <a:prstGeom prst="rect">
            <a:avLst/>
          </a:prstGeom>
          <a:noFill/>
        </p:spPr>
        <p:txBody>
          <a:bodyPr wrap="square" lIns="0" rIns="0" tIns="0" bIns="0" anchor="ctr">
            <a:spAutoFit/>
          </a:bodyPr>
          <a:lstStyle/>
          <a:p>
            <a:pPr algn="l">
              <a:spcBef>
                <a:spcPts val="0"/>
              </a:spcBef>
              <a:spcAft>
                <a:spcPts val="100"/>
              </a:spcAft>
            </a:pPr>
            <a:r>
              <a:rPr sz="1300" b="1" i="0">
                <a:solidFill>
                  <a:srgbClr val="EEF3F8"/>
                </a:solidFill>
                <a:latin typeface="Nirmala UI"/>
                <a:ea typeface="Nirmala UI"/>
                <a:cs typeface="Nirmala UI"/>
              </a:rPr>
              <a:t>টাকাটা পাঠিয়ে দিও</a:t>
            </a:r>
          </a:p>
          <a:p>
            <a:pPr algn="l">
              <a:spcBef>
                <a:spcPts val="0"/>
              </a:spcBef>
              <a:spcAft>
                <a:spcPts val="0"/>
              </a:spcAft>
            </a:pPr>
            <a:r>
              <a:rPr sz="1000" b="0" i="0">
                <a:solidFill>
                  <a:srgbClr val="93A6BA"/>
                </a:solidFill>
                <a:latin typeface="Segoe UI"/>
                <a:ea typeface="Segoe UI"/>
                <a:cs typeface="Segoe UI"/>
              </a:rPr>
              <a:t>saved contact · daytime · familiar amount</a:t>
            </a:r>
          </a:p>
        </p:txBody>
      </p:sp>
      <p:sp>
        <p:nvSpPr>
          <p:cNvPr id="25" name="Rounded Rectangle 24"/>
          <p:cNvSpPr/>
          <p:nvPr/>
        </p:nvSpPr>
        <p:spPr>
          <a:xfrm>
            <a:off x="5550408" y="4727448"/>
            <a:ext cx="786384" cy="274320"/>
          </a:xfrm>
          <a:prstGeom prst="roundRect">
            <a:avLst>
              <a:gd name="adj" fmla="val 50000"/>
            </a:avLst>
          </a:prstGeom>
          <a:noFill/>
          <a:ln w="15875">
            <a:solidFill>
              <a:srgbClr val="4FD6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4FD6A8"/>
                </a:solidFill>
                <a:latin typeface="Segoe UI"/>
                <a:ea typeface="Segoe UI"/>
                <a:cs typeface="Segoe UI"/>
              </a:rPr>
              <a:t>quiet</a:t>
            </a:r>
          </a:p>
        </p:txBody>
      </p:sp>
      <p:sp>
        <p:nvSpPr>
          <p:cNvPr id="26" name="Rounded Rectangle 25"/>
          <p:cNvSpPr/>
          <p:nvPr/>
        </p:nvSpPr>
        <p:spPr>
          <a:xfrm>
            <a:off x="658368" y="5193792"/>
            <a:ext cx="5852160" cy="512064"/>
          </a:xfrm>
          <a:prstGeom prst="roundRect">
            <a:avLst>
              <a:gd name="adj" fmla="val 14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5193792"/>
            <a:ext cx="4572000" cy="512064"/>
          </a:xfrm>
          <a:prstGeom prst="rect">
            <a:avLst/>
          </a:prstGeom>
          <a:noFill/>
        </p:spPr>
        <p:txBody>
          <a:bodyPr wrap="square" lIns="0" rIns="0" tIns="0" bIns="0" anchor="ctr">
            <a:spAutoFit/>
          </a:bodyPr>
          <a:lstStyle/>
          <a:p>
            <a:pPr algn="l">
              <a:spcBef>
                <a:spcPts val="0"/>
              </a:spcBef>
              <a:spcAft>
                <a:spcPts val="100"/>
              </a:spcAft>
            </a:pPr>
            <a:r>
              <a:rPr sz="1300" b="1" i="0">
                <a:solidFill>
                  <a:srgbClr val="EEF3F8"/>
                </a:solidFill>
                <a:latin typeface="Nirmala UI"/>
                <a:ea typeface="Nirmala UI"/>
                <a:cs typeface="Nirmala UI"/>
              </a:rPr>
              <a:t>টাকাটা পাঠিয়ে দিও, কাউকে বলো না</a:t>
            </a:r>
          </a:p>
          <a:p>
            <a:pPr algn="l">
              <a:spcBef>
                <a:spcPts val="0"/>
              </a:spcBef>
              <a:spcAft>
                <a:spcPts val="0"/>
              </a:spcAft>
            </a:pPr>
            <a:r>
              <a:rPr sz="1000" b="0" i="0">
                <a:solidFill>
                  <a:srgbClr val="93A6BA"/>
                </a:solidFill>
                <a:latin typeface="Segoe UI"/>
                <a:ea typeface="Segoe UI"/>
                <a:cs typeface="Segoe UI"/>
              </a:rPr>
              <a:t>new number · mid-call · first time</a:t>
            </a:r>
          </a:p>
        </p:txBody>
      </p:sp>
      <p:sp>
        <p:nvSpPr>
          <p:cNvPr id="28" name="Rounded Rectangle 27"/>
          <p:cNvSpPr/>
          <p:nvPr/>
        </p:nvSpPr>
        <p:spPr>
          <a:xfrm>
            <a:off x="5550408" y="5312664"/>
            <a:ext cx="786384" cy="274320"/>
          </a:xfrm>
          <a:prstGeom prst="roundRect">
            <a:avLst>
              <a:gd name="adj" fmla="val 50000"/>
            </a:avLst>
          </a:prstGeom>
          <a:noFill/>
          <a:ln w="15875">
            <a:solidFill>
              <a:srgbClr val="FF4D43"/>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4D43"/>
                </a:solidFill>
                <a:latin typeface="Segoe UI"/>
                <a:ea typeface="Segoe UI"/>
                <a:cs typeface="Segoe UI"/>
              </a:rPr>
              <a:t>pause</a:t>
            </a:r>
          </a:p>
        </p:txBody>
      </p:sp>
      <p:sp>
        <p:nvSpPr>
          <p:cNvPr id="29" name="TextBox 28"/>
          <p:cNvSpPr txBox="1"/>
          <p:nvPr/>
        </p:nvSpPr>
        <p:spPr>
          <a:xfrm>
            <a:off x="6922008" y="2048256"/>
            <a:ext cx="4611319"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WHAT THE MODEL ANSWERS</a:t>
            </a:r>
          </a:p>
        </p:txBody>
      </p:sp>
      <p:pic>
        <p:nvPicPr>
          <p:cNvPr id="30" name="Picture 29" descr="verdict.png"/>
          <p:cNvPicPr>
            <a:picLocks noChangeAspect="1"/>
          </p:cNvPicPr>
          <p:nvPr/>
        </p:nvPicPr>
        <p:blipFill>
          <a:blip r:embed="rId2"/>
          <a:stretch>
            <a:fillRect/>
          </a:stretch>
        </p:blipFill>
        <p:spPr>
          <a:xfrm>
            <a:off x="6922008" y="2322576"/>
            <a:ext cx="4611319" cy="1500257"/>
          </a:xfrm>
          <a:prstGeom prst="rect">
            <a:avLst/>
          </a:prstGeom>
        </p:spPr>
      </p:pic>
      <p:sp>
        <p:nvSpPr>
          <p:cNvPr id="31" name="TextBox 30"/>
          <p:cNvSpPr txBox="1"/>
          <p:nvPr/>
        </p:nvSpPr>
        <p:spPr>
          <a:xfrm>
            <a:off x="6922008" y="3914273"/>
            <a:ext cx="4611319" cy="566928"/>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93A6BA"/>
                </a:solidFill>
                <a:latin typeface="Segoe UI"/>
                <a:ea typeface="Segoe UI"/>
                <a:cs typeface="Segoe UI"/>
              </a:rPr>
              <a:t>the free-play console, on a real hosted model call: risk 95/100 against a threshold of 50, five intent signals named in Bangla.</a:t>
            </a:r>
          </a:p>
        </p:txBody>
      </p:sp>
      <p:sp>
        <p:nvSpPr>
          <p:cNvPr id="32" name="TextBox 31"/>
          <p:cNvSpPr txBox="1"/>
          <p:nvPr/>
        </p:nvSpPr>
        <p:spPr>
          <a:xfrm>
            <a:off x="6922008" y="4572641"/>
            <a:ext cx="4611319" cy="1188720"/>
          </a:xfrm>
          <a:prstGeom prst="rect">
            <a:avLst/>
          </a:prstGeom>
          <a:noFill/>
        </p:spPr>
        <p:txBody>
          <a:bodyPr wrap="square" lIns="0" rIns="0" tIns="0" bIns="0" anchor="t">
            <a:spAutoFit/>
          </a:bodyPr>
          <a:lstStyle/>
          <a:p>
            <a:pPr algn="l">
              <a:lnSpc>
                <a:spcPct val="120000"/>
              </a:lnSpc>
              <a:spcBef>
                <a:spcPts val="0"/>
              </a:spcBef>
              <a:spcAft>
                <a:spcPts val="700"/>
              </a:spcAft>
            </a:pPr>
            <a:r>
              <a:rPr sz="1400" b="1" i="0">
                <a:solidFill>
                  <a:srgbClr val="EEF3F8"/>
                </a:solidFill>
                <a:latin typeface="Segoe UI"/>
                <a:ea typeface="Segoe UI"/>
                <a:cs typeface="Segoe UI"/>
              </a:rPr>
              <a:t>On-device, in Bangla, Banglish and dialect spelling.</a:t>
            </a:r>
          </a:p>
          <a:p>
            <a:pPr algn="l">
              <a:lnSpc>
                <a:spcPct val="125000"/>
              </a:lnSpc>
              <a:spcBef>
                <a:spcPts val="0"/>
              </a:spcBef>
              <a:spcAft>
                <a:spcPts val="0"/>
              </a:spcAft>
            </a:pPr>
            <a:r>
              <a:rPr sz="1250" b="0" i="0">
                <a:solidFill>
                  <a:srgbClr val="93A6BA"/>
                </a:solidFill>
                <a:latin typeface="Segoe UI"/>
                <a:ea typeface="Segoe UI"/>
                <a:cs typeface="Segoe UI"/>
              </a:rPr>
              <a:t>No audio stored, nothing uploaded — and a handset on 2G cannot round-trip to a cloud model inside the pause window.</a:t>
            </a:r>
          </a:p>
        </p:txBody>
      </p:sp>
      <p:sp>
        <p:nvSpPr>
          <p:cNvPr id="33" name="TextBox 32"/>
          <p:cNvSpPr txBox="1"/>
          <p:nvPr/>
        </p:nvSpPr>
        <p:spPr>
          <a:xfrm>
            <a:off x="658368" y="5705856"/>
            <a:ext cx="10874959" cy="566928"/>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F5B53F"/>
                </a:solidFill>
                <a:latin typeface="Segoe UI"/>
                <a:ea typeface="Segoe UI"/>
                <a:cs typeface="Segoe UI"/>
              </a:rPr>
              <a:t>Measured, not hoped:  </a:t>
            </a:r>
            <a:r>
              <a:rPr sz="1100" b="0" i="0">
                <a:solidFill>
                  <a:srgbClr val="93A6BA"/>
                </a:solidFill>
                <a:latin typeface="Segoe UI"/>
                <a:ea typeface="Segoe UI"/>
                <a:cs typeface="Segoe UI"/>
              </a:rPr>
              <a:t>69 backend checks pass offline · 5 reworded scripts → 4 pauses · 10 ordinary sentences → 0 false pauses, 1 with every hostile flag forced on · the pause needs risk ≥ 50, consent, and an actual ask.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DIFFERENTIATION · FEASIBILITY</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7 / 10</a:t>
            </a:r>
          </a:p>
        </p:txBody>
      </p:sp>
      <p:sp>
        <p:nvSpPr>
          <p:cNvPr id="6" name="TextBox 5"/>
          <p:cNvSpPr txBox="1"/>
          <p:nvPr/>
        </p:nvSpPr>
        <p:spPr>
          <a:xfrm>
            <a:off x="658368" y="1536192"/>
            <a:ext cx="10874959" cy="502920"/>
          </a:xfrm>
          <a:prstGeom prst="rect">
            <a:avLst/>
          </a:prstGeom>
          <a:noFill/>
        </p:spPr>
        <p:txBody>
          <a:bodyPr wrap="square" lIns="0" rIns="0" tIns="0" bIns="0" anchor="t">
            <a:spAutoFit/>
          </a:bodyPr>
          <a:lstStyle/>
          <a:p>
            <a:pPr algn="l">
              <a:spcBef>
                <a:spcPts val="0"/>
              </a:spcBef>
              <a:spcAft>
                <a:spcPts val="0"/>
              </a:spcAft>
            </a:pPr>
            <a:r>
              <a:rPr sz="2700" b="1" i="0">
                <a:solidFill>
                  <a:srgbClr val="F5B53F"/>
                </a:solidFill>
                <a:latin typeface="Segoe UI"/>
                <a:ea typeface="Segoe UI"/>
                <a:cs typeface="Segoe UI"/>
              </a:rPr>
              <a:t>The moat is the network.</a:t>
            </a:r>
            <a:r>
              <a:rPr sz="1700" b="0" i="0">
                <a:solidFill>
                  <a:srgbClr val="93A6BA"/>
                </a:solidFill>
                <a:latin typeface="Segoe UI"/>
                <a:ea typeface="Segoe UI"/>
                <a:cs typeface="Segoe UI"/>
              </a:rPr>
              <a:t>  What an app company cannot do from outside it.</a:t>
            </a:r>
          </a:p>
        </p:txBody>
      </p:sp>
      <p:sp>
        <p:nvSpPr>
          <p:cNvPr id="7" name="Rounded Rectangle 6"/>
          <p:cNvSpPr/>
          <p:nvPr/>
        </p:nvSpPr>
        <p:spPr>
          <a:xfrm>
            <a:off x="658368" y="2103120"/>
            <a:ext cx="10874959" cy="420624"/>
          </a:xfrm>
          <a:prstGeom prst="roundRect">
            <a:avLst>
              <a:gd name="adj" fmla="val 12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103120"/>
            <a:ext cx="2926080" cy="420624"/>
          </a:xfrm>
          <a:prstGeom prst="rect">
            <a:avLst/>
          </a:prstGeom>
          <a:noFill/>
        </p:spPr>
        <p:txBody>
          <a:bodyPr wrap="square" lIns="0" rIns="0" tIns="0" bIns="0" anchor="ctr">
            <a:spAutoFit/>
          </a:bodyPr>
          <a:lstStyle/>
          <a:p>
            <a:pPr algn="l">
              <a:spcBef>
                <a:spcPts val="0"/>
              </a:spcBef>
              <a:spcAft>
                <a:spcPts val="0"/>
              </a:spcAft>
            </a:pPr>
            <a:r>
              <a:rPr sz="1350" b="1" i="0">
                <a:solidFill>
                  <a:srgbClr val="F5B53F"/>
                </a:solidFill>
                <a:latin typeface="Segoe UI"/>
                <a:ea typeface="Segoe UI"/>
                <a:cs typeface="Segoe UI"/>
              </a:rPr>
              <a:t>Warn before the ring</a:t>
            </a:r>
          </a:p>
        </p:txBody>
      </p:sp>
      <p:sp>
        <p:nvSpPr>
          <p:cNvPr id="9" name="TextBox 8"/>
          <p:cNvSpPr txBox="1"/>
          <p:nvPr/>
        </p:nvSpPr>
        <p:spPr>
          <a:xfrm>
            <a:off x="3858768" y="2103120"/>
            <a:ext cx="7445959" cy="420624"/>
          </a:xfrm>
          <a:prstGeom prst="rect">
            <a:avLst/>
          </a:prstGeom>
          <a:noFill/>
        </p:spPr>
        <p:txBody>
          <a:bodyPr wrap="square" lIns="0" rIns="0" tIns="0" bIns="0" anchor="ctr">
            <a:spAutoFit/>
          </a:bodyPr>
          <a:lstStyle/>
          <a:p>
            <a:pPr algn="l">
              <a:spcBef>
                <a:spcPts val="0"/>
              </a:spcBef>
              <a:spcAft>
                <a:spcPts val="0"/>
              </a:spcAft>
            </a:pPr>
            <a:r>
              <a:rPr sz="1350" b="0" i="0">
                <a:solidFill>
                  <a:srgbClr val="EEF3F8"/>
                </a:solidFill>
                <a:latin typeface="Segoe UI"/>
                <a:ea typeface="Segoe UI"/>
                <a:cs typeface="Segoe UI"/>
              </a:rPr>
              <a:t>Network announcement injection — no handset permission needed</a:t>
            </a:r>
          </a:p>
        </p:txBody>
      </p:sp>
      <p:sp>
        <p:nvSpPr>
          <p:cNvPr id="10" name="Rounded Rectangle 9"/>
          <p:cNvSpPr/>
          <p:nvPr/>
        </p:nvSpPr>
        <p:spPr>
          <a:xfrm>
            <a:off x="658368" y="2587752"/>
            <a:ext cx="10874959" cy="420624"/>
          </a:xfrm>
          <a:prstGeom prst="roundRect">
            <a:avLst>
              <a:gd name="adj" fmla="val 12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2587752"/>
            <a:ext cx="2926080" cy="420624"/>
          </a:xfrm>
          <a:prstGeom prst="rect">
            <a:avLst/>
          </a:prstGeom>
          <a:noFill/>
        </p:spPr>
        <p:txBody>
          <a:bodyPr wrap="square" lIns="0" rIns="0" tIns="0" bIns="0" anchor="ctr">
            <a:spAutoFit/>
          </a:bodyPr>
          <a:lstStyle/>
          <a:p>
            <a:pPr algn="l">
              <a:spcBef>
                <a:spcPts val="0"/>
              </a:spcBef>
              <a:spcAft>
                <a:spcPts val="0"/>
              </a:spcAft>
            </a:pPr>
            <a:r>
              <a:rPr sz="1350" b="1" i="0">
                <a:solidFill>
                  <a:srgbClr val="F5B53F"/>
                </a:solidFill>
                <a:latin typeface="Segoe UI"/>
                <a:ea typeface="Segoe UI"/>
                <a:cs typeface="Segoe UI"/>
              </a:rPr>
              <a:t>Reach a Tk 800 button phone</a:t>
            </a:r>
          </a:p>
        </p:txBody>
      </p:sp>
      <p:sp>
        <p:nvSpPr>
          <p:cNvPr id="12" name="TextBox 11"/>
          <p:cNvSpPr txBox="1"/>
          <p:nvPr/>
        </p:nvSpPr>
        <p:spPr>
          <a:xfrm>
            <a:off x="3858768" y="2587752"/>
            <a:ext cx="7445959" cy="420624"/>
          </a:xfrm>
          <a:prstGeom prst="rect">
            <a:avLst/>
          </a:prstGeom>
          <a:noFill/>
        </p:spPr>
        <p:txBody>
          <a:bodyPr wrap="square" lIns="0" rIns="0" tIns="0" bIns="0" anchor="ctr">
            <a:spAutoFit/>
          </a:bodyPr>
          <a:lstStyle/>
          <a:p>
            <a:pPr algn="l">
              <a:spcBef>
                <a:spcPts val="0"/>
              </a:spcBef>
              <a:spcAft>
                <a:spcPts val="0"/>
              </a:spcAft>
            </a:pPr>
            <a:r>
              <a:rPr sz="1350" b="0" i="0">
                <a:solidFill>
                  <a:srgbClr val="EEF3F8"/>
                </a:solidFill>
                <a:latin typeface="Segoe UI"/>
                <a:ea typeface="Segoe UI"/>
                <a:cs typeface="Segoe UI"/>
              </a:rPr>
              <a:t>It happens in the network, so the device is irrelevant</a:t>
            </a:r>
          </a:p>
        </p:txBody>
      </p:sp>
      <p:sp>
        <p:nvSpPr>
          <p:cNvPr id="13" name="Rounded Rectangle 12"/>
          <p:cNvSpPr/>
          <p:nvPr/>
        </p:nvSpPr>
        <p:spPr>
          <a:xfrm>
            <a:off x="658368" y="3072384"/>
            <a:ext cx="10874959" cy="420624"/>
          </a:xfrm>
          <a:prstGeom prst="roundRect">
            <a:avLst>
              <a:gd name="adj" fmla="val 12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3072384"/>
            <a:ext cx="2926080" cy="420624"/>
          </a:xfrm>
          <a:prstGeom prst="rect">
            <a:avLst/>
          </a:prstGeom>
          <a:noFill/>
        </p:spPr>
        <p:txBody>
          <a:bodyPr wrap="square" lIns="0" rIns="0" tIns="0" bIns="0" anchor="ctr">
            <a:spAutoFit/>
          </a:bodyPr>
          <a:lstStyle/>
          <a:p>
            <a:pPr algn="l">
              <a:spcBef>
                <a:spcPts val="0"/>
              </a:spcBef>
              <a:spcAft>
                <a:spcPts val="0"/>
              </a:spcAft>
            </a:pPr>
            <a:r>
              <a:rPr sz="1350" b="1" i="0">
                <a:solidFill>
                  <a:srgbClr val="F5B53F"/>
                </a:solidFill>
                <a:latin typeface="Segoe UI"/>
                <a:ea typeface="Segoe UI"/>
                <a:cs typeface="Segoe UI"/>
              </a:rPr>
              <a:t>Caller reputation on day one</a:t>
            </a:r>
          </a:p>
        </p:txBody>
      </p:sp>
      <p:sp>
        <p:nvSpPr>
          <p:cNvPr id="15" name="TextBox 14"/>
          <p:cNvSpPr txBox="1"/>
          <p:nvPr/>
        </p:nvSpPr>
        <p:spPr>
          <a:xfrm>
            <a:off x="3858768" y="3072384"/>
            <a:ext cx="7445959" cy="420624"/>
          </a:xfrm>
          <a:prstGeom prst="rect">
            <a:avLst/>
          </a:prstGeom>
          <a:noFill/>
        </p:spPr>
        <p:txBody>
          <a:bodyPr wrap="square" lIns="0" rIns="0" tIns="0" bIns="0" anchor="ctr">
            <a:spAutoFit/>
          </a:bodyPr>
          <a:lstStyle/>
          <a:p>
            <a:pPr algn="l">
              <a:spcBef>
                <a:spcPts val="0"/>
              </a:spcBef>
              <a:spcAft>
                <a:spcPts val="0"/>
              </a:spcAft>
            </a:pPr>
            <a:r>
              <a:rPr sz="1350" b="0" i="0">
                <a:solidFill>
                  <a:srgbClr val="EEF3F8"/>
                </a:solidFill>
                <a:latin typeface="Segoe UI"/>
                <a:ea typeface="Segoe UI"/>
                <a:cs typeface="Segoe UI"/>
              </a:rPr>
              <a:t>GP's own call records: new SIM, fan-out pattern, report history</a:t>
            </a:r>
          </a:p>
        </p:txBody>
      </p:sp>
      <p:sp>
        <p:nvSpPr>
          <p:cNvPr id="16" name="Rounded Rectangle 15"/>
          <p:cNvSpPr/>
          <p:nvPr/>
        </p:nvSpPr>
        <p:spPr>
          <a:xfrm>
            <a:off x="658368" y="3557015"/>
            <a:ext cx="10874959" cy="420624"/>
          </a:xfrm>
          <a:prstGeom prst="roundRect">
            <a:avLst>
              <a:gd name="adj" fmla="val 12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3557015"/>
            <a:ext cx="2926080" cy="420624"/>
          </a:xfrm>
          <a:prstGeom prst="rect">
            <a:avLst/>
          </a:prstGeom>
          <a:noFill/>
        </p:spPr>
        <p:txBody>
          <a:bodyPr wrap="square" lIns="0" rIns="0" tIns="0" bIns="0" anchor="ctr">
            <a:spAutoFit/>
          </a:bodyPr>
          <a:lstStyle/>
          <a:p>
            <a:pPr algn="l">
              <a:spcBef>
                <a:spcPts val="0"/>
              </a:spcBef>
              <a:spcAft>
                <a:spcPts val="0"/>
              </a:spcAft>
            </a:pPr>
            <a:r>
              <a:rPr sz="1350" b="1" i="0">
                <a:solidFill>
                  <a:srgbClr val="F5B53F"/>
                </a:solidFill>
                <a:latin typeface="Segoe UI"/>
                <a:ea typeface="Segoe UI"/>
                <a:cs typeface="Segoe UI"/>
              </a:rPr>
              <a:t>Stop the forwarding scam</a:t>
            </a:r>
          </a:p>
        </p:txBody>
      </p:sp>
      <p:sp>
        <p:nvSpPr>
          <p:cNvPr id="18" name="TextBox 17"/>
          <p:cNvSpPr txBox="1"/>
          <p:nvPr/>
        </p:nvSpPr>
        <p:spPr>
          <a:xfrm>
            <a:off x="3858768" y="3557015"/>
            <a:ext cx="7445959" cy="420624"/>
          </a:xfrm>
          <a:prstGeom prst="rect">
            <a:avLst/>
          </a:prstGeom>
          <a:noFill/>
        </p:spPr>
        <p:txBody>
          <a:bodyPr wrap="square" lIns="0" rIns="0" tIns="0" bIns="0" anchor="ctr">
            <a:spAutoFit/>
          </a:bodyPr>
          <a:lstStyle/>
          <a:p>
            <a:pPr algn="l">
              <a:spcBef>
                <a:spcPts val="0"/>
              </a:spcBef>
              <a:spcAft>
                <a:spcPts val="0"/>
              </a:spcAft>
            </a:pPr>
            <a:r>
              <a:rPr sz="1350" b="0" i="0">
                <a:solidFill>
                  <a:srgbClr val="EEF3F8"/>
                </a:solidFill>
                <a:latin typeface="Segoe UI"/>
                <a:ea typeface="Segoe UI"/>
                <a:cs typeface="Segoe UI"/>
              </a:rPr>
              <a:t>USSD gating on *21 — GP-side, not app-side</a:t>
            </a:r>
          </a:p>
        </p:txBody>
      </p:sp>
      <p:sp>
        <p:nvSpPr>
          <p:cNvPr id="19" name="Rounded Rectangle 18"/>
          <p:cNvSpPr/>
          <p:nvPr/>
        </p:nvSpPr>
        <p:spPr>
          <a:xfrm>
            <a:off x="658368" y="4041648"/>
            <a:ext cx="10874959" cy="420624"/>
          </a:xfrm>
          <a:prstGeom prst="roundRect">
            <a:avLst>
              <a:gd name="adj" fmla="val 12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041648"/>
            <a:ext cx="2926080" cy="420624"/>
          </a:xfrm>
          <a:prstGeom prst="rect">
            <a:avLst/>
          </a:prstGeom>
          <a:noFill/>
        </p:spPr>
        <p:txBody>
          <a:bodyPr wrap="square" lIns="0" rIns="0" tIns="0" bIns="0" anchor="ctr">
            <a:spAutoFit/>
          </a:bodyPr>
          <a:lstStyle/>
          <a:p>
            <a:pPr algn="l">
              <a:spcBef>
                <a:spcPts val="0"/>
              </a:spcBef>
              <a:spcAft>
                <a:spcPts val="0"/>
              </a:spcAft>
            </a:pPr>
            <a:r>
              <a:rPr sz="1350" b="1" i="0">
                <a:solidFill>
                  <a:srgbClr val="F5B53F"/>
                </a:solidFill>
                <a:latin typeface="Segoe UI"/>
                <a:ea typeface="Segoe UI"/>
                <a:cs typeface="Segoe UI"/>
              </a:rPr>
              <a:t>The agent-shop checkpoint</a:t>
            </a:r>
          </a:p>
        </p:txBody>
      </p:sp>
      <p:sp>
        <p:nvSpPr>
          <p:cNvPr id="21" name="TextBox 20"/>
          <p:cNvSpPr txBox="1"/>
          <p:nvPr/>
        </p:nvSpPr>
        <p:spPr>
          <a:xfrm>
            <a:off x="3858768" y="4041648"/>
            <a:ext cx="7445959" cy="420624"/>
          </a:xfrm>
          <a:prstGeom prst="rect">
            <a:avLst/>
          </a:prstGeom>
          <a:noFill/>
        </p:spPr>
        <p:txBody>
          <a:bodyPr wrap="square" lIns="0" rIns="0" tIns="0" bIns="0" anchor="ctr">
            <a:spAutoFit/>
          </a:bodyPr>
          <a:lstStyle/>
          <a:p>
            <a:pPr algn="l">
              <a:spcBef>
                <a:spcPts val="0"/>
              </a:spcBef>
              <a:spcAft>
                <a:spcPts val="0"/>
              </a:spcAft>
            </a:pPr>
            <a:r>
              <a:rPr sz="1350" b="0" i="0">
                <a:solidFill>
                  <a:srgbClr val="EEF3F8"/>
                </a:solidFill>
                <a:latin typeface="Segoe UI"/>
                <a:ea typeface="Segoe UI"/>
                <a:cs typeface="Segoe UI"/>
              </a:rPr>
              <a:t>Inside the MFS agent app GP already operates</a:t>
            </a:r>
          </a:p>
        </p:txBody>
      </p:sp>
      <p:sp>
        <p:nvSpPr>
          <p:cNvPr id="22" name="Rounded Rectangle 21"/>
          <p:cNvSpPr/>
          <p:nvPr/>
        </p:nvSpPr>
        <p:spPr>
          <a:xfrm>
            <a:off x="658368" y="4526280"/>
            <a:ext cx="10874959" cy="420624"/>
          </a:xfrm>
          <a:prstGeom prst="roundRect">
            <a:avLst>
              <a:gd name="adj" fmla="val 12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7" y="4526280"/>
            <a:ext cx="2926080" cy="420624"/>
          </a:xfrm>
          <a:prstGeom prst="rect">
            <a:avLst/>
          </a:prstGeom>
          <a:noFill/>
        </p:spPr>
        <p:txBody>
          <a:bodyPr wrap="square" lIns="0" rIns="0" tIns="0" bIns="0" anchor="ctr">
            <a:spAutoFit/>
          </a:bodyPr>
          <a:lstStyle/>
          <a:p>
            <a:pPr algn="l">
              <a:spcBef>
                <a:spcPts val="0"/>
              </a:spcBef>
              <a:spcAft>
                <a:spcPts val="0"/>
              </a:spcAft>
            </a:pPr>
            <a:r>
              <a:rPr sz="1350" b="1" i="0">
                <a:solidFill>
                  <a:srgbClr val="F5B53F"/>
                </a:solidFill>
                <a:latin typeface="Segoe UI"/>
                <a:ea typeface="Segoe UI"/>
                <a:cs typeface="Segoe UI"/>
              </a:rPr>
              <a:t>Close the loop</a:t>
            </a:r>
          </a:p>
        </p:txBody>
      </p:sp>
      <p:sp>
        <p:nvSpPr>
          <p:cNvPr id="24" name="TextBox 23"/>
          <p:cNvSpPr txBox="1"/>
          <p:nvPr/>
        </p:nvSpPr>
        <p:spPr>
          <a:xfrm>
            <a:off x="3858768" y="4526280"/>
            <a:ext cx="7445959" cy="420624"/>
          </a:xfrm>
          <a:prstGeom prst="rect">
            <a:avLst/>
          </a:prstGeom>
          <a:noFill/>
        </p:spPr>
        <p:txBody>
          <a:bodyPr wrap="square" lIns="0" rIns="0" tIns="0" bIns="0" anchor="ctr">
            <a:spAutoFit/>
          </a:bodyPr>
          <a:lstStyle/>
          <a:p>
            <a:pPr algn="l">
              <a:spcBef>
                <a:spcPts val="0"/>
              </a:spcBef>
              <a:spcAft>
                <a:spcPts val="0"/>
              </a:spcAft>
            </a:pPr>
            <a:r>
              <a:rPr sz="1350" b="0" i="0">
                <a:solidFill>
                  <a:srgbClr val="EEF3F8"/>
                </a:solidFill>
                <a:latin typeface="Segoe UI"/>
                <a:ea typeface="Segoe UI"/>
                <a:cs typeface="Segoe UI"/>
              </a:rPr>
              <a:t>The GP fraud cell already receives these complaints</a:t>
            </a:r>
          </a:p>
        </p:txBody>
      </p:sp>
      <p:sp>
        <p:nvSpPr>
          <p:cNvPr id="25" name="Rounded Rectangle 24"/>
          <p:cNvSpPr/>
          <p:nvPr/>
        </p:nvSpPr>
        <p:spPr>
          <a:xfrm>
            <a:off x="658368" y="5212080"/>
            <a:ext cx="10874959" cy="896112"/>
          </a:xfrm>
          <a:prstGeom prst="roundRect">
            <a:avLst>
              <a:gd name="adj" fmla="val 10000"/>
            </a:avLst>
          </a:prstGeom>
          <a:solidFill>
            <a:srgbClr val="1F2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212080"/>
            <a:ext cx="10362895" cy="896112"/>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F5B53F"/>
                </a:solidFill>
                <a:latin typeface="Segoe UI"/>
                <a:ea typeface="Segoe UI"/>
                <a:cs typeface="Segoe UI"/>
              </a:rPr>
              <a:t>What we can't do, designed around:  </a:t>
            </a:r>
            <a:r>
              <a:rPr sz="1250" b="0" i="0">
                <a:solidFill>
                  <a:srgbClr val="EEF3F8"/>
                </a:solidFill>
                <a:latin typeface="Segoe UI"/>
                <a:ea typeface="Segoe UI"/>
                <a:cs typeface="Segoe UI"/>
              </a:rPr>
              <a:t>Android cannot read USSD responses, so the on-device trigger is an AccessibilityService over the dialer — or, stronger, operator-side gating. Live-call Bangla recognition on the handset is the hardest piece in this plan, and it is where the R&amp;D clock starts.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IMPACT · SCALABILITY</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8 / 10</a:t>
            </a:r>
          </a:p>
        </p:txBody>
      </p:sp>
      <p:sp>
        <p:nvSpPr>
          <p:cNvPr id="6" name="TextBox 5"/>
          <p:cNvSpPr txBox="1"/>
          <p:nvPr/>
        </p:nvSpPr>
        <p:spPr>
          <a:xfrm>
            <a:off x="658368" y="1536192"/>
            <a:ext cx="7498079" cy="502920"/>
          </a:xfrm>
          <a:prstGeom prst="rect">
            <a:avLst/>
          </a:prstGeom>
          <a:noFill/>
        </p:spPr>
        <p:txBody>
          <a:bodyPr wrap="square" lIns="0" rIns="0" tIns="0" bIns="0" anchor="t">
            <a:spAutoFit/>
          </a:bodyPr>
          <a:lstStyle/>
          <a:p>
            <a:pPr algn="l">
              <a:spcBef>
                <a:spcPts val="0"/>
              </a:spcBef>
              <a:spcAft>
                <a:spcPts val="0"/>
              </a:spcAft>
            </a:pPr>
            <a:r>
              <a:rPr sz="2700" b="1" i="0">
                <a:solidFill>
                  <a:srgbClr val="EEF3F8"/>
                </a:solidFill>
                <a:latin typeface="Segoe UI"/>
                <a:ea typeface="Segoe UI"/>
                <a:cs typeface="Segoe UI"/>
              </a:rPr>
              <a:t>What changes if this works.</a:t>
            </a:r>
          </a:p>
        </p:txBody>
      </p:sp>
      <p:sp>
        <p:nvSpPr>
          <p:cNvPr id="7" name="Rounded Rectangle 6"/>
          <p:cNvSpPr/>
          <p:nvPr/>
        </p:nvSpPr>
        <p:spPr>
          <a:xfrm>
            <a:off x="8515807" y="1517904"/>
            <a:ext cx="3017520" cy="384048"/>
          </a:xfrm>
          <a:prstGeom prst="roundRect">
            <a:avLst>
              <a:gd name="adj" fmla="val 50000"/>
            </a:avLst>
          </a:prstGeom>
          <a:noFill/>
          <a:ln w="15875">
            <a:solidFill>
              <a:srgbClr val="FF4D43"/>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50" b="1" i="0">
                <a:solidFill>
                  <a:srgbClr val="FF4D43"/>
                </a:solidFill>
                <a:latin typeface="Segoe UI"/>
                <a:ea typeface="Segoe UI"/>
                <a:cs typeface="Segoe UI"/>
              </a:rPr>
              <a:t>DEMO DATA — prototype simulation</a:t>
            </a:r>
          </a:p>
        </p:txBody>
      </p:sp>
      <p:sp>
        <p:nvSpPr>
          <p:cNvPr id="8" name="Rounded Rectangle 7"/>
          <p:cNvSpPr/>
          <p:nvPr/>
        </p:nvSpPr>
        <p:spPr>
          <a:xfrm>
            <a:off x="658368" y="2103120"/>
            <a:ext cx="3246120" cy="1060704"/>
          </a:xfrm>
          <a:prstGeom prst="roundRect">
            <a:avLst>
              <a:gd name="adj" fmla="val 10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31136"/>
            <a:ext cx="2843784" cy="548640"/>
          </a:xfrm>
          <a:prstGeom prst="rect">
            <a:avLst/>
          </a:prstGeom>
          <a:noFill/>
        </p:spPr>
        <p:txBody>
          <a:bodyPr wrap="square" lIns="0" rIns="0" tIns="0" bIns="0" anchor="t">
            <a:spAutoFit/>
          </a:bodyPr>
          <a:lstStyle/>
          <a:p>
            <a:pPr algn="l">
              <a:spcBef>
                <a:spcPts val="0"/>
              </a:spcBef>
              <a:spcAft>
                <a:spcPts val="0"/>
              </a:spcAft>
            </a:pPr>
            <a:r>
              <a:rPr sz="3000" b="1" i="0">
                <a:solidFill>
                  <a:srgbClr val="F5B53F"/>
                </a:solidFill>
                <a:latin typeface="Segoe UI"/>
                <a:ea typeface="Segoe UI"/>
                <a:cs typeface="Segoe UI"/>
              </a:rPr>
              <a:t>62%</a:t>
            </a:r>
          </a:p>
        </p:txBody>
      </p:sp>
      <p:sp>
        <p:nvSpPr>
          <p:cNvPr id="10" name="TextBox 9"/>
          <p:cNvSpPr txBox="1"/>
          <p:nvPr/>
        </p:nvSpPr>
        <p:spPr>
          <a:xfrm>
            <a:off x="859536" y="2724912"/>
            <a:ext cx="2843784" cy="411480"/>
          </a:xfrm>
          <a:prstGeom prst="rect">
            <a:avLst/>
          </a:prstGeom>
          <a:noFill/>
        </p:spPr>
        <p:txBody>
          <a:bodyPr wrap="square" lIns="0" rIns="0" tIns="0" bIns="0" anchor="t">
            <a:spAutoFit/>
          </a:bodyPr>
          <a:lstStyle/>
          <a:p>
            <a:pPr algn="l">
              <a:spcBef>
                <a:spcPts val="0"/>
              </a:spcBef>
              <a:spcAft>
                <a:spcPts val="200"/>
              </a:spcAft>
            </a:pPr>
            <a:r>
              <a:rPr sz="1150" b="1" i="0">
                <a:solidFill>
                  <a:srgbClr val="EEF3F8"/>
                </a:solidFill>
                <a:latin typeface="Segoe UI"/>
                <a:ea typeface="Segoe UI"/>
                <a:cs typeface="Segoe UI"/>
              </a:rPr>
              <a:t>interruption rate</a:t>
            </a:r>
          </a:p>
          <a:p>
            <a:pPr algn="l">
              <a:spcBef>
                <a:spcPts val="0"/>
              </a:spcBef>
              <a:spcAft>
                <a:spcPts val="0"/>
              </a:spcAft>
            </a:pPr>
            <a:r>
              <a:rPr sz="1050" b="0" i="0">
                <a:solidFill>
                  <a:srgbClr val="93A6BA"/>
                </a:solidFill>
                <a:latin typeface="Segoe UI"/>
                <a:ea typeface="Segoe UI"/>
                <a:cs typeface="Segoe UI"/>
              </a:rPr>
              <a:t>796 of 1,284 scam attempts stopped</a:t>
            </a:r>
          </a:p>
        </p:txBody>
      </p:sp>
      <p:sp>
        <p:nvSpPr>
          <p:cNvPr id="11" name="Rounded Rectangle 10"/>
          <p:cNvSpPr/>
          <p:nvPr/>
        </p:nvSpPr>
        <p:spPr>
          <a:xfrm>
            <a:off x="4105656" y="2103120"/>
            <a:ext cx="3246120" cy="1060704"/>
          </a:xfrm>
          <a:prstGeom prst="roundRect">
            <a:avLst>
              <a:gd name="adj" fmla="val 10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06824" y="2231136"/>
            <a:ext cx="2843784" cy="548640"/>
          </a:xfrm>
          <a:prstGeom prst="rect">
            <a:avLst/>
          </a:prstGeom>
          <a:noFill/>
        </p:spPr>
        <p:txBody>
          <a:bodyPr wrap="square" lIns="0" rIns="0" tIns="0" bIns="0" anchor="t">
            <a:spAutoFit/>
          </a:bodyPr>
          <a:lstStyle/>
          <a:p>
            <a:pPr algn="l">
              <a:spcBef>
                <a:spcPts val="0"/>
              </a:spcBef>
              <a:spcAft>
                <a:spcPts val="0"/>
              </a:spcAft>
            </a:pPr>
            <a:r>
              <a:rPr sz="3000" b="1" i="0">
                <a:solidFill>
                  <a:srgbClr val="F5B53F"/>
                </a:solidFill>
                <a:latin typeface="Segoe UI"/>
                <a:ea typeface="Segoe UI"/>
                <a:cs typeface="Segoe UI"/>
              </a:rPr>
              <a:t>41s</a:t>
            </a:r>
          </a:p>
        </p:txBody>
      </p:sp>
      <p:sp>
        <p:nvSpPr>
          <p:cNvPr id="13" name="TextBox 12"/>
          <p:cNvSpPr txBox="1"/>
          <p:nvPr/>
        </p:nvSpPr>
        <p:spPr>
          <a:xfrm>
            <a:off x="4306824" y="2724912"/>
            <a:ext cx="2843784" cy="411480"/>
          </a:xfrm>
          <a:prstGeom prst="rect">
            <a:avLst/>
          </a:prstGeom>
          <a:noFill/>
        </p:spPr>
        <p:txBody>
          <a:bodyPr wrap="square" lIns="0" rIns="0" tIns="0" bIns="0" anchor="t">
            <a:spAutoFit/>
          </a:bodyPr>
          <a:lstStyle/>
          <a:p>
            <a:pPr algn="l">
              <a:spcBef>
                <a:spcPts val="0"/>
              </a:spcBef>
              <a:spcAft>
                <a:spcPts val="200"/>
              </a:spcAft>
            </a:pPr>
            <a:r>
              <a:rPr sz="1150" b="1" i="0">
                <a:solidFill>
                  <a:srgbClr val="EEF3F8"/>
                </a:solidFill>
                <a:latin typeface="Segoe UI"/>
                <a:ea typeface="Segoe UI"/>
                <a:cs typeface="Segoe UI"/>
              </a:rPr>
              <a:t>average pause</a:t>
            </a:r>
          </a:p>
          <a:p>
            <a:pPr algn="l">
              <a:spcBef>
                <a:spcPts val="0"/>
              </a:spcBef>
              <a:spcAft>
                <a:spcPts val="0"/>
              </a:spcAft>
            </a:pPr>
            <a:r>
              <a:rPr sz="1050" b="0" i="0">
                <a:solidFill>
                  <a:srgbClr val="93A6BA"/>
                </a:solidFill>
                <a:latin typeface="Segoe UI"/>
                <a:ea typeface="Segoe UI"/>
                <a:cs typeface="Segoe UI"/>
              </a:rPr>
              <a:t>long enough for a second human to enter</a:t>
            </a:r>
          </a:p>
        </p:txBody>
      </p:sp>
      <p:sp>
        <p:nvSpPr>
          <p:cNvPr id="14" name="Rounded Rectangle 13"/>
          <p:cNvSpPr/>
          <p:nvPr/>
        </p:nvSpPr>
        <p:spPr>
          <a:xfrm>
            <a:off x="658368" y="3346703"/>
            <a:ext cx="3246120" cy="1060704"/>
          </a:xfrm>
          <a:prstGeom prst="roundRect">
            <a:avLst>
              <a:gd name="adj" fmla="val 10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474720"/>
            <a:ext cx="2843784" cy="548640"/>
          </a:xfrm>
          <a:prstGeom prst="rect">
            <a:avLst/>
          </a:prstGeom>
          <a:noFill/>
        </p:spPr>
        <p:txBody>
          <a:bodyPr wrap="square" lIns="0" rIns="0" tIns="0" bIns="0" anchor="t">
            <a:spAutoFit/>
          </a:bodyPr>
          <a:lstStyle/>
          <a:p>
            <a:pPr algn="l">
              <a:spcBef>
                <a:spcPts val="0"/>
              </a:spcBef>
              <a:spcAft>
                <a:spcPts val="0"/>
              </a:spcAft>
            </a:pPr>
            <a:r>
              <a:rPr sz="3000" b="1" i="0">
                <a:solidFill>
                  <a:srgbClr val="FF4D43"/>
                </a:solidFill>
                <a:latin typeface="Segoe UI"/>
                <a:ea typeface="Segoe UI"/>
                <a:cs typeface="Segoe UI"/>
              </a:rPr>
              <a:t>31</a:t>
            </a:r>
          </a:p>
        </p:txBody>
      </p:sp>
      <p:sp>
        <p:nvSpPr>
          <p:cNvPr id="16" name="TextBox 15"/>
          <p:cNvSpPr txBox="1"/>
          <p:nvPr/>
        </p:nvSpPr>
        <p:spPr>
          <a:xfrm>
            <a:off x="859536" y="3968496"/>
            <a:ext cx="2843784" cy="411480"/>
          </a:xfrm>
          <a:prstGeom prst="rect">
            <a:avLst/>
          </a:prstGeom>
          <a:noFill/>
        </p:spPr>
        <p:txBody>
          <a:bodyPr wrap="square" lIns="0" rIns="0" tIns="0" bIns="0" anchor="t">
            <a:spAutoFit/>
          </a:bodyPr>
          <a:lstStyle/>
          <a:p>
            <a:pPr algn="l">
              <a:spcBef>
                <a:spcPts val="0"/>
              </a:spcBef>
              <a:spcAft>
                <a:spcPts val="200"/>
              </a:spcAft>
            </a:pPr>
            <a:r>
              <a:rPr sz="1150" b="1" i="0">
                <a:solidFill>
                  <a:srgbClr val="EEF3F8"/>
                </a:solidFill>
                <a:latin typeface="Segoe UI"/>
                <a:ea typeface="Segoe UI"/>
                <a:cs typeface="Segoe UI"/>
              </a:rPr>
              <a:t>false alarms, counted</a:t>
            </a:r>
          </a:p>
          <a:p>
            <a:pPr algn="l">
              <a:spcBef>
                <a:spcPts val="0"/>
              </a:spcBef>
              <a:spcAft>
                <a:spcPts val="0"/>
              </a:spcAft>
            </a:pPr>
            <a:r>
              <a:rPr sz="1050" b="0" i="0">
                <a:solidFill>
                  <a:srgbClr val="93A6BA"/>
                </a:solidFill>
                <a:latin typeface="Segoe UI"/>
                <a:ea typeface="Segoe UI"/>
                <a:cs typeface="Segoe UI"/>
              </a:rPr>
              <a:t>a “</a:t>
            </a:r>
            <a:r>
              <a:rPr sz="1050" b="0" i="0">
                <a:solidFill>
                  <a:srgbClr val="93A6BA"/>
                </a:solidFill>
                <a:latin typeface="Nirmala UI"/>
                <a:ea typeface="Nirmala UI"/>
                <a:cs typeface="Nirmala UI"/>
              </a:rPr>
              <a:t>ঠিক ছিল</a:t>
            </a:r>
            <a:r>
              <a:rPr sz="1050" b="0" i="0">
                <a:solidFill>
                  <a:srgbClr val="93A6BA"/>
                </a:solidFill>
                <a:latin typeface="Segoe UI"/>
                <a:ea typeface="Segoe UI"/>
                <a:cs typeface="Segoe UI"/>
              </a:rPr>
              <a:t>” button on every warning</a:t>
            </a:r>
          </a:p>
        </p:txBody>
      </p:sp>
      <p:sp>
        <p:nvSpPr>
          <p:cNvPr id="17" name="Rounded Rectangle 16"/>
          <p:cNvSpPr/>
          <p:nvPr/>
        </p:nvSpPr>
        <p:spPr>
          <a:xfrm>
            <a:off x="4105656" y="3346703"/>
            <a:ext cx="3246120" cy="1060704"/>
          </a:xfrm>
          <a:prstGeom prst="roundRect">
            <a:avLst>
              <a:gd name="adj" fmla="val 10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474720"/>
            <a:ext cx="2843784" cy="548640"/>
          </a:xfrm>
          <a:prstGeom prst="rect">
            <a:avLst/>
          </a:prstGeom>
          <a:noFill/>
        </p:spPr>
        <p:txBody>
          <a:bodyPr wrap="square" lIns="0" rIns="0" tIns="0" bIns="0" anchor="t">
            <a:spAutoFit/>
          </a:bodyPr>
          <a:lstStyle/>
          <a:p>
            <a:pPr algn="l">
              <a:spcBef>
                <a:spcPts val="0"/>
              </a:spcBef>
              <a:spcAft>
                <a:spcPts val="0"/>
              </a:spcAft>
            </a:pPr>
            <a:r>
              <a:rPr sz="3000" b="1" i="0">
                <a:solidFill>
                  <a:srgbClr val="F5B53F"/>
                </a:solidFill>
                <a:latin typeface="Segoe UI"/>
                <a:ea typeface="Segoe UI"/>
                <a:cs typeface="Segoe UI"/>
              </a:rPr>
              <a:t>168</a:t>
            </a:r>
          </a:p>
        </p:txBody>
      </p:sp>
      <p:sp>
        <p:nvSpPr>
          <p:cNvPr id="19" name="TextBox 18"/>
          <p:cNvSpPr txBox="1"/>
          <p:nvPr/>
        </p:nvSpPr>
        <p:spPr>
          <a:xfrm>
            <a:off x="4306824" y="3968496"/>
            <a:ext cx="2843784" cy="411480"/>
          </a:xfrm>
          <a:prstGeom prst="rect">
            <a:avLst/>
          </a:prstGeom>
          <a:noFill/>
        </p:spPr>
        <p:txBody>
          <a:bodyPr wrap="square" lIns="0" rIns="0" tIns="0" bIns="0" anchor="t">
            <a:spAutoFit/>
          </a:bodyPr>
          <a:lstStyle/>
          <a:p>
            <a:pPr algn="l">
              <a:spcBef>
                <a:spcPts val="0"/>
              </a:spcBef>
              <a:spcAft>
                <a:spcPts val="200"/>
              </a:spcAft>
            </a:pPr>
            <a:r>
              <a:rPr sz="1150" b="1" i="0">
                <a:solidFill>
                  <a:srgbClr val="EEF3F8"/>
                </a:solidFill>
                <a:latin typeface="Segoe UI"/>
                <a:ea typeface="Segoe UI"/>
                <a:cs typeface="Segoe UI"/>
              </a:rPr>
              <a:t>family alerts fired</a:t>
            </a:r>
          </a:p>
          <a:p>
            <a:pPr algn="l">
              <a:spcBef>
                <a:spcPts val="0"/>
              </a:spcBef>
              <a:spcAft>
                <a:spcPts val="0"/>
              </a:spcAft>
            </a:pPr>
            <a:r>
              <a:rPr sz="1050" b="0" i="0">
                <a:solidFill>
                  <a:srgbClr val="93A6BA"/>
                </a:solidFill>
                <a:latin typeface="Segoe UI"/>
                <a:ea typeface="Segoe UI"/>
                <a:cs typeface="Segoe UI"/>
              </a:rPr>
              <a:t>and 97 warnings at the agent shop</a:t>
            </a:r>
          </a:p>
        </p:txBody>
      </p:sp>
      <p:sp>
        <p:nvSpPr>
          <p:cNvPr id="20" name="TextBox 19"/>
          <p:cNvSpPr txBox="1"/>
          <p:nvPr/>
        </p:nvSpPr>
        <p:spPr>
          <a:xfrm>
            <a:off x="658368" y="4553712"/>
            <a:ext cx="6766560" cy="274320"/>
          </a:xfrm>
          <a:prstGeom prst="rect">
            <a:avLst/>
          </a:prstGeom>
          <a:noFill/>
        </p:spPr>
        <p:txBody>
          <a:bodyPr wrap="square" lIns="0" rIns="0" tIns="0" bIns="0" anchor="t">
            <a:spAutoFit/>
          </a:bodyPr>
          <a:lstStyle/>
          <a:p>
            <a:pPr algn="l">
              <a:spcBef>
                <a:spcPts val="0"/>
              </a:spcBef>
              <a:spcAft>
                <a:spcPts val="0"/>
              </a:spcAft>
            </a:pPr>
            <a:r>
              <a:rPr sz="1050" b="0" i="0">
                <a:solidFill>
                  <a:srgbClr val="93A6BA"/>
                </a:solidFill>
                <a:latin typeface="Segoe UI"/>
                <a:ea typeface="Segoe UI"/>
                <a:cs typeface="Segoe UI"/>
              </a:rPr>
              <a:t>of 10,000 protected users · 1,284 scam attempts · 412 pauses fired</a:t>
            </a:r>
          </a:p>
        </p:txBody>
      </p:sp>
      <p:sp>
        <p:nvSpPr>
          <p:cNvPr id="21" name="TextBox 20"/>
          <p:cNvSpPr txBox="1"/>
          <p:nvPr/>
        </p:nvSpPr>
        <p:spPr>
          <a:xfrm>
            <a:off x="658368" y="5001767"/>
            <a:ext cx="6766560"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WHERE THE VALUE LANDS</a:t>
            </a:r>
          </a:p>
        </p:txBody>
      </p:sp>
      <p:sp>
        <p:nvSpPr>
          <p:cNvPr id="22" name="TextBox 21"/>
          <p:cNvSpPr txBox="1"/>
          <p:nvPr/>
        </p:nvSpPr>
        <p:spPr>
          <a:xfrm>
            <a:off x="658368" y="5330951"/>
            <a:ext cx="6858000" cy="310896"/>
          </a:xfrm>
          <a:prstGeom prst="rect">
            <a:avLst/>
          </a:prstGeom>
          <a:noFill/>
        </p:spPr>
        <p:txBody>
          <a:bodyPr wrap="square" lIns="0" rIns="0" tIns="0" bIns="0" anchor="t">
            <a:spAutoFit/>
          </a:bodyPr>
          <a:lstStyle/>
          <a:p>
            <a:pPr algn="l">
              <a:spcBef>
                <a:spcPts val="0"/>
              </a:spcBef>
              <a:spcAft>
                <a:spcPts val="0"/>
              </a:spcAft>
            </a:pPr>
            <a:r>
              <a:rPr sz="1250" b="0" i="0">
                <a:solidFill>
                  <a:srgbClr val="F5B53F"/>
                </a:solidFill>
                <a:latin typeface="Segoe UI"/>
                <a:ea typeface="Segoe UI"/>
                <a:cs typeface="Segoe UI"/>
              </a:rPr>
              <a:t>—  </a:t>
            </a:r>
            <a:r>
              <a:rPr sz="1250" b="0" i="0">
                <a:solidFill>
                  <a:srgbClr val="EEF3F8"/>
                </a:solidFill>
                <a:latin typeface="Segoe UI"/>
                <a:ea typeface="Segoe UI"/>
                <a:cs typeface="Segoe UI"/>
              </a:rPr>
              <a:t>Money stays with the person least able to lose it — 30,000 taka is a year, not a number.</a:t>
            </a:r>
          </a:p>
        </p:txBody>
      </p:sp>
      <p:sp>
        <p:nvSpPr>
          <p:cNvPr id="23" name="TextBox 22"/>
          <p:cNvSpPr txBox="1"/>
          <p:nvPr/>
        </p:nvSpPr>
        <p:spPr>
          <a:xfrm>
            <a:off x="658368" y="5641847"/>
            <a:ext cx="6858000" cy="310896"/>
          </a:xfrm>
          <a:prstGeom prst="rect">
            <a:avLst/>
          </a:prstGeom>
          <a:noFill/>
        </p:spPr>
        <p:txBody>
          <a:bodyPr wrap="square" lIns="0" rIns="0" tIns="0" bIns="0" anchor="t">
            <a:spAutoFit/>
          </a:bodyPr>
          <a:lstStyle/>
          <a:p>
            <a:pPr algn="l">
              <a:spcBef>
                <a:spcPts val="0"/>
              </a:spcBef>
              <a:spcAft>
                <a:spcPts val="0"/>
              </a:spcAft>
            </a:pPr>
            <a:r>
              <a:rPr sz="1250" b="0" i="0">
                <a:solidFill>
                  <a:srgbClr val="F5B53F"/>
                </a:solidFill>
                <a:latin typeface="Segoe UI"/>
                <a:ea typeface="Segoe UI"/>
                <a:cs typeface="Segoe UI"/>
              </a:rPr>
              <a:t>—  </a:t>
            </a:r>
            <a:r>
              <a:rPr sz="1250" b="0" i="0">
                <a:solidFill>
                  <a:srgbClr val="EEF3F8"/>
                </a:solidFill>
                <a:latin typeface="Segoe UI"/>
                <a:ea typeface="Segoe UI"/>
                <a:cs typeface="Segoe UI"/>
              </a:rPr>
              <a:t>Every intervened call becomes a structured report instead of a family argument.</a:t>
            </a:r>
          </a:p>
        </p:txBody>
      </p:sp>
      <p:sp>
        <p:nvSpPr>
          <p:cNvPr id="24" name="TextBox 23"/>
          <p:cNvSpPr txBox="1"/>
          <p:nvPr/>
        </p:nvSpPr>
        <p:spPr>
          <a:xfrm>
            <a:off x="658368" y="5952743"/>
            <a:ext cx="6858000" cy="310896"/>
          </a:xfrm>
          <a:prstGeom prst="rect">
            <a:avLst/>
          </a:prstGeom>
          <a:noFill/>
        </p:spPr>
        <p:txBody>
          <a:bodyPr wrap="square" lIns="0" rIns="0" tIns="0" bIns="0" anchor="t">
            <a:spAutoFit/>
          </a:bodyPr>
          <a:lstStyle/>
          <a:p>
            <a:pPr algn="l">
              <a:spcBef>
                <a:spcPts val="0"/>
              </a:spcBef>
              <a:spcAft>
                <a:spcPts val="0"/>
              </a:spcAft>
            </a:pPr>
            <a:r>
              <a:rPr sz="1250" b="0" i="0">
                <a:solidFill>
                  <a:srgbClr val="F5B53F"/>
                </a:solidFill>
                <a:latin typeface="Segoe UI"/>
                <a:ea typeface="Segoe UI"/>
                <a:cs typeface="Segoe UI"/>
              </a:rPr>
              <a:t>—  </a:t>
            </a:r>
            <a:r>
              <a:rPr sz="1250" b="0" i="0">
                <a:solidFill>
                  <a:srgbClr val="EEF3F8"/>
                </a:solidFill>
                <a:latin typeface="Segoe UI"/>
                <a:ea typeface="Segoe UI"/>
                <a:cs typeface="Segoe UI"/>
              </a:rPr>
              <a:t>Trust in digital finance is GP's own MFS float, and support cost is the second line.</a:t>
            </a:r>
          </a:p>
        </p:txBody>
      </p:sp>
      <p:pic>
        <p:nvPicPr>
          <p:cNvPr id="25" name="Picture 24" descr="radar.png"/>
          <p:cNvPicPr>
            <a:picLocks noChangeAspect="1"/>
          </p:cNvPicPr>
          <p:nvPr/>
        </p:nvPicPr>
        <p:blipFill>
          <a:blip r:embed="rId2"/>
          <a:stretch>
            <a:fillRect/>
          </a:stretch>
        </p:blipFill>
        <p:spPr>
          <a:xfrm>
            <a:off x="8576089" y="2103120"/>
            <a:ext cx="2957237" cy="3383280"/>
          </a:xfrm>
          <a:prstGeom prst="rect">
            <a:avLst/>
          </a:prstGeom>
        </p:spPr>
      </p:pic>
      <p:sp>
        <p:nvSpPr>
          <p:cNvPr id="26" name="TextBox 25"/>
          <p:cNvSpPr txBox="1"/>
          <p:nvPr/>
        </p:nvSpPr>
        <p:spPr>
          <a:xfrm>
            <a:off x="8393209" y="5596128"/>
            <a:ext cx="3322997" cy="731520"/>
          </a:xfrm>
          <a:prstGeom prst="rect">
            <a:avLst/>
          </a:prstGeom>
          <a:noFill/>
        </p:spPr>
        <p:txBody>
          <a:bodyPr wrap="square" lIns="0" rIns="0" tIns="0" bIns="0" anchor="t">
            <a:spAutoFit/>
          </a:bodyPr>
          <a:lstStyle/>
          <a:p>
            <a:pPr algn="ctr">
              <a:spcBef>
                <a:spcPts val="0"/>
              </a:spcBef>
              <a:spcAft>
                <a:spcPts val="200"/>
              </a:spcAft>
            </a:pPr>
            <a:r>
              <a:rPr sz="1300" b="1" i="0">
                <a:solidFill>
                  <a:srgbClr val="F5B53F"/>
                </a:solidFill>
                <a:latin typeface="Nirmala UI"/>
                <a:ea typeface="Nirmala UI"/>
                <a:cs typeface="Nirmala UI"/>
              </a:rPr>
              <a:t>স্ক্যাম রাডার</a:t>
            </a:r>
          </a:p>
          <a:p>
            <a:pPr algn="ctr">
              <a:lnSpc>
                <a:spcPct val="115000"/>
              </a:lnSpc>
              <a:spcBef>
                <a:spcPts val="0"/>
              </a:spcBef>
              <a:spcAft>
                <a:spcPts val="0"/>
              </a:spcAft>
            </a:pPr>
            <a:r>
              <a:rPr sz="1050" b="0" i="0">
                <a:solidFill>
                  <a:srgbClr val="93A6BA"/>
                </a:solidFill>
                <a:latin typeface="Segoe UI"/>
                <a:ea typeface="Segoe UI"/>
                <a:cs typeface="Segoe UI"/>
              </a:rPr>
              <a:t>same script, one network: reports cluster numbers into the people behind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FEASIBILITY · THE ASK</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9 / 10</a:t>
            </a:r>
          </a:p>
        </p:txBody>
      </p:sp>
      <p:sp>
        <p:nvSpPr>
          <p:cNvPr id="6" name="TextBox 5"/>
          <p:cNvSpPr txBox="1"/>
          <p:nvPr/>
        </p:nvSpPr>
        <p:spPr>
          <a:xfrm>
            <a:off x="658368" y="1536192"/>
            <a:ext cx="10874959" cy="502920"/>
          </a:xfrm>
          <a:prstGeom prst="rect">
            <a:avLst/>
          </a:prstGeom>
          <a:noFill/>
        </p:spPr>
        <p:txBody>
          <a:bodyPr wrap="square" lIns="0" rIns="0" tIns="0" bIns="0" anchor="t">
            <a:spAutoFit/>
          </a:bodyPr>
          <a:lstStyle/>
          <a:p>
            <a:pPr algn="l">
              <a:spcBef>
                <a:spcPts val="0"/>
              </a:spcBef>
              <a:spcAft>
                <a:spcPts val="0"/>
              </a:spcAft>
            </a:pPr>
            <a:r>
              <a:rPr sz="2700" b="1" i="0">
                <a:solidFill>
                  <a:srgbClr val="EEF3F8"/>
                </a:solidFill>
                <a:latin typeface="Segoe UI"/>
                <a:ea typeface="Segoe UI"/>
                <a:cs typeface="Segoe UI"/>
              </a:rPr>
              <a:t>Ninety days, narrow enough to finish.</a:t>
            </a:r>
          </a:p>
        </p:txBody>
      </p:sp>
      <p:sp>
        <p:nvSpPr>
          <p:cNvPr id="7" name="Rounded Rectangle 6"/>
          <p:cNvSpPr/>
          <p:nvPr/>
        </p:nvSpPr>
        <p:spPr>
          <a:xfrm>
            <a:off x="658368" y="2084831"/>
            <a:ext cx="3490874" cy="2103120"/>
          </a:xfrm>
          <a:prstGeom prst="roundRect">
            <a:avLst>
              <a:gd name="adj" fmla="val 7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2084831"/>
            <a:ext cx="3490874" cy="54864"/>
          </a:xfrm>
          <a:prstGeom prst="rect">
            <a:avLst/>
          </a:prstGeom>
          <a:solidFill>
            <a:srgbClr val="F5B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088538" cy="1828800"/>
          </a:xfrm>
          <a:prstGeom prst="rect">
            <a:avLst/>
          </a:prstGeom>
          <a:noFill/>
        </p:spPr>
        <p:txBody>
          <a:bodyPr wrap="square" lIns="0" rIns="0" tIns="0" bIns="0" anchor="t">
            <a:spAutoFit/>
          </a:bodyPr>
          <a:lstStyle/>
          <a:p>
            <a:pPr algn="l">
              <a:spcBef>
                <a:spcPts val="0"/>
              </a:spcBef>
              <a:spcAft>
                <a:spcPts val="400"/>
              </a:spcAft>
            </a:pPr>
            <a:r>
              <a:rPr sz="1050" b="1" i="0">
                <a:solidFill>
                  <a:srgbClr val="F5B53F"/>
                </a:solidFill>
                <a:latin typeface="Segoe UI"/>
                <a:ea typeface="Segoe UI"/>
                <a:cs typeface="Segoe UI"/>
              </a:rPr>
              <a:t>WEEKS 1–4</a:t>
            </a:r>
          </a:p>
          <a:p>
            <a:pPr algn="l">
              <a:spcBef>
                <a:spcPts val="0"/>
              </a:spcBef>
              <a:spcAft>
                <a:spcPts val="800"/>
              </a:spcAft>
            </a:pPr>
            <a:r>
              <a:rPr sz="1550" b="1" i="0">
                <a:solidFill>
                  <a:srgbClr val="EEF3F8"/>
                </a:solidFill>
                <a:latin typeface="Segoe UI"/>
                <a:ea typeface="Segoe UI"/>
                <a:cs typeface="Segoe UI"/>
              </a:rPr>
              <a:t>Prove it on real language</a:t>
            </a:r>
          </a:p>
          <a:p>
            <a:pPr algn="l">
              <a:lnSpc>
                <a:spcPct val="122000"/>
              </a:lnSpc>
              <a:spcBef>
                <a:spcPts val="0"/>
              </a:spcBef>
              <a:spcAft>
                <a:spcPts val="0"/>
              </a:spcAft>
            </a:pPr>
            <a:r>
              <a:rPr sz="1150" b="0" i="0">
                <a:solidFill>
                  <a:srgbClr val="93A6BA"/>
                </a:solidFill>
                <a:latin typeface="Segoe UI"/>
                <a:ea typeface="Segoe UI"/>
                <a:cs typeface="Segoe UI"/>
              </a:rPr>
              <a:t>2,000 consented scam-call recordings from the GP fraud cell. Fine-tune the small Bangla model. Publish a false-positive rate, not just recall.</a:t>
            </a:r>
          </a:p>
        </p:txBody>
      </p:sp>
      <p:sp>
        <p:nvSpPr>
          <p:cNvPr id="10" name="Rounded Rectangle 9"/>
          <p:cNvSpPr/>
          <p:nvPr/>
        </p:nvSpPr>
        <p:spPr>
          <a:xfrm>
            <a:off x="4350410" y="2084831"/>
            <a:ext cx="3490874" cy="2103120"/>
          </a:xfrm>
          <a:prstGeom prst="roundRect">
            <a:avLst>
              <a:gd name="adj" fmla="val 7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50410" y="2084831"/>
            <a:ext cx="3490874" cy="54864"/>
          </a:xfrm>
          <a:prstGeom prst="rect">
            <a:avLst/>
          </a:prstGeom>
          <a:solidFill>
            <a:srgbClr val="F5B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1578" y="2286000"/>
            <a:ext cx="3088538" cy="1828800"/>
          </a:xfrm>
          <a:prstGeom prst="rect">
            <a:avLst/>
          </a:prstGeom>
          <a:noFill/>
        </p:spPr>
        <p:txBody>
          <a:bodyPr wrap="square" lIns="0" rIns="0" tIns="0" bIns="0" anchor="t">
            <a:spAutoFit/>
          </a:bodyPr>
          <a:lstStyle/>
          <a:p>
            <a:pPr algn="l">
              <a:spcBef>
                <a:spcPts val="0"/>
              </a:spcBef>
              <a:spcAft>
                <a:spcPts val="400"/>
              </a:spcAft>
            </a:pPr>
            <a:r>
              <a:rPr sz="1050" b="1" i="0">
                <a:solidFill>
                  <a:srgbClr val="F5B53F"/>
                </a:solidFill>
                <a:latin typeface="Segoe UI"/>
                <a:ea typeface="Segoe UI"/>
                <a:cs typeface="Segoe UI"/>
              </a:rPr>
              <a:t>WEEKS 5–8</a:t>
            </a:r>
          </a:p>
          <a:p>
            <a:pPr algn="l">
              <a:spcBef>
                <a:spcPts val="0"/>
              </a:spcBef>
              <a:spcAft>
                <a:spcPts val="800"/>
              </a:spcAft>
            </a:pPr>
            <a:r>
              <a:rPr sz="1550" b="1" i="0">
                <a:solidFill>
                  <a:srgbClr val="EEF3F8"/>
                </a:solidFill>
                <a:latin typeface="Segoe UI"/>
                <a:ea typeface="Segoe UI"/>
                <a:cs typeface="Segoe UI"/>
              </a:rPr>
              <a:t>Network slice, one district</a:t>
            </a:r>
          </a:p>
          <a:p>
            <a:pPr algn="l">
              <a:lnSpc>
                <a:spcPct val="122000"/>
              </a:lnSpc>
              <a:spcBef>
                <a:spcPts val="0"/>
              </a:spcBef>
              <a:spcAft>
                <a:spcPts val="0"/>
              </a:spcAft>
            </a:pPr>
            <a:r>
              <a:rPr sz="1150" b="0" i="0">
                <a:solidFill>
                  <a:srgbClr val="93A6BA"/>
                </a:solidFill>
                <a:latin typeface="Segoe UI"/>
                <a:ea typeface="Segoe UI"/>
                <a:cs typeface="Segoe UI"/>
              </a:rPr>
              <a:t>Reputation, the pre-call Bangla announcement, a 999 handoff. Feature-phone path only, so the pilot reaches the people at risk. 5,000 users, opt-in.</a:t>
            </a:r>
          </a:p>
        </p:txBody>
      </p:sp>
      <p:sp>
        <p:nvSpPr>
          <p:cNvPr id="13" name="Rounded Rectangle 12"/>
          <p:cNvSpPr/>
          <p:nvPr/>
        </p:nvSpPr>
        <p:spPr>
          <a:xfrm>
            <a:off x="8042452" y="2084831"/>
            <a:ext cx="3490874" cy="2103120"/>
          </a:xfrm>
          <a:prstGeom prst="roundRect">
            <a:avLst>
              <a:gd name="adj" fmla="val 7000"/>
            </a:avLst>
          </a:prstGeom>
          <a:solidFill>
            <a:srgbClr val="182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2084831"/>
            <a:ext cx="3490874" cy="54864"/>
          </a:xfrm>
          <a:prstGeom prst="rect">
            <a:avLst/>
          </a:prstGeom>
          <a:solidFill>
            <a:srgbClr val="F5B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286000"/>
            <a:ext cx="3088538" cy="1828800"/>
          </a:xfrm>
          <a:prstGeom prst="rect">
            <a:avLst/>
          </a:prstGeom>
          <a:noFill/>
        </p:spPr>
        <p:txBody>
          <a:bodyPr wrap="square" lIns="0" rIns="0" tIns="0" bIns="0" anchor="t">
            <a:spAutoFit/>
          </a:bodyPr>
          <a:lstStyle/>
          <a:p>
            <a:pPr algn="l">
              <a:spcBef>
                <a:spcPts val="0"/>
              </a:spcBef>
              <a:spcAft>
                <a:spcPts val="400"/>
              </a:spcAft>
            </a:pPr>
            <a:r>
              <a:rPr sz="1050" b="1" i="0">
                <a:solidFill>
                  <a:srgbClr val="F5B53F"/>
                </a:solidFill>
                <a:latin typeface="Segoe UI"/>
                <a:ea typeface="Segoe UI"/>
                <a:cs typeface="Segoe UI"/>
              </a:rPr>
              <a:t>WEEKS 9–12</a:t>
            </a:r>
          </a:p>
          <a:p>
            <a:pPr algn="l">
              <a:spcBef>
                <a:spcPts val="0"/>
              </a:spcBef>
              <a:spcAft>
                <a:spcPts val="800"/>
              </a:spcAft>
            </a:pPr>
            <a:r>
              <a:rPr sz="1550" b="1" i="0">
                <a:solidFill>
                  <a:srgbClr val="EEF3F8"/>
                </a:solidFill>
                <a:latin typeface="Segoe UI"/>
                <a:ea typeface="Segoe UI"/>
                <a:cs typeface="Segoe UI"/>
              </a:rPr>
              <a:t>Measure, then decide</a:t>
            </a:r>
          </a:p>
          <a:p>
            <a:pPr algn="l">
              <a:lnSpc>
                <a:spcPct val="122000"/>
              </a:lnSpc>
              <a:spcBef>
                <a:spcPts val="0"/>
              </a:spcBef>
              <a:spcAft>
                <a:spcPts val="0"/>
              </a:spcAft>
            </a:pPr>
            <a:r>
              <a:rPr sz="1150" b="0" i="0">
                <a:solidFill>
                  <a:srgbClr val="93A6BA"/>
                </a:solidFill>
                <a:latin typeface="Segoe UI"/>
                <a:ea typeface="Segoe UI"/>
                <a:cs typeface="Segoe UI"/>
              </a:rPr>
              <a:t>Interruption rate, money preserved, false-alarm rate, complaint-to-filing conversion. If the classifier can't hold, the network layer ships without it.</a:t>
            </a:r>
          </a:p>
        </p:txBody>
      </p:sp>
      <p:sp>
        <p:nvSpPr>
          <p:cNvPr id="16" name="TextBox 15"/>
          <p:cNvSpPr txBox="1"/>
          <p:nvPr/>
        </p:nvSpPr>
        <p:spPr>
          <a:xfrm>
            <a:off x="658368" y="4434840"/>
            <a:ext cx="5208879"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WHAT WE'RE ASKING GP FOR</a:t>
            </a:r>
          </a:p>
        </p:txBody>
      </p:sp>
      <p:sp>
        <p:nvSpPr>
          <p:cNvPr id="17" name="TextBox 16"/>
          <p:cNvSpPr txBox="1"/>
          <p:nvPr/>
        </p:nvSpPr>
        <p:spPr>
          <a:xfrm>
            <a:off x="658368" y="4773168"/>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F5B53F"/>
                </a:solidFill>
                <a:latin typeface="Segoe UI"/>
                <a:ea typeface="Segoe UI"/>
                <a:cs typeface="Segoe UI"/>
              </a:rPr>
              <a:t>1.  </a:t>
            </a:r>
            <a:r>
              <a:rPr sz="1300" b="0" i="0">
                <a:solidFill>
                  <a:srgbClr val="EEF3F8"/>
                </a:solidFill>
                <a:latin typeface="Segoe UI"/>
                <a:ea typeface="Segoe UI"/>
                <a:cs typeface="Segoe UI"/>
              </a:rPr>
              <a:t>Fraud-call CDR patterns and complaint text, anonymised</a:t>
            </a:r>
          </a:p>
        </p:txBody>
      </p:sp>
      <p:sp>
        <p:nvSpPr>
          <p:cNvPr id="18" name="TextBox 17"/>
          <p:cNvSpPr txBox="1"/>
          <p:nvPr/>
        </p:nvSpPr>
        <p:spPr>
          <a:xfrm>
            <a:off x="658368" y="5102352"/>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F5B53F"/>
                </a:solidFill>
                <a:latin typeface="Segoe UI"/>
                <a:ea typeface="Segoe UI"/>
                <a:cs typeface="Segoe UI"/>
              </a:rPr>
              <a:t>2.  </a:t>
            </a:r>
            <a:r>
              <a:rPr sz="1300" b="0" i="0">
                <a:solidFill>
                  <a:srgbClr val="EEF3F8"/>
                </a:solidFill>
                <a:latin typeface="Segoe UI"/>
                <a:ea typeface="Segoe UI"/>
                <a:cs typeface="Segoe UI"/>
              </a:rPr>
              <a:t>A network announcement slot and one USSD gating test</a:t>
            </a:r>
          </a:p>
        </p:txBody>
      </p:sp>
      <p:sp>
        <p:nvSpPr>
          <p:cNvPr id="19" name="TextBox 18"/>
          <p:cNvSpPr txBox="1"/>
          <p:nvPr/>
        </p:nvSpPr>
        <p:spPr>
          <a:xfrm>
            <a:off x="658368" y="5431536"/>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F5B53F"/>
                </a:solidFill>
                <a:latin typeface="Segoe UI"/>
                <a:ea typeface="Segoe UI"/>
                <a:cs typeface="Segoe UI"/>
              </a:rPr>
              <a:t>3.  </a:t>
            </a:r>
            <a:r>
              <a:rPr sz="1300" b="0" i="0">
                <a:solidFill>
                  <a:srgbClr val="EEF3F8"/>
                </a:solidFill>
                <a:latin typeface="Segoe UI"/>
                <a:ea typeface="Segoe UI"/>
                <a:cs typeface="Segoe UI"/>
              </a:rPr>
              <a:t>Introductions: the fraud cell, one MFS agent region</a:t>
            </a:r>
          </a:p>
        </p:txBody>
      </p:sp>
      <p:sp>
        <p:nvSpPr>
          <p:cNvPr id="20" name="TextBox 19"/>
          <p:cNvSpPr txBox="1"/>
          <p:nvPr/>
        </p:nvSpPr>
        <p:spPr>
          <a:xfrm>
            <a:off x="658368" y="5760720"/>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F5B53F"/>
                </a:solidFill>
                <a:latin typeface="Segoe UI"/>
                <a:ea typeface="Segoe UI"/>
                <a:cs typeface="Segoe UI"/>
              </a:rPr>
              <a:t>4.  </a:t>
            </a:r>
            <a:r>
              <a:rPr sz="1300" b="0" i="0">
                <a:solidFill>
                  <a:srgbClr val="EEF3F8"/>
                </a:solidFill>
                <a:latin typeface="Segoe UI"/>
                <a:ea typeface="Segoe UI"/>
                <a:cs typeface="Segoe UI"/>
              </a:rPr>
              <a:t>A pilot district, and 90 days</a:t>
            </a:r>
          </a:p>
        </p:txBody>
      </p:sp>
      <p:sp>
        <p:nvSpPr>
          <p:cNvPr id="21" name="TextBox 20"/>
          <p:cNvSpPr txBox="1"/>
          <p:nvPr/>
        </p:nvSpPr>
        <p:spPr>
          <a:xfrm>
            <a:off x="6324447" y="4434840"/>
            <a:ext cx="5208879" cy="256032"/>
          </a:xfrm>
          <a:prstGeom prst="rect">
            <a:avLst/>
          </a:prstGeom>
          <a:noFill/>
        </p:spPr>
        <p:txBody>
          <a:bodyPr wrap="square" lIns="0" rIns="0" tIns="0" bIns="0" anchor="t">
            <a:spAutoFit/>
          </a:bodyPr>
          <a:lstStyle/>
          <a:p>
            <a:pPr algn="l">
              <a:spcBef>
                <a:spcPts val="0"/>
              </a:spcBef>
              <a:spcAft>
                <a:spcPts val="0"/>
              </a:spcAft>
            </a:pPr>
            <a:r>
              <a:rPr sz="1050" b="1" i="0">
                <a:solidFill>
                  <a:srgbClr val="93A6BA"/>
                </a:solidFill>
                <a:latin typeface="Segoe UI"/>
                <a:ea typeface="Segoe UI"/>
                <a:cs typeface="Segoe UI"/>
              </a:rPr>
              <a:t>HOW IT SCALES BEYOND GP</a:t>
            </a:r>
          </a:p>
        </p:txBody>
      </p:sp>
      <p:sp>
        <p:nvSpPr>
          <p:cNvPr id="22" name="TextBox 21"/>
          <p:cNvSpPr txBox="1"/>
          <p:nvPr/>
        </p:nvSpPr>
        <p:spPr>
          <a:xfrm>
            <a:off x="6324447" y="4773168"/>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4FD6A8"/>
                </a:solidFill>
                <a:latin typeface="Segoe UI"/>
                <a:ea typeface="Segoe UI"/>
                <a:cs typeface="Segoe UI"/>
              </a:rPr>
              <a:t>→  </a:t>
            </a:r>
            <a:r>
              <a:rPr sz="1300" b="0" i="0">
                <a:solidFill>
                  <a:srgbClr val="EEF3F8"/>
                </a:solidFill>
                <a:latin typeface="Segoe UI"/>
                <a:ea typeface="Segoe UI"/>
                <a:cs typeface="Segoe UI"/>
              </a:rPr>
              <a:t>GP-only pilot: reputation, warning, radar</a:t>
            </a:r>
          </a:p>
        </p:txBody>
      </p:sp>
      <p:sp>
        <p:nvSpPr>
          <p:cNvPr id="23" name="TextBox 22"/>
          <p:cNvSpPr txBox="1"/>
          <p:nvPr/>
        </p:nvSpPr>
        <p:spPr>
          <a:xfrm>
            <a:off x="6324447" y="5102352"/>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4FD6A8"/>
                </a:solidFill>
                <a:latin typeface="Segoe UI"/>
                <a:ea typeface="Segoe UI"/>
                <a:cs typeface="Segoe UI"/>
              </a:rPr>
              <a:t>→  </a:t>
            </a:r>
            <a:r>
              <a:rPr sz="1300" b="0" i="0">
                <a:solidFill>
                  <a:srgbClr val="EEF3F8"/>
                </a:solidFill>
                <a:latin typeface="Segoe UI"/>
                <a:ea typeface="Segoe UI"/>
                <a:cs typeface="Segoe UI"/>
              </a:rPr>
              <a:t>Android adds the on-device pause where handsets allow</a:t>
            </a:r>
          </a:p>
        </p:txBody>
      </p:sp>
      <p:sp>
        <p:nvSpPr>
          <p:cNvPr id="24" name="TextBox 23"/>
          <p:cNvSpPr txBox="1"/>
          <p:nvPr/>
        </p:nvSpPr>
        <p:spPr>
          <a:xfrm>
            <a:off x="6324447" y="5431536"/>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4FD6A8"/>
                </a:solidFill>
                <a:latin typeface="Segoe UI"/>
                <a:ea typeface="Segoe UI"/>
                <a:cs typeface="Segoe UI"/>
              </a:rPr>
              <a:t>→  </a:t>
            </a:r>
            <a:r>
              <a:rPr sz="1300" b="0" i="0">
                <a:solidFill>
                  <a:srgbClr val="EEF3F8"/>
                </a:solidFill>
                <a:latin typeface="Segoe UI"/>
                <a:ea typeface="Segoe UI"/>
                <a:cs typeface="Segoe UI"/>
              </a:rPr>
              <a:t>Any operator, via a shared report format</a:t>
            </a:r>
          </a:p>
        </p:txBody>
      </p:sp>
      <p:sp>
        <p:nvSpPr>
          <p:cNvPr id="25" name="TextBox 24"/>
          <p:cNvSpPr txBox="1"/>
          <p:nvPr/>
        </p:nvSpPr>
        <p:spPr>
          <a:xfrm>
            <a:off x="6324447" y="5760720"/>
            <a:ext cx="5208879" cy="310896"/>
          </a:xfrm>
          <a:prstGeom prst="rect">
            <a:avLst/>
          </a:prstGeom>
          <a:noFill/>
        </p:spPr>
        <p:txBody>
          <a:bodyPr wrap="square" lIns="0" rIns="0" tIns="0" bIns="0" anchor="t">
            <a:spAutoFit/>
          </a:bodyPr>
          <a:lstStyle/>
          <a:p>
            <a:pPr algn="l">
              <a:spcBef>
                <a:spcPts val="0"/>
              </a:spcBef>
              <a:spcAft>
                <a:spcPts val="0"/>
              </a:spcAft>
            </a:pPr>
            <a:r>
              <a:rPr sz="1300" b="1" i="0">
                <a:solidFill>
                  <a:srgbClr val="4FD6A8"/>
                </a:solidFill>
                <a:latin typeface="Segoe UI"/>
                <a:ea typeface="Segoe UI"/>
                <a:cs typeface="Segoe UI"/>
              </a:rPr>
              <a:t>→  </a:t>
            </a:r>
            <a:r>
              <a:rPr sz="1300" b="0" i="0">
                <a:solidFill>
                  <a:srgbClr val="EEF3F8"/>
                </a:solidFill>
                <a:latin typeface="Segoe UI"/>
                <a:ea typeface="Segoe UI"/>
                <a:cs typeface="Segoe UI"/>
              </a:rPr>
              <a:t>999 and BTRC get the clustered network 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58368" y="402336"/>
            <a:ext cx="8229600" cy="256032"/>
          </a:xfrm>
          <a:prstGeom prst="rect">
            <a:avLst/>
          </a:prstGeom>
          <a:noFill/>
        </p:spPr>
        <p:txBody>
          <a:bodyPr wrap="square" lIns="0" rIns="0" tIns="0" bIns="0" anchor="t">
            <a:spAutoFit/>
          </a:bodyPr>
          <a:lstStyle/>
          <a:p>
            <a:pPr algn="l">
              <a:spcBef>
                <a:spcPts val="0"/>
              </a:spcBef>
              <a:spcAft>
                <a:spcPts val="0"/>
              </a:spcAft>
            </a:pPr>
            <a:r>
              <a:rPr sz="1150" b="1" i="0">
                <a:solidFill>
                  <a:srgbClr val="F5B53F"/>
                </a:solidFill>
                <a:latin typeface="Segoe UI"/>
                <a:ea typeface="Segoe UI"/>
                <a:cs typeface="Segoe UI"/>
              </a:rPr>
              <a:t>LIVE PROOF</a:t>
            </a:r>
          </a:p>
        </p:txBody>
      </p:sp>
      <p:sp>
        <p:nvSpPr>
          <p:cNvPr id="3" name="Rectangle 2"/>
          <p:cNvSpPr/>
          <p:nvPr/>
        </p:nvSpPr>
        <p:spPr>
          <a:xfrm>
            <a:off x="658368" y="1371600"/>
            <a:ext cx="10874959" cy="15875"/>
          </a:xfrm>
          <a:prstGeom prst="rect">
            <a:avLst/>
          </a:prstGeom>
          <a:solidFill>
            <a:srgbClr val="2B3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400800"/>
            <a:ext cx="6400800" cy="256032"/>
          </a:xfrm>
          <a:prstGeom prst="rect">
            <a:avLst/>
          </a:prstGeom>
          <a:noFill/>
        </p:spPr>
        <p:txBody>
          <a:bodyPr wrap="square" lIns="0" rIns="0" tIns="0" bIns="0" anchor="t">
            <a:spAutoFit/>
          </a:bodyPr>
          <a:lstStyle/>
          <a:p>
            <a:pPr algn="l">
              <a:spcBef>
                <a:spcPts val="0"/>
              </a:spcBef>
              <a:spcAft>
                <a:spcPts val="0"/>
              </a:spcAft>
            </a:pPr>
            <a:r>
              <a:rPr sz="900" b="0" i="0">
                <a:solidFill>
                  <a:srgbClr val="93A6BA"/>
                </a:solidFill>
                <a:latin typeface="Nirmala UI"/>
                <a:ea typeface="Nirmala UI"/>
                <a:cs typeface="Nirmala UI"/>
              </a:rPr>
              <a:t>Shotorko · সতর্ক · GP FutureMakers 2026 Concept Round</a:t>
            </a:r>
          </a:p>
        </p:txBody>
      </p:sp>
      <p:sp>
        <p:nvSpPr>
          <p:cNvPr id="5" name="TextBox 4"/>
          <p:cNvSpPr txBox="1"/>
          <p:nvPr/>
        </p:nvSpPr>
        <p:spPr>
          <a:xfrm>
            <a:off x="10618927" y="6400800"/>
            <a:ext cx="914400" cy="256032"/>
          </a:xfrm>
          <a:prstGeom prst="rect">
            <a:avLst/>
          </a:prstGeom>
          <a:noFill/>
        </p:spPr>
        <p:txBody>
          <a:bodyPr wrap="square" lIns="0" rIns="0" tIns="0" bIns="0" anchor="t">
            <a:spAutoFit/>
          </a:bodyPr>
          <a:lstStyle/>
          <a:p>
            <a:pPr algn="r">
              <a:spcBef>
                <a:spcPts val="0"/>
              </a:spcBef>
              <a:spcAft>
                <a:spcPts val="0"/>
              </a:spcAft>
            </a:pPr>
            <a:r>
              <a:rPr sz="900" b="0" i="0">
                <a:solidFill>
                  <a:srgbClr val="93A6BA"/>
                </a:solidFill>
                <a:latin typeface="Segoe UI"/>
                <a:ea typeface="Segoe UI"/>
                <a:cs typeface="Segoe UI"/>
              </a:rPr>
              <a:t>10 / 10</a:t>
            </a:r>
          </a:p>
        </p:txBody>
      </p:sp>
      <p:sp>
        <p:nvSpPr>
          <p:cNvPr id="6" name="TextBox 5"/>
          <p:cNvSpPr txBox="1"/>
          <p:nvPr/>
        </p:nvSpPr>
        <p:spPr>
          <a:xfrm>
            <a:off x="658368" y="1517904"/>
            <a:ext cx="7863840" cy="548640"/>
          </a:xfrm>
          <a:prstGeom prst="rect">
            <a:avLst/>
          </a:prstGeom>
          <a:noFill/>
        </p:spPr>
        <p:txBody>
          <a:bodyPr wrap="square" lIns="0" rIns="0" tIns="0" bIns="0" anchor="t">
            <a:spAutoFit/>
          </a:bodyPr>
          <a:lstStyle/>
          <a:p>
            <a:pPr algn="l">
              <a:spcBef>
                <a:spcPts val="0"/>
              </a:spcBef>
              <a:spcAft>
                <a:spcPts val="0"/>
              </a:spcAft>
            </a:pPr>
            <a:r>
              <a:rPr sz="3000" b="1" i="0">
                <a:solidFill>
                  <a:srgbClr val="F5B53F"/>
                </a:solidFill>
                <a:latin typeface="Nirmala UI"/>
                <a:ea typeface="Nirmala UI"/>
                <a:cs typeface="Nirmala UI"/>
              </a:rPr>
              <a:t>সতর্ক থাকুন। পরিবারকে জানান।</a:t>
            </a:r>
          </a:p>
        </p:txBody>
      </p:sp>
      <p:sp>
        <p:nvSpPr>
          <p:cNvPr id="7" name="TextBox 6"/>
          <p:cNvSpPr txBox="1"/>
          <p:nvPr/>
        </p:nvSpPr>
        <p:spPr>
          <a:xfrm>
            <a:off x="658368" y="2121408"/>
            <a:ext cx="7863840" cy="320040"/>
          </a:xfrm>
          <a:prstGeom prst="rect">
            <a:avLst/>
          </a:prstGeom>
          <a:noFill/>
        </p:spPr>
        <p:txBody>
          <a:bodyPr wrap="square" lIns="0" rIns="0" tIns="0" bIns="0" anchor="t">
            <a:spAutoFit/>
          </a:bodyPr>
          <a:lstStyle/>
          <a:p>
            <a:pPr algn="l">
              <a:spcBef>
                <a:spcPts val="0"/>
              </a:spcBef>
              <a:spcAft>
                <a:spcPts val="0"/>
              </a:spcAft>
            </a:pPr>
            <a:r>
              <a:rPr sz="1350" b="0" i="1">
                <a:solidFill>
                  <a:srgbClr val="93A6BA"/>
                </a:solidFill>
                <a:latin typeface="Segoe UI"/>
                <a:ea typeface="Segoe UI"/>
                <a:cs typeface="Segoe UI"/>
              </a:rPr>
              <a:t>Stay alert. Tell the family.</a:t>
            </a:r>
          </a:p>
        </p:txBody>
      </p:sp>
      <p:sp>
        <p:nvSpPr>
          <p:cNvPr id="8" name="Rounded Rectangle 7"/>
          <p:cNvSpPr/>
          <p:nvPr/>
        </p:nvSpPr>
        <p:spPr>
          <a:xfrm>
            <a:off x="9165031" y="1481328"/>
            <a:ext cx="2496312" cy="2496312"/>
          </a:xfrm>
          <a:prstGeom prst="roundRect">
            <a:avLst>
              <a:gd name="adj" fmla="val 5000"/>
            </a:avLst>
          </a:prstGeom>
          <a:solidFill>
            <a:srgbClr val="EEF3F8"/>
          </a:solidFill>
          <a:ln w="19050">
            <a:solidFill>
              <a:srgbClr val="F5B5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abukawser.png"/>
          <p:cNvPicPr>
            <a:picLocks noChangeAspect="1"/>
          </p:cNvPicPr>
          <p:nvPr/>
        </p:nvPicPr>
        <p:blipFill>
          <a:blip r:embed="rId2"/>
          <a:stretch>
            <a:fillRect/>
          </a:stretch>
        </p:blipFill>
        <p:spPr>
          <a:xfrm>
            <a:off x="9293047" y="1609344"/>
            <a:ext cx="2240280" cy="2240280"/>
          </a:xfrm>
          <a:prstGeom prst="rect">
            <a:avLst/>
          </a:prstGeom>
        </p:spPr>
      </p:pic>
      <p:sp>
        <p:nvSpPr>
          <p:cNvPr id="10" name="TextBox 9"/>
          <p:cNvSpPr txBox="1"/>
          <p:nvPr/>
        </p:nvSpPr>
        <p:spPr>
          <a:xfrm>
            <a:off x="8744407" y="4032504"/>
            <a:ext cx="3337560" cy="457200"/>
          </a:xfrm>
          <a:prstGeom prst="rect">
            <a:avLst/>
          </a:prstGeom>
          <a:noFill/>
        </p:spPr>
        <p:txBody>
          <a:bodyPr wrap="square" lIns="0" rIns="0" tIns="0" bIns="0" anchor="t">
            <a:spAutoFit/>
          </a:bodyPr>
          <a:lstStyle/>
          <a:p>
            <a:pPr algn="ctr">
              <a:spcBef>
                <a:spcPts val="0"/>
              </a:spcBef>
              <a:spcAft>
                <a:spcPts val="200"/>
              </a:spcAft>
            </a:pPr>
            <a:r>
              <a:rPr sz="1700" b="1" i="0">
                <a:solidFill>
                  <a:srgbClr val="4FD6A8"/>
                </a:solidFill>
                <a:latin typeface="Segoe UI"/>
                <a:ea typeface="Segoe UI"/>
                <a:cs typeface="Segoe UI"/>
              </a:rPr>
              <a:t>abukawser.xyz</a:t>
            </a:r>
          </a:p>
          <a:p>
            <a:pPr algn="ctr">
              <a:spcBef>
                <a:spcPts val="0"/>
              </a:spcBef>
              <a:spcAft>
                <a:spcPts val="0"/>
              </a:spcAft>
            </a:pPr>
            <a:r>
              <a:rPr sz="1050" b="0" i="0">
                <a:solidFill>
                  <a:srgbClr val="93A6BA"/>
                </a:solidFill>
                <a:latin typeface="Segoe UI"/>
                <a:ea typeface="Segoe UI"/>
                <a:cs typeface="Segoe UI"/>
              </a:rPr>
              <a:t>no login · no install · works on a phone</a:t>
            </a:r>
          </a:p>
        </p:txBody>
      </p:sp>
      <p:pic>
        <p:nvPicPr>
          <p:cNvPr id="11" name="Picture 10" descr="aponjon.png"/>
          <p:cNvPicPr>
            <a:picLocks noChangeAspect="1"/>
          </p:cNvPicPr>
          <p:nvPr/>
        </p:nvPicPr>
        <p:blipFill>
          <a:blip r:embed="rId3"/>
          <a:stretch>
            <a:fillRect/>
          </a:stretch>
        </p:blipFill>
        <p:spPr>
          <a:xfrm>
            <a:off x="658368" y="2606040"/>
            <a:ext cx="1101045" cy="2103120"/>
          </a:xfrm>
          <a:prstGeom prst="rect">
            <a:avLst/>
          </a:prstGeom>
        </p:spPr>
      </p:pic>
      <p:sp>
        <p:nvSpPr>
          <p:cNvPr id="12" name="TextBox 11"/>
          <p:cNvSpPr txBox="1"/>
          <p:nvPr/>
        </p:nvSpPr>
        <p:spPr>
          <a:xfrm>
            <a:off x="521207" y="4800600"/>
            <a:ext cx="1466805" cy="566928"/>
          </a:xfrm>
          <a:prstGeom prst="rect">
            <a:avLst/>
          </a:prstGeom>
          <a:noFill/>
        </p:spPr>
        <p:txBody>
          <a:bodyPr wrap="square" lIns="0" rIns="0" tIns="0" bIns="0" anchor="t">
            <a:spAutoFit/>
          </a:bodyPr>
          <a:lstStyle/>
          <a:p>
            <a:pPr algn="ctr">
              <a:spcBef>
                <a:spcPts val="0"/>
              </a:spcBef>
              <a:spcAft>
                <a:spcPts val="200"/>
              </a:spcAft>
            </a:pPr>
            <a:r>
              <a:rPr sz="1300" b="1" i="0">
                <a:solidFill>
                  <a:srgbClr val="F5B53F"/>
                </a:solidFill>
                <a:latin typeface="Nirmala UI"/>
                <a:ea typeface="Nirmala UI"/>
                <a:cs typeface="Nirmala UI"/>
              </a:rPr>
              <a:t>আপনজন</a:t>
            </a:r>
          </a:p>
          <a:p>
            <a:pPr algn="ctr">
              <a:lnSpc>
                <a:spcPct val="110000"/>
              </a:lnSpc>
              <a:spcBef>
                <a:spcPts val="0"/>
              </a:spcBef>
              <a:spcAft>
                <a:spcPts val="0"/>
              </a:spcAft>
            </a:pPr>
            <a:r>
              <a:rPr sz="1000" b="0" i="0">
                <a:solidFill>
                  <a:srgbClr val="93A6BA"/>
                </a:solidFill>
                <a:latin typeface="Segoe UI"/>
                <a:ea typeface="Segoe UI"/>
                <a:cs typeface="Segoe UI"/>
              </a:rPr>
              <a:t>the family circle, set up by QR</a:t>
            </a:r>
          </a:p>
        </p:txBody>
      </p:sp>
      <p:pic>
        <p:nvPicPr>
          <p:cNvPr id="13" name="Picture 12" descr="agent.png"/>
          <p:cNvPicPr>
            <a:picLocks noChangeAspect="1"/>
          </p:cNvPicPr>
          <p:nvPr/>
        </p:nvPicPr>
        <p:blipFill>
          <a:blip r:embed="rId4"/>
          <a:stretch>
            <a:fillRect/>
          </a:stretch>
        </p:blipFill>
        <p:spPr>
          <a:xfrm>
            <a:off x="2216613" y="2606040"/>
            <a:ext cx="987745" cy="2103120"/>
          </a:xfrm>
          <a:prstGeom prst="rect">
            <a:avLst/>
          </a:prstGeom>
        </p:spPr>
      </p:pic>
      <p:sp>
        <p:nvSpPr>
          <p:cNvPr id="14" name="TextBox 13"/>
          <p:cNvSpPr txBox="1"/>
          <p:nvPr/>
        </p:nvSpPr>
        <p:spPr>
          <a:xfrm>
            <a:off x="2079453" y="4800600"/>
            <a:ext cx="1353505" cy="566928"/>
          </a:xfrm>
          <a:prstGeom prst="rect">
            <a:avLst/>
          </a:prstGeom>
          <a:noFill/>
        </p:spPr>
        <p:txBody>
          <a:bodyPr wrap="square" lIns="0" rIns="0" tIns="0" bIns="0" anchor="t">
            <a:spAutoFit/>
          </a:bodyPr>
          <a:lstStyle/>
          <a:p>
            <a:pPr algn="ctr">
              <a:spcBef>
                <a:spcPts val="0"/>
              </a:spcBef>
              <a:spcAft>
                <a:spcPts val="200"/>
              </a:spcAft>
            </a:pPr>
            <a:r>
              <a:rPr sz="1300" b="1" i="0">
                <a:solidFill>
                  <a:srgbClr val="F5B53F"/>
                </a:solidFill>
                <a:latin typeface="Nirmala UI"/>
                <a:ea typeface="Nirmala UI"/>
                <a:cs typeface="Nirmala UI"/>
              </a:rPr>
              <a:t>এজেন্ট</a:t>
            </a:r>
          </a:p>
          <a:p>
            <a:pPr algn="ctr">
              <a:lnSpc>
                <a:spcPct val="110000"/>
              </a:lnSpc>
              <a:spcBef>
                <a:spcPts val="0"/>
              </a:spcBef>
              <a:spcAft>
                <a:spcPts val="0"/>
              </a:spcAft>
            </a:pPr>
            <a:r>
              <a:rPr sz="1000" b="0" i="0">
                <a:solidFill>
                  <a:srgbClr val="93A6BA"/>
                </a:solidFill>
                <a:latin typeface="Segoe UI"/>
                <a:ea typeface="Segoe UI"/>
                <a:cs typeface="Segoe UI"/>
              </a:rPr>
              <a:t>the shopkeeper gets one question</a:t>
            </a:r>
          </a:p>
        </p:txBody>
      </p:sp>
      <p:pic>
        <p:nvPicPr>
          <p:cNvPr id="15" name="Picture 14" descr="after.png"/>
          <p:cNvPicPr>
            <a:picLocks noChangeAspect="1"/>
          </p:cNvPicPr>
          <p:nvPr/>
        </p:nvPicPr>
        <p:blipFill>
          <a:blip r:embed="rId5"/>
          <a:stretch>
            <a:fillRect/>
          </a:stretch>
        </p:blipFill>
        <p:spPr>
          <a:xfrm>
            <a:off x="3661558" y="2606040"/>
            <a:ext cx="1101045" cy="2103120"/>
          </a:xfrm>
          <a:prstGeom prst="rect">
            <a:avLst/>
          </a:prstGeom>
        </p:spPr>
      </p:pic>
      <p:sp>
        <p:nvSpPr>
          <p:cNvPr id="16" name="TextBox 15"/>
          <p:cNvSpPr txBox="1"/>
          <p:nvPr/>
        </p:nvSpPr>
        <p:spPr>
          <a:xfrm>
            <a:off x="3524398" y="4800600"/>
            <a:ext cx="1466805" cy="566928"/>
          </a:xfrm>
          <a:prstGeom prst="rect">
            <a:avLst/>
          </a:prstGeom>
          <a:noFill/>
        </p:spPr>
        <p:txBody>
          <a:bodyPr wrap="square" lIns="0" rIns="0" tIns="0" bIns="0" anchor="t">
            <a:spAutoFit/>
          </a:bodyPr>
          <a:lstStyle/>
          <a:p>
            <a:pPr algn="ctr">
              <a:spcBef>
                <a:spcPts val="0"/>
              </a:spcBef>
              <a:spcAft>
                <a:spcPts val="200"/>
              </a:spcAft>
            </a:pPr>
            <a:r>
              <a:rPr sz="1300" b="1" i="0">
                <a:solidFill>
                  <a:srgbClr val="F5B53F"/>
                </a:solidFill>
                <a:latin typeface="Nirmala UI"/>
                <a:ea typeface="Nirmala UI"/>
                <a:cs typeface="Nirmala UI"/>
              </a:rPr>
              <a:t>রিপোর্ট</a:t>
            </a:r>
          </a:p>
          <a:p>
            <a:pPr algn="ctr">
              <a:lnSpc>
                <a:spcPct val="110000"/>
              </a:lnSpc>
              <a:spcBef>
                <a:spcPts val="0"/>
              </a:spcBef>
              <a:spcAft>
                <a:spcPts val="0"/>
              </a:spcAft>
            </a:pPr>
            <a:r>
              <a:rPr sz="1000" b="0" i="0">
                <a:solidFill>
                  <a:srgbClr val="93A6BA"/>
                </a:solidFill>
                <a:latin typeface="Segoe UI"/>
                <a:ea typeface="Segoe UI"/>
                <a:cs typeface="Segoe UI"/>
              </a:rPr>
              <a:t>spoken story → a filed complaint</a:t>
            </a:r>
          </a:p>
        </p:txBody>
      </p:sp>
      <p:sp>
        <p:nvSpPr>
          <p:cNvPr id="17" name="TextBox 16"/>
          <p:cNvSpPr txBox="1"/>
          <p:nvPr/>
        </p:nvSpPr>
        <p:spPr>
          <a:xfrm>
            <a:off x="5494123" y="2651760"/>
            <a:ext cx="3146956" cy="2651760"/>
          </a:xfrm>
          <a:prstGeom prst="rect">
            <a:avLst/>
          </a:prstGeom>
          <a:noFill/>
        </p:spPr>
        <p:txBody>
          <a:bodyPr wrap="square" lIns="0" rIns="0" tIns="0" bIns="0" anchor="t">
            <a:spAutoFit/>
          </a:bodyPr>
          <a:lstStyle/>
          <a:p>
            <a:pPr algn="l">
              <a:spcBef>
                <a:spcPts val="0"/>
              </a:spcBef>
              <a:spcAft>
                <a:spcPts val="800"/>
              </a:spcAft>
            </a:pPr>
            <a:r>
              <a:rPr sz="1600" b="1" i="0">
                <a:solidFill>
                  <a:srgbClr val="EEF3F8"/>
                </a:solidFill>
                <a:latin typeface="Segoe UI"/>
                <a:ea typeface="Segoe UI"/>
                <a:cs typeface="Segoe UI"/>
              </a:rPr>
              <a:t>Nine screens, the whole journey.</a:t>
            </a:r>
          </a:p>
          <a:p>
            <a:pPr algn="l">
              <a:lnSpc>
                <a:spcPct val="122000"/>
              </a:lnSpc>
              <a:spcBef>
                <a:spcPts val="0"/>
              </a:spcBef>
              <a:spcAft>
                <a:spcPts val="800"/>
              </a:spcAft>
            </a:pPr>
            <a:r>
              <a:rPr sz="1250" b="0" i="0">
                <a:solidFill>
                  <a:srgbClr val="93A6BA"/>
                </a:solidFill>
                <a:latin typeface="Segoe UI"/>
                <a:ea typeface="Segoe UI"/>
                <a:cs typeface="Segoe UI"/>
              </a:rPr>
              <a:t>On the site, press </a:t>
            </a:r>
            <a:r>
              <a:rPr sz="1250" b="1" i="0">
                <a:solidFill>
                  <a:srgbClr val="EEF3F8"/>
                </a:solidFill>
                <a:latin typeface="Segoe UI"/>
                <a:ea typeface="Segoe UI"/>
                <a:cs typeface="Segoe UI"/>
              </a:rPr>
              <a:t>▶ Play the story</a:t>
            </a:r>
            <a:r>
              <a:rPr sz="1250" b="0" i="0">
                <a:solidFill>
                  <a:srgbClr val="93A6BA"/>
                </a:solidFill>
                <a:latin typeface="Segoe UI"/>
                <a:ea typeface="Segoe UI"/>
                <a:cs typeface="Segoe UI"/>
              </a:rPr>
              <a:t> — it runs end to end in under a minute.</a:t>
            </a:r>
          </a:p>
          <a:p>
            <a:pPr algn="l">
              <a:lnSpc>
                <a:spcPct val="122000"/>
              </a:lnSpc>
              <a:spcBef>
                <a:spcPts val="0"/>
              </a:spcBef>
              <a:spcAft>
                <a:spcPts val="0"/>
              </a:spcAft>
            </a:pPr>
            <a:r>
              <a:rPr sz="1250" b="0" i="0">
                <a:solidFill>
                  <a:srgbClr val="93A6BA"/>
                </a:solidFill>
                <a:latin typeface="Segoe UI"/>
                <a:ea typeface="Segoe UI"/>
                <a:cs typeface="Segoe UI"/>
              </a:rPr>
              <a:t>Then open </a:t>
            </a:r>
            <a:r>
              <a:rPr sz="1250" b="1" i="0">
                <a:solidFill>
                  <a:srgbClr val="EEF3F8"/>
                </a:solidFill>
                <a:latin typeface="Nirmala UI"/>
                <a:ea typeface="Nirmala UI"/>
                <a:cs typeface="Nirmala UI"/>
              </a:rPr>
              <a:t>নিজে যাচাই</a:t>
            </a:r>
            <a:r>
              <a:rPr sz="1250" b="0" i="0">
                <a:solidFill>
                  <a:srgbClr val="93A6BA"/>
                </a:solidFill>
                <a:latin typeface="Segoe UI"/>
                <a:ea typeface="Segoe UI"/>
                <a:cs typeface="Segoe UI"/>
              </a:rPr>
              <a:t> and type any scam line you were ever sent, in Bangla or Banglish. Two classifiers answer: the on-device one — no network needed, and what ships first — and a hosted one behind Live agent.</a:t>
            </a:r>
          </a:p>
        </p:txBody>
      </p:sp>
      <p:sp>
        <p:nvSpPr>
          <p:cNvPr id="18" name="TextBox 17"/>
          <p:cNvSpPr txBox="1"/>
          <p:nvPr/>
        </p:nvSpPr>
        <p:spPr>
          <a:xfrm>
            <a:off x="658368" y="5504688"/>
            <a:ext cx="10874959" cy="384048"/>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5B53F"/>
                </a:solidFill>
                <a:latin typeface="Segoe UI"/>
                <a:ea typeface="Segoe UI"/>
                <a:cs typeface="Segoe UI"/>
              </a:rPr>
              <a:t>Nothing in the classifier is a mock — type into it. Number reputations and radar records are demo data, and the page says so on every screen.</a:t>
            </a:r>
          </a:p>
        </p:txBody>
      </p:sp>
      <p:sp>
        <p:nvSpPr>
          <p:cNvPr id="19" name="TextBox 18"/>
          <p:cNvSpPr txBox="1"/>
          <p:nvPr/>
        </p:nvSpPr>
        <p:spPr>
          <a:xfrm>
            <a:off x="658368" y="5943600"/>
            <a:ext cx="10874959" cy="274320"/>
          </a:xfrm>
          <a:prstGeom prst="rect">
            <a:avLst/>
          </a:prstGeom>
          <a:noFill/>
        </p:spPr>
        <p:txBody>
          <a:bodyPr wrap="square" lIns="0" rIns="0" tIns="0" bIns="0" anchor="t">
            <a:spAutoFit/>
          </a:bodyPr>
          <a:lstStyle/>
          <a:p>
            <a:pPr algn="l">
              <a:spcBef>
                <a:spcPts val="0"/>
              </a:spcBef>
              <a:spcAft>
                <a:spcPts val="0"/>
              </a:spcAft>
            </a:pPr>
            <a:r>
              <a:rPr sz="950" b="0" i="0">
                <a:solidFill>
                  <a:srgbClr val="93A6BA"/>
                </a:solidFill>
                <a:latin typeface="Segoe UI"/>
                <a:ea typeface="Segoe UI"/>
                <a:cs typeface="Segoe UI"/>
              </a:rPr>
              <a:t>if the venue network cannot resolve the domain: shotorko-ai.vercel.app  ·  no network at all: shotorko-demo-8604o4z09al.qoder.website (same prototype, on-device engine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Shotorko (সতর্ক) — GP FutureMakers 2026 Concept Pitch</dc:title>
  <dc:subject/>
  <dc:creator>Shotorko</dc:creator>
  <cp:keywords/>
  <dc:description>Every screenshot is captured from the deployed prototype at https://abukawser.xyz. Speaker notes carry the timing, the criterion each slide scores and the Q&amp;A answer to reach for.</dc:description>
  <cp:lastModifiedBy>Steve Canny</cp:lastModifiedBy>
  <cp:revision>1</cp:revision>
  <dcterms:created xsi:type="dcterms:W3CDTF">2013-01-27T09:14:16Z</dcterms:created>
  <dcterms:modified xsi:type="dcterms:W3CDTF">2013-01-27T09:15:58Z</dcterms:modified>
  <cp:category/>
</cp:coreProperties>
</file>