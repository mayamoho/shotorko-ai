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Shotorko means *be alert*. One sentence: a phone scam only works for about ninety seconds, and this is built to win those ninety seconds on the cheapest phone in the room. Everything you will see screenshotted in this deck is a real capture of a working prototype, and you can open it yourself at the end.</a:t>
            </a:r>
          </a:p>
          <a:p/>
          <a:p>
            <a:r>
              <a:t>— Scoring: Clarity — the whole promise in three words, and the prototype named on the first screen</a:t>
            </a:r>
          </a:p>
          <a:p>
            <a:r>
              <a:t>— If asked: Q&amp;A 11 — isn't this a feature? The loop is the product, not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ignorance — timing. The scam is not a knowledge problem; the victim is not stupid. Fear, urgency and a demand for secrecy arrive together, and that combination shuts down the part of the brain that checks. Look at the clock on the right: three minutes from the first sentence to the money leaving, and two days until the number is dead. Nobody — not the bank, not the family, not the network — is in that three minutes. That window is the product.</a:t>
            </a:r>
          </a:p>
          <a:p/>
          <a:p>
            <a:r>
              <a:t>— Scoring: Depth of problem understanding — the mechanism of the scam — fear, urgency and silence arriving together — not the fact that scams exist</a:t>
            </a:r>
          </a:p>
          <a:p>
            <a:r>
              <a:t>— If asked: Q&amp;A 13 — Google and Samsung already do this: they need the right handset and a supported language.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is a real control, and each has a specific reason it misses this case. The important asymmetry: the bank sees a transaction and the operator sees a call, and nobody sees the moment a person is being frightened into pressing buttons. And note the last row — the handset most exposed is the one no app can protect, which is why an app company cannot solve this and an operator can.</a:t>
            </a:r>
          </a:p>
          <a:p/>
          <a:p>
            <a:r>
              <a:t>— Scoring: Depth of problem understanding &amp; differentiation — knowing exactly why each existing control misses this case</a:t>
            </a:r>
          </a:p>
          <a:p>
            <a:r>
              <a:t>— If asked: Q&amp;A 6 — can you really inject before the ring? An operator capability, with an honest weaker fallback.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surface we are selling into, and it is published, not estimated. Bangladesh Bank recorded 1.03 billion mobile-financial-services transactions worth 2.17 trillion taka in July alone, on 258.7 million accounts — and more than half of those accounts are rural. BTRC counts 191 million mobile subscribers, 87.2 million of them Grameenphone. The business line at the bottom is the one to remember: the person who loses the money is not the person who buys the protection. Grameenphone buys it because 182.7 billion taka of e-money float is trust, and trust is the product.</a:t>
            </a:r>
          </a:p>
          <a:p/>
          <a:p>
            <a:r>
              <a:t>— Scoring: Impact &amp; market understanding — the measured size of the money that moves digitally, from primary sources</a:t>
            </a:r>
          </a:p>
          <a:p>
            <a:r>
              <a:t>— If asked: Q&amp;A 14 — how big is this really: Appendix A1 for the denominators, A2 for the attach-rate ladder.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continuous defence, four moments. Before the call, one Bangla sentence plays in the network before the phone rings — no app, no install, no smartphone. During the call, the handset understands intent and nothing is recorded. At the moment money or a code is about to move, the pause. And after, a spoken Bangla story becomes a complaint that can actually be filed, which feeds a radar that clusters numbers into the networks behind them. Two of those four need no software on the handset at all — that is the reach argument, and it is the reason the pilot can protect a button phone on day one.</a:t>
            </a:r>
          </a:p>
          <a:p/>
          <a:p>
            <a:r>
              <a:t>— Scoring: Solution strength — four moments of one continuous defence, two of which need no handset at all</a:t>
            </a:r>
          </a:p>
          <a:p>
            <a:r>
              <a:t>— If asked: Q&amp;A 5 — what does the model see? Nothing is stored; opt out of call listening and two layers still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screen, and it is a live capture — that call scored risk 100 out of 100 on the on-device engine and was labelled fake police. Notice what it does not do. It does not block the call. It does not claim you are being scammed, because we may be wrong. It asks one question a frightened person can answer honestly, and offers three exits: verify, call family, or send it anyway — and *anyway* is honoured, and it still teaches the model. On a feature phone the same pause is a voice prompt with two keys. Warn, never block, because a wrong warning costs one screen and a right one keeps 30,000 taka. On the on-device engine this call scored risk 100/100 and was labelled ভুয়া পুলিশ / মামলা.</a:t>
            </a:r>
          </a:p>
          <a:p/>
          <a:p>
            <a:r>
              <a:t>— Scoring: Solution strength &amp; clarity — the intervention itself, and the restraint inside it</a:t>
            </a:r>
          </a:p>
          <a:p>
            <a:r>
              <a:t>— If asked: Q&amp;A 2 — false positives: three gates, and warn-never-block means a wrong answer costs one screen.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claim you should test: the classifier does not look for the word OTP. It looks for pressure — authority claimed, a child in trouble, urgency, a demand for silence — and then an ask. Any one of those is normal conversation; the combination is the signature, and rewording does not escape it because the signals are semantic. Two gates sit on top: the situation multiplies the score, and nothing fires without an actual ask. I measured rather than hoped — ten ordinary sentences in friendly context produce zero pauses; five reworded scam scripts produce four. The reason it must run on the handset is not only privacy: 68 million subscribers are not on 4G, and a rural handset cannot round-trip to a cloud model inside a three-minute window. Any one of those eight signals is normal conversation; the combination is the signature. The hosted model carries only the generative part — a spoken story into a filed complaint — and never decides the interruption alone.</a:t>
            </a:r>
          </a:p>
          <a:p/>
          <a:p>
            <a:r>
              <a:t>— Scoring: AI application &amp; technical rationale — semantic signals over a word list, and why they must run on the handset</a:t>
            </a:r>
          </a:p>
          <a:p>
            <a:r>
              <a:t>— If asked: Q&amp;A 3 — a scoring function, not a neural net: the contract is the design work, the corpus is the 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subscriber pays 20 taka a month, Grameenphone bills it as an ordinary value-added pack, and we supply the model, the engine and the report standard. Year one at one percent attach on GP's base is 209 million taka — small money for an operator, which is honest, and the bigger line is cost avoided: fraud refunds, contact-centre minutes, and the churn that follows a publicised loss in a wallet holding 182.7 billion taka of float. One percent is not a hope: Truecaller converts 0.75 percent of its free base into paid subscribers, and Verizon sells the weaker version of this product — caller blocking — at four dollars a month. Our margin is structural: inference runs on the handset, so serving a warning costs no cloud call.</a:t>
            </a:r>
          </a:p>
          <a:p/>
          <a:p>
            <a:r>
              <a:t>— Scoring: Feasibility, scalability &amp; business sense — who pays, what they pay for, and evidence that people pay for this</a:t>
            </a:r>
          </a:p>
          <a:p>
            <a:r>
              <a:t>— If asked: Q&amp;A 15 — will anyone pay for safety: Truecaller's measured 0.75% conversion, and Verizon's price 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sizing is arithmetic you can redo on a napkin: 191 million subscribers at 20 taka a month is 45.9 billion taka, GP's own base is 20.9 billion, and a one percent attach is 209 million in year one. I want to be explicit that the price and the attach rate are our assumptions — no Bangladeshi willingness-to-pay survey covers this category, and I will not pretend one does. The sequencing matters more than the number: phase one is the pre-call network warning, because it needs no handset software, no upgrade and no app store, so it reaches all 87 million subscribers on the day it switches on.</a:t>
            </a:r>
          </a:p>
          <a:p/>
          <a:p>
            <a:r>
              <a:t>— Scoring: Market analysis &amp; scalability — sizing a judge can redo on a napkin, and a go-to-market that is sequenced</a:t>
            </a:r>
          </a:p>
          <a:p>
            <a:r>
              <a:t>— If asked: Q&amp;A 18 and 19 — the growth path past Grameenphone, and the national fraud-loss figure we refuse to invent.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change: the money stays with the person least able to lose it, a victim's spoken story becomes a filed record instead of a family argument, and trust in digital finance stays inside Grameenphone. To find out whether that is real I need four things — the fraud cell's recordings, one announcement slot, one USSD gating test, and a district for ninety days. Everything you saw screenshotted is live on this address right now. The on-device engine answers with no network at all, and flip to Live agent to watch the same sentence judged by a hosted model. Thank you.</a:t>
            </a:r>
          </a:p>
          <a:p/>
          <a:p>
            <a:r>
              <a:t>— Scoring: Clarity &amp; impact — the claim, the ask and the proof are all on one page the judges can open</a:t>
            </a:r>
          </a:p>
          <a:p>
            <a:r>
              <a:t>— If asked: Q&amp;A 23 — what would make us stop: if four weeks of real speech can't hold the false-positive rate, the pause is dropped and the network layer ships alone.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 number is challenged] Two primary sources carry every market number in this deck: Bangladesh Bank's MFS statistics for July 2026, and BTRC's subscriber and penetration tables for August 2026. The behavioural benchmarks are Truecaller's published subscriber count and conversion rate, and Verizon's published price. The FTC figure is there to show the category, not the market — it is American. Anything marked calculated is arithmetic on those tables, and the price and attach rate are ours, which is the first thing I would want tested in a pilot.</a:t>
            </a:r>
          </a:p>
          <a:p/>
          <a:p>
            <a:r>
              <a:t>— Scoring: Credibility — every number traces to a named publication and date, and the gaps are stated out loud</a:t>
            </a:r>
          </a:p>
          <a:p>
            <a:r>
              <a:t>— If asked: Any number a judge challenges — name the publication, the month, and what is calculated rather than published.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revenue case is linear in attach rate, so the only assumption worth arguing about is that rate: half a percent is 105 million taka, three percent is 628 million. Cost does not scale with it, because the classifier is inference the handset already pays for; the cloud is only in the complaint letter, which the user starts. That is why the margin survives a hundredfold in volume — the thing that breaks at scale is trust in the alert, not the infrastructure.</a:t>
            </a:r>
          </a:p>
          <a:p/>
          <a:p>
            <a:r>
              <a:t>— Scoring: Feasibility &amp; business sense — the sensitivity of the revenue case, and the cost structure behind the margin</a:t>
            </a:r>
          </a:p>
          <a:p>
            <a:r>
              <a:t>— If asked: Q&amp;A 8, 16 and 17 — cost to serve, the price point, and why the on-device engine is a margin argument as well as a coverage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not presented] This page is the answer sheet. The rule for the three minutes: the direct answer first, then the honest limit, then what would change the answer. Never quote the demo dashboard as if it were a field trial, and never quote the hosted battery while Google's free quota is throttling — the on-device numbers are the ones on the slide because they are the ones that re-run identically anywhere.</a:t>
            </a:r>
          </a:p>
          <a:p/>
          <a:p>
            <a:r>
              <a:t>— Scoring: Q&amp;A handling — the market questions taken in advance, answered in one line each</a:t>
            </a:r>
          </a:p>
          <a:p>
            <a:r>
              <a:t>— If asked: This slide is the Q&amp;A sheet itself; the full bank is in pitch/deck-and-qa.md.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9397751" y="566928"/>
            <a:ext cx="2373319" cy="5705856"/>
          </a:xfrm>
          <a:prstGeom prst="roundRect">
            <a:avLst>
              <a:gd name="adj" fmla="val 7000"/>
            </a:avLst>
          </a:prstGeom>
          <a:noFill/>
          <a:ln w="12700">
            <a:solidFill>
              <a:srgbClr val="2B3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ome.png"/>
          <p:cNvPicPr>
            <a:picLocks noChangeAspect="1"/>
          </p:cNvPicPr>
          <p:nvPr/>
        </p:nvPicPr>
        <p:blipFill>
          <a:blip r:embed="rId2"/>
          <a:stretch>
            <a:fillRect/>
          </a:stretch>
        </p:blipFill>
        <p:spPr>
          <a:xfrm>
            <a:off x="9635495" y="713232"/>
            <a:ext cx="1897831" cy="5394960"/>
          </a:xfrm>
          <a:prstGeom prst="rect">
            <a:avLst/>
          </a:prstGeom>
        </p:spPr>
      </p:pic>
      <p:sp>
        <p:nvSpPr>
          <p:cNvPr id="4" name="TextBox 3"/>
          <p:cNvSpPr txBox="1"/>
          <p:nvPr/>
        </p:nvSpPr>
        <p:spPr>
          <a:xfrm>
            <a:off x="658368" y="960120"/>
            <a:ext cx="8410199" cy="4480560"/>
          </a:xfrm>
          <a:prstGeom prst="rect">
            <a:avLst/>
          </a:prstGeom>
          <a:noFill/>
        </p:spPr>
        <p:txBody>
          <a:bodyPr wrap="square" lIns="0" rIns="0" tIns="0" bIns="0" anchor="t">
            <a:spAutoFit/>
          </a:bodyPr>
          <a:lstStyle/>
          <a:p>
            <a:pPr algn="l">
              <a:spcBef>
                <a:spcPts val="0"/>
              </a:spcBef>
              <a:spcAft>
                <a:spcPts val="400"/>
              </a:spcAft>
            </a:pPr>
            <a:r>
              <a:rPr sz="7400" b="1" i="0">
                <a:solidFill>
                  <a:srgbClr val="F5B53F"/>
                </a:solidFill>
                <a:latin typeface="Nirmala UI"/>
                <a:ea typeface="Nirmala UI"/>
                <a:cs typeface="Nirmala UI"/>
              </a:rPr>
              <a:t>সতর্ক</a:t>
            </a:r>
          </a:p>
          <a:p>
            <a:pPr algn="l">
              <a:spcBef>
                <a:spcPts val="0"/>
              </a:spcBef>
              <a:spcAft>
                <a:spcPts val="3000"/>
              </a:spcAft>
            </a:pPr>
            <a:r>
              <a:rPr sz="2700" b="1" i="0">
                <a:solidFill>
                  <a:srgbClr val="EEF3F8"/>
                </a:solidFill>
                <a:latin typeface="Segoe UI"/>
                <a:ea typeface="Segoe UI"/>
                <a:cs typeface="Segoe UI"/>
              </a:rPr>
              <a:t>Shotorko</a:t>
            </a:r>
          </a:p>
          <a:p>
            <a:pPr algn="l">
              <a:lnSpc>
                <a:spcPct val="108000"/>
              </a:lnSpc>
              <a:spcBef>
                <a:spcPts val="0"/>
              </a:spcBef>
              <a:spcAft>
                <a:spcPts val="0"/>
              </a:spcAft>
            </a:pPr>
            <a:r>
              <a:rPr sz="3300" b="1" i="0">
                <a:solidFill>
                  <a:srgbClr val="EEF3F8"/>
                </a:solidFill>
                <a:latin typeface="Segoe UI"/>
                <a:ea typeface="Segoe UI"/>
                <a:cs typeface="Segoe UI"/>
              </a:rPr>
              <a:t>Stop the scam.</a:t>
            </a:r>
          </a:p>
          <a:p>
            <a:pPr algn="l">
              <a:lnSpc>
                <a:spcPct val="108000"/>
              </a:lnSpc>
              <a:spcBef>
                <a:spcPts val="0"/>
              </a:spcBef>
              <a:spcAft>
                <a:spcPts val="2200"/>
              </a:spcAft>
            </a:pPr>
            <a:r>
              <a:rPr sz="3300" b="1" i="0">
                <a:solidFill>
                  <a:srgbClr val="F5B53F"/>
                </a:solidFill>
                <a:latin typeface="Segoe UI"/>
                <a:ea typeface="Segoe UI"/>
                <a:cs typeface="Segoe UI"/>
              </a:rPr>
              <a:t>Not the call.</a:t>
            </a:r>
          </a:p>
          <a:p>
            <a:pPr algn="l">
              <a:lnSpc>
                <a:spcPct val="125000"/>
              </a:lnSpc>
              <a:spcBef>
                <a:spcPts val="0"/>
              </a:spcBef>
              <a:spcAft>
                <a:spcPts val="0"/>
              </a:spcAft>
            </a:pPr>
            <a:r>
              <a:rPr sz="1500" b="0" i="0">
                <a:solidFill>
                  <a:srgbClr val="93A6BA"/>
                </a:solidFill>
                <a:latin typeface="Segoe UI"/>
                <a:ea typeface="Segoe UI"/>
                <a:cs typeface="Segoe UI"/>
              </a:rPr>
              <a:t>Bangla-first voice safety  ·  any phone  ·  no app store</a:t>
            </a:r>
          </a:p>
        </p:txBody>
      </p:sp>
      <p:sp>
        <p:nvSpPr>
          <p:cNvPr id="5" name="TextBox 4"/>
          <p:cNvSpPr txBox="1"/>
          <p:nvPr/>
        </p:nvSpPr>
        <p:spPr>
          <a:xfrm>
            <a:off x="658368" y="5358384"/>
            <a:ext cx="8410199" cy="731520"/>
          </a:xfrm>
          <a:prstGeom prst="rect">
            <a:avLst/>
          </a:prstGeom>
          <a:noFill/>
        </p:spPr>
        <p:txBody>
          <a:bodyPr wrap="square" lIns="0" rIns="0" tIns="0" bIns="0" anchor="t">
            <a:spAutoFit/>
          </a:bodyPr>
          <a:lstStyle/>
          <a:p>
            <a:pPr algn="l">
              <a:spcBef>
                <a:spcPts val="0"/>
              </a:spcBef>
              <a:spcAft>
                <a:spcPts val="600"/>
              </a:spcAft>
            </a:pPr>
            <a:r>
              <a:rPr sz="1250" b="0" i="0">
                <a:solidFill>
                  <a:srgbClr val="EEF3F8"/>
                </a:solidFill>
                <a:latin typeface="Segoe UI"/>
                <a:ea typeface="Segoe UI"/>
                <a:cs typeface="Segoe UI"/>
              </a:rPr>
              <a:t>GP FutureMakers 2026 · Concept Pitch Round</a:t>
            </a:r>
          </a:p>
          <a:p>
            <a:pPr algn="l">
              <a:spcBef>
                <a:spcPts val="0"/>
              </a:spcBef>
              <a:spcAft>
                <a:spcPts val="0"/>
              </a:spcAft>
            </a:pPr>
            <a:r>
              <a:rPr sz="1300" b="1" i="0">
                <a:solidFill>
                  <a:srgbClr val="4FD6A8"/>
                </a:solidFill>
                <a:latin typeface="Segoe UI"/>
                <a:ea typeface="Segoe UI"/>
                <a:cs typeface="Segoe UI"/>
              </a:rPr>
              <a:t>Live prototype · abukawser.xyz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THE PROBLEM</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2 / 10</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3400" b="1" i="0">
                <a:solidFill>
                  <a:srgbClr val="FF4D43"/>
                </a:solidFill>
                <a:latin typeface="Nirmala UI"/>
                <a:ea typeface="Nirmala UI"/>
                <a:cs typeface="Nirmala UI"/>
              </a:rPr>
              <a:t>ভয় · তাড়া · একা</a:t>
            </a:r>
          </a:p>
        </p:txBody>
      </p:sp>
      <p:sp>
        <p:nvSpPr>
          <p:cNvPr id="7" name="TextBox 6"/>
          <p:cNvSpPr txBox="1"/>
          <p:nvPr/>
        </p:nvSpPr>
        <p:spPr>
          <a:xfrm>
            <a:off x="658368" y="2066543"/>
            <a:ext cx="10874959" cy="274320"/>
          </a:xfrm>
          <a:prstGeom prst="rect">
            <a:avLst/>
          </a:prstGeom>
          <a:noFill/>
        </p:spPr>
        <p:txBody>
          <a:bodyPr wrap="square" lIns="0" rIns="0" tIns="0" bIns="0" anchor="t">
            <a:spAutoFit/>
          </a:bodyPr>
          <a:lstStyle/>
          <a:p>
            <a:pPr algn="l">
              <a:spcBef>
                <a:spcPts val="0"/>
              </a:spcBef>
              <a:spcAft>
                <a:spcPts val="0"/>
              </a:spcAft>
            </a:pPr>
            <a:r>
              <a:rPr sz="1400" b="0" i="1">
                <a:solidFill>
                  <a:srgbClr val="93A6BA"/>
                </a:solidFill>
                <a:latin typeface="Segoe UI"/>
                <a:ea typeface="Segoe UI"/>
                <a:cs typeface="Segoe UI"/>
              </a:rPr>
              <a:t>Fear. Urgency. Secrecy.</a:t>
            </a:r>
          </a:p>
        </p:txBody>
      </p:sp>
      <p:sp>
        <p:nvSpPr>
          <p:cNvPr id="8" name="Rectangle 7"/>
          <p:cNvSpPr/>
          <p:nvPr/>
        </p:nvSpPr>
        <p:spPr>
          <a:xfrm>
            <a:off x="658368" y="2697480"/>
            <a:ext cx="64008" cy="1783080"/>
          </a:xfrm>
          <a:prstGeom prst="rect">
            <a:avLst/>
          </a:prstGeom>
          <a:solidFill>
            <a:srgbClr val="FF4D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22376" y="2697480"/>
            <a:ext cx="5513831" cy="1783080"/>
          </a:xfrm>
          <a:prstGeom prst="roundRect">
            <a:avLst>
              <a:gd name="adj" fmla="val 6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889504"/>
            <a:ext cx="4956048" cy="1463040"/>
          </a:xfrm>
          <a:prstGeom prst="rect">
            <a:avLst/>
          </a:prstGeom>
          <a:noFill/>
        </p:spPr>
        <p:txBody>
          <a:bodyPr wrap="square" lIns="0" rIns="0" tIns="0" bIns="0" anchor="t">
            <a:spAutoFit/>
          </a:bodyPr>
          <a:lstStyle/>
          <a:p>
            <a:pPr algn="l">
              <a:lnSpc>
                <a:spcPct val="132000"/>
              </a:lnSpc>
              <a:spcBef>
                <a:spcPts val="0"/>
              </a:spcBef>
              <a:spcAft>
                <a:spcPts val="1000"/>
              </a:spcAft>
            </a:pPr>
            <a:r>
              <a:rPr sz="1700" b="0" i="0">
                <a:solidFill>
                  <a:srgbClr val="EEF3F8"/>
                </a:solidFill>
                <a:latin typeface="Nirmala UI"/>
                <a:ea typeface="Nirmala UI"/>
                <a:cs typeface="Nirmala UI"/>
              </a:rPr>
              <a:t>আমি থানার ওসি। আপনার ছেলেকে ধরা হয়েছে। এখনই ৩০,০০০ টাকা পাঠান। কাউকে বলবেন না।</a:t>
            </a:r>
          </a:p>
          <a:p>
            <a:pPr algn="l">
              <a:spcBef>
                <a:spcPts val="0"/>
              </a:spcBef>
              <a:spcAft>
                <a:spcPts val="0"/>
              </a:spcAft>
            </a:pPr>
            <a:r>
              <a:rPr sz="1150" b="0" i="1">
                <a:solidFill>
                  <a:srgbClr val="93A6BA"/>
                </a:solidFill>
                <a:latin typeface="Segoe UI"/>
                <a:ea typeface="Segoe UI"/>
                <a:cs typeface="Segoe UI"/>
              </a:rPr>
              <a:t>Fake police. Son arrested. Send the money now. Tell no one.</a:t>
            </a:r>
          </a:p>
        </p:txBody>
      </p:sp>
      <p:sp>
        <p:nvSpPr>
          <p:cNvPr id="11" name="TextBox 10"/>
          <p:cNvSpPr txBox="1"/>
          <p:nvPr/>
        </p:nvSpPr>
        <p:spPr>
          <a:xfrm>
            <a:off x="658368" y="4700016"/>
            <a:ext cx="5577840" cy="502920"/>
          </a:xfrm>
          <a:prstGeom prst="rect">
            <a:avLst/>
          </a:prstGeom>
          <a:noFill/>
        </p:spPr>
        <p:txBody>
          <a:bodyPr wrap="square" lIns="0" rIns="0" tIns="0" bIns="0" anchor="t">
            <a:spAutoFit/>
          </a:bodyPr>
          <a:lstStyle/>
          <a:p>
            <a:pPr algn="l">
              <a:spcBef>
                <a:spcPts val="0"/>
              </a:spcBef>
              <a:spcAft>
                <a:spcPts val="400"/>
              </a:spcAft>
            </a:pPr>
            <a:r>
              <a:rPr sz="1350" b="1" i="0">
                <a:solidFill>
                  <a:srgbClr val="F5B53F"/>
                </a:solidFill>
                <a:latin typeface="Segoe UI"/>
                <a:ea typeface="Segoe UI"/>
                <a:cs typeface="Segoe UI"/>
              </a:rPr>
              <a:t>Who absorbs it:</a:t>
            </a:r>
          </a:p>
          <a:p>
            <a:pPr algn="l">
              <a:lnSpc>
                <a:spcPct val="120000"/>
              </a:lnSpc>
              <a:spcBef>
                <a:spcPts val="0"/>
              </a:spcBef>
              <a:spcAft>
                <a:spcPts val="0"/>
              </a:spcAft>
            </a:pPr>
            <a:r>
              <a:rPr sz="1350" b="0" i="0">
                <a:solidFill>
                  <a:srgbClr val="EEF3F8"/>
                </a:solidFill>
                <a:latin typeface="Segoe UI"/>
                <a:ea typeface="Segoe UI"/>
                <a:cs typeface="Segoe UI"/>
              </a:rPr>
              <a:t>older parents in district towns, on the phone they already own</a:t>
            </a:r>
          </a:p>
        </p:txBody>
      </p:sp>
      <p:sp>
        <p:nvSpPr>
          <p:cNvPr id="12" name="TextBox 11"/>
          <p:cNvSpPr txBox="1"/>
          <p:nvPr/>
        </p:nvSpPr>
        <p:spPr>
          <a:xfrm>
            <a:off x="6675120" y="2697480"/>
            <a:ext cx="4858207"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ONE CALL</a:t>
            </a:r>
          </a:p>
        </p:txBody>
      </p:sp>
      <p:sp>
        <p:nvSpPr>
          <p:cNvPr id="13" name="Rectangle 12"/>
          <p:cNvSpPr/>
          <p:nvPr/>
        </p:nvSpPr>
        <p:spPr>
          <a:xfrm>
            <a:off x="6739128" y="3017520"/>
            <a:ext cx="20116" cy="2514600"/>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75120" y="3118103"/>
            <a:ext cx="146304" cy="146304"/>
          </a:xfrm>
          <a:prstGeom prst="roundRect">
            <a:avLst>
              <a:gd name="adj" fmla="val 50000"/>
            </a:avLst>
          </a:prstGeom>
          <a:solidFill>
            <a:srgbClr val="FF4D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3017520"/>
            <a:ext cx="4492447" cy="493776"/>
          </a:xfrm>
          <a:prstGeom prst="rect">
            <a:avLst/>
          </a:prstGeom>
          <a:noFill/>
        </p:spPr>
        <p:txBody>
          <a:bodyPr wrap="square" lIns="0" rIns="0" tIns="0" bIns="0" anchor="t">
            <a:spAutoFit/>
          </a:bodyPr>
          <a:lstStyle/>
          <a:p>
            <a:pPr algn="l">
              <a:spcBef>
                <a:spcPts val="0"/>
              </a:spcBef>
              <a:spcAft>
                <a:spcPts val="100"/>
              </a:spcAft>
            </a:pPr>
            <a:r>
              <a:rPr sz="1150" b="1" i="0">
                <a:solidFill>
                  <a:srgbClr val="FF4D43"/>
                </a:solidFill>
                <a:latin typeface="Segoe UI"/>
                <a:ea typeface="Segoe UI"/>
                <a:cs typeface="Segoe UI"/>
              </a:rPr>
              <a:t>0:00</a:t>
            </a:r>
          </a:p>
          <a:p>
            <a:pPr algn="l">
              <a:spcBef>
                <a:spcPts val="0"/>
              </a:spcBef>
              <a:spcAft>
                <a:spcPts val="0"/>
              </a:spcAft>
            </a:pPr>
            <a:r>
              <a:rPr sz="1800" b="1" i="0">
                <a:solidFill>
                  <a:srgbClr val="EEF3F8"/>
                </a:solidFill>
                <a:latin typeface="Nirmala UI"/>
                <a:ea typeface="Nirmala UI"/>
                <a:cs typeface="Nirmala UI"/>
              </a:rPr>
              <a:t>ভয়   </a:t>
            </a:r>
            <a:r>
              <a:rPr sz="1150" b="0" i="1">
                <a:solidFill>
                  <a:srgbClr val="93A6BA"/>
                </a:solidFill>
                <a:latin typeface="Segoe UI"/>
                <a:ea typeface="Segoe UI"/>
                <a:cs typeface="Segoe UI"/>
              </a:rPr>
              <a:t>fear</a:t>
            </a:r>
          </a:p>
        </p:txBody>
      </p:sp>
      <p:sp>
        <p:nvSpPr>
          <p:cNvPr id="16" name="Rounded Rectangle 15"/>
          <p:cNvSpPr/>
          <p:nvPr/>
        </p:nvSpPr>
        <p:spPr>
          <a:xfrm>
            <a:off x="6675120" y="3630168"/>
            <a:ext cx="146304" cy="146304"/>
          </a:xfrm>
          <a:prstGeom prst="roundRect">
            <a:avLst>
              <a:gd name="adj" fmla="val 50000"/>
            </a:avLst>
          </a:prstGeom>
          <a:solidFill>
            <a:srgbClr val="FF4D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3529584"/>
            <a:ext cx="4492447" cy="493776"/>
          </a:xfrm>
          <a:prstGeom prst="rect">
            <a:avLst/>
          </a:prstGeom>
          <a:noFill/>
        </p:spPr>
        <p:txBody>
          <a:bodyPr wrap="square" lIns="0" rIns="0" tIns="0" bIns="0" anchor="t">
            <a:spAutoFit/>
          </a:bodyPr>
          <a:lstStyle/>
          <a:p>
            <a:pPr algn="l">
              <a:spcBef>
                <a:spcPts val="0"/>
              </a:spcBef>
              <a:spcAft>
                <a:spcPts val="100"/>
              </a:spcAft>
            </a:pPr>
            <a:r>
              <a:rPr sz="1150" b="1" i="0">
                <a:solidFill>
                  <a:srgbClr val="FF4D43"/>
                </a:solidFill>
                <a:latin typeface="Segoe UI"/>
                <a:ea typeface="Segoe UI"/>
                <a:cs typeface="Segoe UI"/>
              </a:rPr>
              <a:t>0:20</a:t>
            </a:r>
          </a:p>
          <a:p>
            <a:pPr algn="l">
              <a:spcBef>
                <a:spcPts val="0"/>
              </a:spcBef>
              <a:spcAft>
                <a:spcPts val="0"/>
              </a:spcAft>
            </a:pPr>
            <a:r>
              <a:rPr sz="1800" b="1" i="0">
                <a:solidFill>
                  <a:srgbClr val="EEF3F8"/>
                </a:solidFill>
                <a:latin typeface="Nirmala UI"/>
                <a:ea typeface="Nirmala UI"/>
                <a:cs typeface="Nirmala UI"/>
              </a:rPr>
              <a:t>তাড়া   </a:t>
            </a:r>
            <a:r>
              <a:rPr sz="1150" b="0" i="1">
                <a:solidFill>
                  <a:srgbClr val="93A6BA"/>
                </a:solidFill>
                <a:latin typeface="Segoe UI"/>
                <a:ea typeface="Segoe UI"/>
                <a:cs typeface="Segoe UI"/>
              </a:rPr>
              <a:t>rush</a:t>
            </a:r>
          </a:p>
        </p:txBody>
      </p:sp>
      <p:sp>
        <p:nvSpPr>
          <p:cNvPr id="18" name="Rounded Rectangle 17"/>
          <p:cNvSpPr/>
          <p:nvPr/>
        </p:nvSpPr>
        <p:spPr>
          <a:xfrm>
            <a:off x="6675120" y="4142232"/>
            <a:ext cx="146304" cy="146304"/>
          </a:xfrm>
          <a:prstGeom prst="roundRect">
            <a:avLst>
              <a:gd name="adj" fmla="val 50000"/>
            </a:avLst>
          </a:prstGeom>
          <a:solidFill>
            <a:srgbClr val="FF4D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4041648"/>
            <a:ext cx="4492447" cy="493776"/>
          </a:xfrm>
          <a:prstGeom prst="rect">
            <a:avLst/>
          </a:prstGeom>
          <a:noFill/>
        </p:spPr>
        <p:txBody>
          <a:bodyPr wrap="square" lIns="0" rIns="0" tIns="0" bIns="0" anchor="t">
            <a:spAutoFit/>
          </a:bodyPr>
          <a:lstStyle/>
          <a:p>
            <a:pPr algn="l">
              <a:spcBef>
                <a:spcPts val="0"/>
              </a:spcBef>
              <a:spcAft>
                <a:spcPts val="100"/>
              </a:spcAft>
            </a:pPr>
            <a:r>
              <a:rPr sz="1150" b="1" i="0">
                <a:solidFill>
                  <a:srgbClr val="FF4D43"/>
                </a:solidFill>
                <a:latin typeface="Segoe UI"/>
                <a:ea typeface="Segoe UI"/>
                <a:cs typeface="Segoe UI"/>
              </a:rPr>
              <a:t>1:10</a:t>
            </a:r>
          </a:p>
          <a:p>
            <a:pPr algn="l">
              <a:spcBef>
                <a:spcPts val="0"/>
              </a:spcBef>
              <a:spcAft>
                <a:spcPts val="0"/>
              </a:spcAft>
            </a:pPr>
            <a:r>
              <a:rPr sz="1800" b="1" i="0">
                <a:solidFill>
                  <a:srgbClr val="EEF3F8"/>
                </a:solidFill>
                <a:latin typeface="Nirmala UI"/>
                <a:ea typeface="Nirmala UI"/>
                <a:cs typeface="Nirmala UI"/>
              </a:rPr>
              <a:t>একা   </a:t>
            </a:r>
            <a:r>
              <a:rPr sz="1150" b="0" i="1">
                <a:solidFill>
                  <a:srgbClr val="93A6BA"/>
                </a:solidFill>
                <a:latin typeface="Segoe UI"/>
                <a:ea typeface="Segoe UI"/>
                <a:cs typeface="Segoe UI"/>
              </a:rPr>
              <a:t>alone</a:t>
            </a:r>
          </a:p>
        </p:txBody>
      </p:sp>
      <p:sp>
        <p:nvSpPr>
          <p:cNvPr id="20" name="Rounded Rectangle 19"/>
          <p:cNvSpPr/>
          <p:nvPr/>
        </p:nvSpPr>
        <p:spPr>
          <a:xfrm>
            <a:off x="6675120" y="4654296"/>
            <a:ext cx="146304" cy="146304"/>
          </a:xfrm>
          <a:prstGeom prst="roundRect">
            <a:avLst>
              <a:gd name="adj" fmla="val 50000"/>
            </a:avLst>
          </a:prstGeom>
          <a:solidFill>
            <a:srgbClr val="F5B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4553712"/>
            <a:ext cx="4492447" cy="493776"/>
          </a:xfrm>
          <a:prstGeom prst="rect">
            <a:avLst/>
          </a:prstGeom>
          <a:noFill/>
        </p:spPr>
        <p:txBody>
          <a:bodyPr wrap="square" lIns="0" rIns="0" tIns="0" bIns="0" anchor="t">
            <a:spAutoFit/>
          </a:bodyPr>
          <a:lstStyle/>
          <a:p>
            <a:pPr algn="l">
              <a:spcBef>
                <a:spcPts val="0"/>
              </a:spcBef>
              <a:spcAft>
                <a:spcPts val="100"/>
              </a:spcAft>
            </a:pPr>
            <a:r>
              <a:rPr sz="1150" b="1" i="0">
                <a:solidFill>
                  <a:srgbClr val="F5B53F"/>
                </a:solidFill>
                <a:latin typeface="Segoe UI"/>
                <a:ea typeface="Segoe UI"/>
                <a:cs typeface="Segoe UI"/>
              </a:rPr>
              <a:t>3:00</a:t>
            </a:r>
          </a:p>
          <a:p>
            <a:pPr algn="l">
              <a:spcBef>
                <a:spcPts val="0"/>
              </a:spcBef>
              <a:spcAft>
                <a:spcPts val="0"/>
              </a:spcAft>
            </a:pPr>
            <a:r>
              <a:rPr sz="1800" b="1" i="0">
                <a:solidFill>
                  <a:srgbClr val="EEF3F8"/>
                </a:solidFill>
                <a:latin typeface="Nirmala UI"/>
                <a:ea typeface="Nirmala UI"/>
                <a:cs typeface="Nirmala UI"/>
              </a:rPr>
              <a:t>টাকা পাঠানো   </a:t>
            </a:r>
            <a:r>
              <a:rPr sz="1150" b="0" i="1">
                <a:solidFill>
                  <a:srgbClr val="93A6BA"/>
                </a:solidFill>
                <a:latin typeface="Segoe UI"/>
                <a:ea typeface="Segoe UI"/>
                <a:cs typeface="Segoe UI"/>
              </a:rPr>
              <a:t>money leaves</a:t>
            </a:r>
          </a:p>
        </p:txBody>
      </p:sp>
      <p:sp>
        <p:nvSpPr>
          <p:cNvPr id="22" name="Rounded Rectangle 21"/>
          <p:cNvSpPr/>
          <p:nvPr/>
        </p:nvSpPr>
        <p:spPr>
          <a:xfrm>
            <a:off x="6675120" y="5166360"/>
            <a:ext cx="146304" cy="146304"/>
          </a:xfrm>
          <a:prstGeom prst="roundRect">
            <a:avLst>
              <a:gd name="adj" fmla="val 50000"/>
            </a:avLst>
          </a:prstGeom>
          <a:solidFill>
            <a:srgbClr val="93A6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0" y="5065776"/>
            <a:ext cx="4492447" cy="493776"/>
          </a:xfrm>
          <a:prstGeom prst="rect">
            <a:avLst/>
          </a:prstGeom>
          <a:noFill/>
        </p:spPr>
        <p:txBody>
          <a:bodyPr wrap="square" lIns="0" rIns="0" tIns="0" bIns="0" anchor="t">
            <a:spAutoFit/>
          </a:bodyPr>
          <a:lstStyle/>
          <a:p>
            <a:pPr algn="l">
              <a:spcBef>
                <a:spcPts val="0"/>
              </a:spcBef>
              <a:spcAft>
                <a:spcPts val="100"/>
              </a:spcAft>
            </a:pPr>
            <a:r>
              <a:rPr sz="1150" b="1" i="0">
                <a:solidFill>
                  <a:srgbClr val="93A6BA"/>
                </a:solidFill>
                <a:latin typeface="Segoe UI"/>
                <a:ea typeface="Segoe UI"/>
                <a:cs typeface="Segoe UI"/>
              </a:rPr>
              <a:t>+2 দিন</a:t>
            </a:r>
          </a:p>
          <a:p>
            <a:pPr algn="l">
              <a:spcBef>
                <a:spcPts val="0"/>
              </a:spcBef>
              <a:spcAft>
                <a:spcPts val="0"/>
              </a:spcAft>
            </a:pPr>
            <a:r>
              <a:rPr sz="1800" b="1" i="0">
                <a:solidFill>
                  <a:srgbClr val="EEF3F8"/>
                </a:solidFill>
                <a:latin typeface="Nirmala UI"/>
                <a:ea typeface="Nirmala UI"/>
                <a:cs typeface="Nirmala UI"/>
              </a:rPr>
              <a:t>নাম্বার বন্ধ   </a:t>
            </a:r>
            <a:r>
              <a:rPr sz="1150" b="0" i="1">
                <a:solidFill>
                  <a:srgbClr val="93A6BA"/>
                </a:solidFill>
                <a:latin typeface="Segoe UI"/>
                <a:ea typeface="Segoe UI"/>
                <a:cs typeface="Segoe UI"/>
              </a:rPr>
              <a:t>number dead</a:t>
            </a:r>
          </a:p>
        </p:txBody>
      </p:sp>
      <p:sp>
        <p:nvSpPr>
          <p:cNvPr id="24" name="Rounded Rectangle 23"/>
          <p:cNvSpPr/>
          <p:nvPr/>
        </p:nvSpPr>
        <p:spPr>
          <a:xfrm>
            <a:off x="658368" y="5760720"/>
            <a:ext cx="10874959" cy="502920"/>
          </a:xfrm>
          <a:prstGeom prst="roundRect">
            <a:avLst>
              <a:gd name="adj" fmla="val 1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760720"/>
            <a:ext cx="10362895" cy="502920"/>
          </a:xfrm>
          <a:prstGeom prst="rect">
            <a:avLst/>
          </a:prstGeom>
          <a:noFill/>
        </p:spPr>
        <p:txBody>
          <a:bodyPr wrap="square" lIns="0" rIns="0" tIns="0" bIns="0" anchor="ctr">
            <a:spAutoFit/>
          </a:bodyPr>
          <a:lstStyle/>
          <a:p>
            <a:pPr algn="l">
              <a:spcBef>
                <a:spcPts val="0"/>
              </a:spcBef>
              <a:spcAft>
                <a:spcPts val="0"/>
              </a:spcAft>
            </a:pPr>
            <a:r>
              <a:rPr sz="1700" b="1" i="0">
                <a:solidFill>
                  <a:srgbClr val="F5B53F"/>
                </a:solidFill>
                <a:latin typeface="Segoe UI"/>
                <a:ea typeface="Segoe UI"/>
                <a:cs typeface="Segoe UI"/>
              </a:rPr>
              <a:t>The gap:  </a:t>
            </a:r>
            <a:r>
              <a:rPr sz="1700" b="0" i="0">
                <a:solidFill>
                  <a:srgbClr val="EEF3F8"/>
                </a:solidFill>
                <a:latin typeface="Segoe UI"/>
                <a:ea typeface="Segoe UI"/>
                <a:cs typeface="Segoe UI"/>
              </a:rPr>
              <a:t>nobody defends those three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PROBLEM DEPTH · COMPETITION</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3 / 10</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2700" b="1" i="0">
                <a:solidFill>
                  <a:srgbClr val="EEF3F8"/>
                </a:solidFill>
                <a:latin typeface="Segoe UI"/>
                <a:ea typeface="Segoe UI"/>
                <a:cs typeface="Segoe UI"/>
              </a:rPr>
              <a:t>Every defence answers a different crime.</a:t>
            </a:r>
          </a:p>
        </p:txBody>
      </p:sp>
      <p:sp>
        <p:nvSpPr>
          <p:cNvPr id="7" name="Rounded Rectangle 6"/>
          <p:cNvSpPr/>
          <p:nvPr/>
        </p:nvSpPr>
        <p:spPr>
          <a:xfrm>
            <a:off x="658368" y="2212848"/>
            <a:ext cx="10874959" cy="566928"/>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212848"/>
            <a:ext cx="2926080" cy="566928"/>
          </a:xfrm>
          <a:prstGeom prst="rect">
            <a:avLst/>
          </a:prstGeom>
          <a:noFill/>
        </p:spPr>
        <p:txBody>
          <a:bodyPr wrap="square" lIns="0" rIns="0" tIns="0" bIns="0" anchor="ctr">
            <a:spAutoFit/>
          </a:bodyPr>
          <a:lstStyle/>
          <a:p>
            <a:pPr algn="l">
              <a:spcBef>
                <a:spcPts val="0"/>
              </a:spcBef>
              <a:spcAft>
                <a:spcPts val="0"/>
              </a:spcAft>
            </a:pPr>
            <a:r>
              <a:rPr sz="1450" b="1" i="0">
                <a:solidFill>
                  <a:srgbClr val="F5B53F"/>
                </a:solidFill>
                <a:latin typeface="Segoe UI"/>
                <a:ea typeface="Segoe UI"/>
                <a:cs typeface="Segoe UI"/>
              </a:rPr>
              <a:t>Carrier spam filters</a:t>
            </a:r>
          </a:p>
        </p:txBody>
      </p:sp>
      <p:sp>
        <p:nvSpPr>
          <p:cNvPr id="9" name="TextBox 8"/>
          <p:cNvSpPr txBox="1"/>
          <p:nvPr/>
        </p:nvSpPr>
        <p:spPr>
          <a:xfrm>
            <a:off x="3858768" y="2212848"/>
            <a:ext cx="6943039" cy="566928"/>
          </a:xfrm>
          <a:prstGeom prst="rect">
            <a:avLst/>
          </a:prstGeom>
          <a:noFill/>
        </p:spPr>
        <p:txBody>
          <a:bodyPr wrap="square" lIns="0" rIns="0" tIns="0" bIns="0" anchor="ctr">
            <a:spAutoFit/>
          </a:bodyPr>
          <a:lstStyle/>
          <a:p>
            <a:pPr algn="l">
              <a:spcBef>
                <a:spcPts val="0"/>
              </a:spcBef>
              <a:spcAft>
                <a:spcPts val="0"/>
              </a:spcAft>
            </a:pPr>
            <a:r>
              <a:rPr sz="1400" b="0" i="0">
                <a:solidFill>
                  <a:srgbClr val="EEF3F8"/>
                </a:solidFill>
                <a:latin typeface="Segoe UI"/>
                <a:ea typeface="Segoe UI"/>
                <a:cs typeface="Segoe UI"/>
              </a:rPr>
              <a:t>built for volume, not for one persuasive voice</a:t>
            </a:r>
          </a:p>
        </p:txBody>
      </p:sp>
      <p:sp>
        <p:nvSpPr>
          <p:cNvPr id="10" name="TextBox 9"/>
          <p:cNvSpPr txBox="1"/>
          <p:nvPr/>
        </p:nvSpPr>
        <p:spPr>
          <a:xfrm>
            <a:off x="10929823" y="2212848"/>
            <a:ext cx="402336" cy="566928"/>
          </a:xfrm>
          <a:prstGeom prst="rect">
            <a:avLst/>
          </a:prstGeom>
          <a:noFill/>
        </p:spPr>
        <p:txBody>
          <a:bodyPr wrap="square" lIns="0" rIns="0" tIns="0" bIns="0" anchor="ctr">
            <a:spAutoFit/>
          </a:bodyPr>
          <a:lstStyle/>
          <a:p>
            <a:pPr algn="ctr">
              <a:spcBef>
                <a:spcPts val="0"/>
              </a:spcBef>
              <a:spcAft>
                <a:spcPts val="0"/>
              </a:spcAft>
            </a:pPr>
            <a:r>
              <a:rPr sz="1750" b="1" i="0">
                <a:solidFill>
                  <a:srgbClr val="FF4D43"/>
                </a:solidFill>
                <a:latin typeface="Segoe UI"/>
                <a:ea typeface="Segoe UI"/>
                <a:cs typeface="Segoe UI"/>
              </a:rPr>
              <a:t>×</a:t>
            </a:r>
          </a:p>
        </p:txBody>
      </p:sp>
      <p:sp>
        <p:nvSpPr>
          <p:cNvPr id="11" name="Rounded Rectangle 10"/>
          <p:cNvSpPr/>
          <p:nvPr/>
        </p:nvSpPr>
        <p:spPr>
          <a:xfrm>
            <a:off x="658368" y="2907791"/>
            <a:ext cx="10874959" cy="566928"/>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2907791"/>
            <a:ext cx="2926080" cy="566928"/>
          </a:xfrm>
          <a:prstGeom prst="rect">
            <a:avLst/>
          </a:prstGeom>
          <a:noFill/>
        </p:spPr>
        <p:txBody>
          <a:bodyPr wrap="square" lIns="0" rIns="0" tIns="0" bIns="0" anchor="ctr">
            <a:spAutoFit/>
          </a:bodyPr>
          <a:lstStyle/>
          <a:p>
            <a:pPr algn="l">
              <a:spcBef>
                <a:spcPts val="0"/>
              </a:spcBef>
              <a:spcAft>
                <a:spcPts val="0"/>
              </a:spcAft>
            </a:pPr>
            <a:r>
              <a:rPr sz="1450" b="1" i="0">
                <a:solidFill>
                  <a:srgbClr val="F5B53F"/>
                </a:solidFill>
                <a:latin typeface="Segoe UI"/>
                <a:ea typeface="Segoe UI"/>
                <a:cs typeface="Segoe UI"/>
              </a:rPr>
              <a:t>Number blocklists</a:t>
            </a:r>
          </a:p>
        </p:txBody>
      </p:sp>
      <p:sp>
        <p:nvSpPr>
          <p:cNvPr id="13" name="TextBox 12"/>
          <p:cNvSpPr txBox="1"/>
          <p:nvPr/>
        </p:nvSpPr>
        <p:spPr>
          <a:xfrm>
            <a:off x="3858768" y="2907791"/>
            <a:ext cx="6943039" cy="566928"/>
          </a:xfrm>
          <a:prstGeom prst="rect">
            <a:avLst/>
          </a:prstGeom>
          <a:noFill/>
        </p:spPr>
        <p:txBody>
          <a:bodyPr wrap="square" lIns="0" rIns="0" tIns="0" bIns="0" anchor="ctr">
            <a:spAutoFit/>
          </a:bodyPr>
          <a:lstStyle/>
          <a:p>
            <a:pPr algn="l">
              <a:spcBef>
                <a:spcPts val="0"/>
              </a:spcBef>
              <a:spcAft>
                <a:spcPts val="0"/>
              </a:spcAft>
            </a:pPr>
            <a:r>
              <a:rPr sz="1400" b="0" i="0">
                <a:solidFill>
                  <a:srgbClr val="EEF3F8"/>
                </a:solidFill>
                <a:latin typeface="Segoe UI"/>
                <a:ea typeface="Segoe UI"/>
                <a:cs typeface="Segoe UI"/>
              </a:rPr>
              <a:t>a fresh SIM costs Tk 200</a:t>
            </a:r>
          </a:p>
        </p:txBody>
      </p:sp>
      <p:sp>
        <p:nvSpPr>
          <p:cNvPr id="14" name="TextBox 13"/>
          <p:cNvSpPr txBox="1"/>
          <p:nvPr/>
        </p:nvSpPr>
        <p:spPr>
          <a:xfrm>
            <a:off x="10929823" y="2907791"/>
            <a:ext cx="402336" cy="566928"/>
          </a:xfrm>
          <a:prstGeom prst="rect">
            <a:avLst/>
          </a:prstGeom>
          <a:noFill/>
        </p:spPr>
        <p:txBody>
          <a:bodyPr wrap="square" lIns="0" rIns="0" tIns="0" bIns="0" anchor="ctr">
            <a:spAutoFit/>
          </a:bodyPr>
          <a:lstStyle/>
          <a:p>
            <a:pPr algn="ctr">
              <a:spcBef>
                <a:spcPts val="0"/>
              </a:spcBef>
              <a:spcAft>
                <a:spcPts val="0"/>
              </a:spcAft>
            </a:pPr>
            <a:r>
              <a:rPr sz="1750" b="1" i="0">
                <a:solidFill>
                  <a:srgbClr val="FF4D43"/>
                </a:solidFill>
                <a:latin typeface="Segoe UI"/>
                <a:ea typeface="Segoe UI"/>
                <a:cs typeface="Segoe UI"/>
              </a:rPr>
              <a:t>×</a:t>
            </a:r>
          </a:p>
        </p:txBody>
      </p:sp>
      <p:sp>
        <p:nvSpPr>
          <p:cNvPr id="15" name="Rounded Rectangle 14"/>
          <p:cNvSpPr/>
          <p:nvPr/>
        </p:nvSpPr>
        <p:spPr>
          <a:xfrm>
            <a:off x="658368" y="3602736"/>
            <a:ext cx="10874959" cy="566928"/>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602736"/>
            <a:ext cx="2926080" cy="566928"/>
          </a:xfrm>
          <a:prstGeom prst="rect">
            <a:avLst/>
          </a:prstGeom>
          <a:noFill/>
        </p:spPr>
        <p:txBody>
          <a:bodyPr wrap="square" lIns="0" rIns="0" tIns="0" bIns="0" anchor="ctr">
            <a:spAutoFit/>
          </a:bodyPr>
          <a:lstStyle/>
          <a:p>
            <a:pPr algn="l">
              <a:spcBef>
                <a:spcPts val="0"/>
              </a:spcBef>
              <a:spcAft>
                <a:spcPts val="0"/>
              </a:spcAft>
            </a:pPr>
            <a:r>
              <a:rPr sz="1450" b="1" i="0">
                <a:solidFill>
                  <a:srgbClr val="F5B53F"/>
                </a:solidFill>
                <a:latin typeface="Segoe UI"/>
                <a:ea typeface="Segoe UI"/>
                <a:cs typeface="Segoe UI"/>
              </a:rPr>
              <a:t>Bank and MFS rules</a:t>
            </a:r>
          </a:p>
        </p:txBody>
      </p:sp>
      <p:sp>
        <p:nvSpPr>
          <p:cNvPr id="17" name="TextBox 16"/>
          <p:cNvSpPr txBox="1"/>
          <p:nvPr/>
        </p:nvSpPr>
        <p:spPr>
          <a:xfrm>
            <a:off x="3858768" y="3602736"/>
            <a:ext cx="6943039" cy="566928"/>
          </a:xfrm>
          <a:prstGeom prst="rect">
            <a:avLst/>
          </a:prstGeom>
          <a:noFill/>
        </p:spPr>
        <p:txBody>
          <a:bodyPr wrap="square" lIns="0" rIns="0" tIns="0" bIns="0" anchor="ctr">
            <a:spAutoFit/>
          </a:bodyPr>
          <a:lstStyle/>
          <a:p>
            <a:pPr algn="l">
              <a:spcBef>
                <a:spcPts val="0"/>
              </a:spcBef>
              <a:spcAft>
                <a:spcPts val="0"/>
              </a:spcAft>
            </a:pPr>
            <a:r>
              <a:rPr sz="1400" b="0" i="0">
                <a:solidFill>
                  <a:srgbClr val="EEF3F8"/>
                </a:solidFill>
                <a:latin typeface="Segoe UI"/>
                <a:ea typeface="Segoe UI"/>
                <a:cs typeface="Segoe UI"/>
              </a:rPr>
              <a:t>they see the transfer, never the call</a:t>
            </a:r>
          </a:p>
        </p:txBody>
      </p:sp>
      <p:sp>
        <p:nvSpPr>
          <p:cNvPr id="18" name="TextBox 17"/>
          <p:cNvSpPr txBox="1"/>
          <p:nvPr/>
        </p:nvSpPr>
        <p:spPr>
          <a:xfrm>
            <a:off x="10929823" y="3602736"/>
            <a:ext cx="402336" cy="566928"/>
          </a:xfrm>
          <a:prstGeom prst="rect">
            <a:avLst/>
          </a:prstGeom>
          <a:noFill/>
        </p:spPr>
        <p:txBody>
          <a:bodyPr wrap="square" lIns="0" rIns="0" tIns="0" bIns="0" anchor="ctr">
            <a:spAutoFit/>
          </a:bodyPr>
          <a:lstStyle/>
          <a:p>
            <a:pPr algn="ctr">
              <a:spcBef>
                <a:spcPts val="0"/>
              </a:spcBef>
              <a:spcAft>
                <a:spcPts val="0"/>
              </a:spcAft>
            </a:pPr>
            <a:r>
              <a:rPr sz="1750" b="1" i="0">
                <a:solidFill>
                  <a:srgbClr val="FF4D43"/>
                </a:solidFill>
                <a:latin typeface="Segoe UI"/>
                <a:ea typeface="Segoe UI"/>
                <a:cs typeface="Segoe UI"/>
              </a:rPr>
              <a:t>×</a:t>
            </a:r>
          </a:p>
        </p:txBody>
      </p:sp>
      <p:sp>
        <p:nvSpPr>
          <p:cNvPr id="19" name="Rounded Rectangle 18"/>
          <p:cNvSpPr/>
          <p:nvPr/>
        </p:nvSpPr>
        <p:spPr>
          <a:xfrm>
            <a:off x="658368" y="4297680"/>
            <a:ext cx="10874959" cy="566928"/>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297680"/>
            <a:ext cx="2926080" cy="566928"/>
          </a:xfrm>
          <a:prstGeom prst="rect">
            <a:avLst/>
          </a:prstGeom>
          <a:noFill/>
        </p:spPr>
        <p:txBody>
          <a:bodyPr wrap="square" lIns="0" rIns="0" tIns="0" bIns="0" anchor="ctr">
            <a:spAutoFit/>
          </a:bodyPr>
          <a:lstStyle/>
          <a:p>
            <a:pPr algn="l">
              <a:spcBef>
                <a:spcPts val="0"/>
              </a:spcBef>
              <a:spcAft>
                <a:spcPts val="0"/>
              </a:spcAft>
            </a:pPr>
            <a:r>
              <a:rPr sz="1450" b="1" i="0">
                <a:solidFill>
                  <a:srgbClr val="F5B53F"/>
                </a:solidFill>
                <a:latin typeface="Segoe UI"/>
                <a:ea typeface="Segoe UI"/>
                <a:cs typeface="Segoe UI"/>
              </a:rPr>
              <a:t>Awareness campaigns</a:t>
            </a:r>
          </a:p>
        </p:txBody>
      </p:sp>
      <p:sp>
        <p:nvSpPr>
          <p:cNvPr id="21" name="TextBox 20"/>
          <p:cNvSpPr txBox="1"/>
          <p:nvPr/>
        </p:nvSpPr>
        <p:spPr>
          <a:xfrm>
            <a:off x="3858768" y="4297680"/>
            <a:ext cx="6943039" cy="566928"/>
          </a:xfrm>
          <a:prstGeom prst="rect">
            <a:avLst/>
          </a:prstGeom>
          <a:noFill/>
        </p:spPr>
        <p:txBody>
          <a:bodyPr wrap="square" lIns="0" rIns="0" tIns="0" bIns="0" anchor="ctr">
            <a:spAutoFit/>
          </a:bodyPr>
          <a:lstStyle/>
          <a:p>
            <a:pPr algn="l">
              <a:spcBef>
                <a:spcPts val="0"/>
              </a:spcBef>
              <a:spcAft>
                <a:spcPts val="0"/>
              </a:spcAft>
            </a:pPr>
            <a:r>
              <a:rPr sz="1400" b="0" i="0">
                <a:solidFill>
                  <a:srgbClr val="EEF3F8"/>
                </a:solidFill>
                <a:latin typeface="Segoe UI"/>
                <a:ea typeface="Segoe UI"/>
                <a:cs typeface="Segoe UI"/>
              </a:rPr>
              <a:t>the script rewords faster than the poster prints</a:t>
            </a:r>
          </a:p>
        </p:txBody>
      </p:sp>
      <p:sp>
        <p:nvSpPr>
          <p:cNvPr id="22" name="TextBox 21"/>
          <p:cNvSpPr txBox="1"/>
          <p:nvPr/>
        </p:nvSpPr>
        <p:spPr>
          <a:xfrm>
            <a:off x="10929823" y="4297680"/>
            <a:ext cx="402336" cy="566928"/>
          </a:xfrm>
          <a:prstGeom prst="rect">
            <a:avLst/>
          </a:prstGeom>
          <a:noFill/>
        </p:spPr>
        <p:txBody>
          <a:bodyPr wrap="square" lIns="0" rIns="0" tIns="0" bIns="0" anchor="ctr">
            <a:spAutoFit/>
          </a:bodyPr>
          <a:lstStyle/>
          <a:p>
            <a:pPr algn="ctr">
              <a:spcBef>
                <a:spcPts val="0"/>
              </a:spcBef>
              <a:spcAft>
                <a:spcPts val="0"/>
              </a:spcAft>
            </a:pPr>
            <a:r>
              <a:rPr sz="1750" b="1" i="0">
                <a:solidFill>
                  <a:srgbClr val="FF4D43"/>
                </a:solidFill>
                <a:latin typeface="Segoe UI"/>
                <a:ea typeface="Segoe UI"/>
                <a:cs typeface="Segoe UI"/>
              </a:rPr>
              <a:t>×</a:t>
            </a:r>
          </a:p>
        </p:txBody>
      </p:sp>
      <p:sp>
        <p:nvSpPr>
          <p:cNvPr id="23" name="Rounded Rectangle 22"/>
          <p:cNvSpPr/>
          <p:nvPr/>
        </p:nvSpPr>
        <p:spPr>
          <a:xfrm>
            <a:off x="658368" y="4992624"/>
            <a:ext cx="10874959" cy="566928"/>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7" y="4992624"/>
            <a:ext cx="2926080" cy="566928"/>
          </a:xfrm>
          <a:prstGeom prst="rect">
            <a:avLst/>
          </a:prstGeom>
          <a:noFill/>
        </p:spPr>
        <p:txBody>
          <a:bodyPr wrap="square" lIns="0" rIns="0" tIns="0" bIns="0" anchor="ctr">
            <a:spAutoFit/>
          </a:bodyPr>
          <a:lstStyle/>
          <a:p>
            <a:pPr algn="l">
              <a:spcBef>
                <a:spcPts val="0"/>
              </a:spcBef>
              <a:spcAft>
                <a:spcPts val="0"/>
              </a:spcAft>
            </a:pPr>
            <a:r>
              <a:rPr sz="1450" b="1" i="0">
                <a:solidFill>
                  <a:srgbClr val="F5B53F"/>
                </a:solidFill>
                <a:latin typeface="Segoe UI"/>
                <a:ea typeface="Segoe UI"/>
                <a:cs typeface="Segoe UI"/>
              </a:rPr>
              <a:t>Smartphone security apps</a:t>
            </a:r>
          </a:p>
        </p:txBody>
      </p:sp>
      <p:sp>
        <p:nvSpPr>
          <p:cNvPr id="25" name="TextBox 24"/>
          <p:cNvSpPr txBox="1"/>
          <p:nvPr/>
        </p:nvSpPr>
        <p:spPr>
          <a:xfrm>
            <a:off x="3858768" y="4992624"/>
            <a:ext cx="6943039" cy="566928"/>
          </a:xfrm>
          <a:prstGeom prst="rect">
            <a:avLst/>
          </a:prstGeom>
          <a:noFill/>
        </p:spPr>
        <p:txBody>
          <a:bodyPr wrap="square" lIns="0" rIns="0" tIns="0" bIns="0" anchor="ctr">
            <a:spAutoFit/>
          </a:bodyPr>
          <a:lstStyle/>
          <a:p>
            <a:pPr algn="l">
              <a:spcBef>
                <a:spcPts val="0"/>
              </a:spcBef>
              <a:spcAft>
                <a:spcPts val="0"/>
              </a:spcAft>
            </a:pPr>
            <a:r>
              <a:rPr sz="1400" b="0" i="0">
                <a:solidFill>
                  <a:srgbClr val="EEF3F8"/>
                </a:solidFill>
                <a:latin typeface="Segoe UI"/>
                <a:ea typeface="Segoe UI"/>
                <a:cs typeface="Segoe UI"/>
              </a:rPr>
              <a:t>the target phone is a Tk 800 button phone</a:t>
            </a:r>
          </a:p>
        </p:txBody>
      </p:sp>
      <p:sp>
        <p:nvSpPr>
          <p:cNvPr id="26" name="TextBox 25"/>
          <p:cNvSpPr txBox="1"/>
          <p:nvPr/>
        </p:nvSpPr>
        <p:spPr>
          <a:xfrm>
            <a:off x="10929823" y="4992624"/>
            <a:ext cx="402336" cy="566928"/>
          </a:xfrm>
          <a:prstGeom prst="rect">
            <a:avLst/>
          </a:prstGeom>
          <a:noFill/>
        </p:spPr>
        <p:txBody>
          <a:bodyPr wrap="square" lIns="0" rIns="0" tIns="0" bIns="0" anchor="ctr">
            <a:spAutoFit/>
          </a:bodyPr>
          <a:lstStyle/>
          <a:p>
            <a:pPr algn="ctr">
              <a:spcBef>
                <a:spcPts val="0"/>
              </a:spcBef>
              <a:spcAft>
                <a:spcPts val="0"/>
              </a:spcAft>
            </a:pPr>
            <a:r>
              <a:rPr sz="1750" b="1" i="0">
                <a:solidFill>
                  <a:srgbClr val="FF4D43"/>
                </a:solidFill>
                <a:latin typeface="Segoe UI"/>
                <a:ea typeface="Segoe UI"/>
                <a:cs typeface="Segoe UI"/>
              </a:rPr>
              <a:t>×</a:t>
            </a:r>
          </a:p>
        </p:txBody>
      </p:sp>
      <p:sp>
        <p:nvSpPr>
          <p:cNvPr id="27" name="Rounded Rectangle 26"/>
          <p:cNvSpPr/>
          <p:nvPr/>
        </p:nvSpPr>
        <p:spPr>
          <a:xfrm>
            <a:off x="658368" y="5779008"/>
            <a:ext cx="10874959" cy="502920"/>
          </a:xfrm>
          <a:prstGeom prst="roundRect">
            <a:avLst>
              <a:gd name="adj" fmla="val 1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779008"/>
            <a:ext cx="10362895" cy="502920"/>
          </a:xfrm>
          <a:prstGeom prst="rect">
            <a:avLst/>
          </a:prstGeom>
          <a:noFill/>
        </p:spPr>
        <p:txBody>
          <a:bodyPr wrap="square" lIns="0" rIns="0" tIns="0" bIns="0" anchor="ctr">
            <a:spAutoFit/>
          </a:bodyPr>
          <a:lstStyle/>
          <a:p>
            <a:pPr algn="l">
              <a:spcBef>
                <a:spcPts val="0"/>
              </a:spcBef>
              <a:spcAft>
                <a:spcPts val="0"/>
              </a:spcAft>
            </a:pPr>
            <a:r>
              <a:rPr sz="1800" b="1" i="0">
                <a:solidFill>
                  <a:srgbClr val="F5B53F"/>
                </a:solidFill>
                <a:latin typeface="Segoe UI"/>
                <a:ea typeface="Segoe UI"/>
                <a:cs typeface="Segoe UI"/>
              </a:rPr>
              <a:t>Missing:  </a:t>
            </a:r>
            <a:r>
              <a:rPr sz="1800" b="1" i="0">
                <a:solidFill>
                  <a:srgbClr val="EEF3F8"/>
                </a:solidFill>
                <a:latin typeface="Segoe UI"/>
                <a:ea typeface="Segoe UI"/>
                <a:cs typeface="Segoe UI"/>
              </a:rPr>
              <a:t>a defender inside the call, in Bangla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THE MARKET THE MONEY IS IN</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4 / 10</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2700" b="1" i="0">
                <a:solidFill>
                  <a:srgbClr val="EEF3F8"/>
                </a:solidFill>
                <a:latin typeface="Segoe UI"/>
                <a:ea typeface="Segoe UI"/>
                <a:cs typeface="Segoe UI"/>
              </a:rPr>
              <a:t>The money is already digital.</a:t>
            </a:r>
          </a:p>
        </p:txBody>
      </p:sp>
      <p:sp>
        <p:nvSpPr>
          <p:cNvPr id="7" name="TextBox 6"/>
          <p:cNvSpPr txBox="1"/>
          <p:nvPr/>
        </p:nvSpPr>
        <p:spPr>
          <a:xfrm>
            <a:off x="658368" y="2103120"/>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MOBILE FINANCIAL SERVICES — BANGLADESH BANK, JULY 2026  ·  SUBSCRIBERS — BTRC, AUGUST 2026</a:t>
            </a:r>
          </a:p>
        </p:txBody>
      </p:sp>
      <p:sp>
        <p:nvSpPr>
          <p:cNvPr id="8" name="Rounded Rectangle 7"/>
          <p:cNvSpPr/>
          <p:nvPr/>
        </p:nvSpPr>
        <p:spPr>
          <a:xfrm>
            <a:off x="658368" y="2377440"/>
            <a:ext cx="2028687" cy="1298448"/>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542032"/>
            <a:ext cx="1589775" cy="969264"/>
          </a:xfrm>
          <a:prstGeom prst="rect">
            <a:avLst/>
          </a:prstGeom>
          <a:noFill/>
        </p:spPr>
        <p:txBody>
          <a:bodyPr wrap="square" lIns="0" rIns="0" tIns="0" bIns="0" anchor="t">
            <a:spAutoFit/>
          </a:bodyPr>
          <a:lstStyle/>
          <a:p>
            <a:pPr algn="l">
              <a:spcBef>
                <a:spcPts val="0"/>
              </a:spcBef>
              <a:spcAft>
                <a:spcPts val="500"/>
              </a:spcAft>
            </a:pPr>
            <a:r>
              <a:rPr sz="2700" b="1" i="0">
                <a:solidFill>
                  <a:srgbClr val="FF4D43"/>
                </a:solidFill>
                <a:latin typeface="Segoe UI"/>
                <a:ea typeface="Segoe UI"/>
                <a:cs typeface="Segoe UI"/>
              </a:rPr>
              <a:t>Tk 2.17T</a:t>
            </a:r>
          </a:p>
          <a:p>
            <a:pPr algn="l">
              <a:spcBef>
                <a:spcPts val="0"/>
              </a:spcBef>
              <a:spcAft>
                <a:spcPts val="0"/>
              </a:spcAft>
            </a:pPr>
            <a:r>
              <a:rPr sz="1300" b="1" i="0">
                <a:solidFill>
                  <a:srgbClr val="EEF3F8"/>
                </a:solidFill>
                <a:latin typeface="Segoe UI"/>
                <a:ea typeface="Segoe UI"/>
                <a:cs typeface="Segoe UI"/>
              </a:rPr>
              <a:t>MFS volume</a:t>
            </a:r>
          </a:p>
        </p:txBody>
      </p:sp>
      <p:sp>
        <p:nvSpPr>
          <p:cNvPr id="10" name="Rounded Rectangle 9"/>
          <p:cNvSpPr/>
          <p:nvPr/>
        </p:nvSpPr>
        <p:spPr>
          <a:xfrm>
            <a:off x="2869935" y="2377440"/>
            <a:ext cx="2028687" cy="1298448"/>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89391" y="2542032"/>
            <a:ext cx="1589775" cy="969264"/>
          </a:xfrm>
          <a:prstGeom prst="rect">
            <a:avLst/>
          </a:prstGeom>
          <a:noFill/>
        </p:spPr>
        <p:txBody>
          <a:bodyPr wrap="square" lIns="0" rIns="0" tIns="0" bIns="0" anchor="t">
            <a:spAutoFit/>
          </a:bodyPr>
          <a:lstStyle/>
          <a:p>
            <a:pPr algn="l">
              <a:spcBef>
                <a:spcPts val="0"/>
              </a:spcBef>
              <a:spcAft>
                <a:spcPts val="500"/>
              </a:spcAft>
            </a:pPr>
            <a:r>
              <a:rPr sz="2400" b="1" i="0">
                <a:solidFill>
                  <a:srgbClr val="FF4D43"/>
                </a:solidFill>
                <a:latin typeface="Segoe UI"/>
                <a:ea typeface="Segoe UI"/>
                <a:cs typeface="Segoe UI"/>
              </a:rPr>
              <a:t>Tk 182.7B</a:t>
            </a:r>
          </a:p>
          <a:p>
            <a:pPr algn="l">
              <a:spcBef>
                <a:spcPts val="0"/>
              </a:spcBef>
              <a:spcAft>
                <a:spcPts val="0"/>
              </a:spcAft>
            </a:pPr>
            <a:r>
              <a:rPr sz="1300" b="1" i="0">
                <a:solidFill>
                  <a:srgbClr val="EEF3F8"/>
                </a:solidFill>
                <a:latin typeface="Segoe UI"/>
                <a:ea typeface="Segoe UI"/>
                <a:cs typeface="Segoe UI"/>
              </a:rPr>
              <a:t>e-money float</a:t>
            </a:r>
          </a:p>
        </p:txBody>
      </p:sp>
      <p:sp>
        <p:nvSpPr>
          <p:cNvPr id="12" name="Rounded Rectangle 11"/>
          <p:cNvSpPr/>
          <p:nvPr/>
        </p:nvSpPr>
        <p:spPr>
          <a:xfrm>
            <a:off x="5081503" y="2377440"/>
            <a:ext cx="2028687" cy="1298448"/>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0959" y="2542032"/>
            <a:ext cx="1589775" cy="969264"/>
          </a:xfrm>
          <a:prstGeom prst="rect">
            <a:avLst/>
          </a:prstGeom>
          <a:noFill/>
        </p:spPr>
        <p:txBody>
          <a:bodyPr wrap="square" lIns="0" rIns="0" tIns="0" bIns="0" anchor="t">
            <a:spAutoFit/>
          </a:bodyPr>
          <a:lstStyle/>
          <a:p>
            <a:pPr algn="l">
              <a:spcBef>
                <a:spcPts val="0"/>
              </a:spcBef>
              <a:spcAft>
                <a:spcPts val="500"/>
              </a:spcAft>
            </a:pPr>
            <a:r>
              <a:rPr sz="2700" b="1" i="0">
                <a:solidFill>
                  <a:srgbClr val="F5B53F"/>
                </a:solidFill>
                <a:latin typeface="Segoe UI"/>
                <a:ea typeface="Segoe UI"/>
                <a:cs typeface="Segoe UI"/>
              </a:rPr>
              <a:t>258.7M</a:t>
            </a:r>
          </a:p>
          <a:p>
            <a:pPr algn="l">
              <a:spcBef>
                <a:spcPts val="0"/>
              </a:spcBef>
              <a:spcAft>
                <a:spcPts val="0"/>
              </a:spcAft>
            </a:pPr>
            <a:r>
              <a:rPr sz="1300" b="1" i="0">
                <a:solidFill>
                  <a:srgbClr val="EEF3F8"/>
                </a:solidFill>
                <a:latin typeface="Segoe UI"/>
                <a:ea typeface="Segoe UI"/>
                <a:cs typeface="Segoe UI"/>
              </a:rPr>
              <a:t>MFS accounts</a:t>
            </a:r>
          </a:p>
        </p:txBody>
      </p:sp>
      <p:sp>
        <p:nvSpPr>
          <p:cNvPr id="14" name="Rounded Rectangle 13"/>
          <p:cNvSpPr/>
          <p:nvPr/>
        </p:nvSpPr>
        <p:spPr>
          <a:xfrm>
            <a:off x="7293071" y="2377440"/>
            <a:ext cx="2028687" cy="1298448"/>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2527" y="2542032"/>
            <a:ext cx="1589775" cy="969264"/>
          </a:xfrm>
          <a:prstGeom prst="rect">
            <a:avLst/>
          </a:prstGeom>
          <a:noFill/>
        </p:spPr>
        <p:txBody>
          <a:bodyPr wrap="square" lIns="0" rIns="0" tIns="0" bIns="0" anchor="t">
            <a:spAutoFit/>
          </a:bodyPr>
          <a:lstStyle/>
          <a:p>
            <a:pPr algn="l">
              <a:spcBef>
                <a:spcPts val="0"/>
              </a:spcBef>
              <a:spcAft>
                <a:spcPts val="500"/>
              </a:spcAft>
            </a:pPr>
            <a:r>
              <a:rPr sz="2700" b="1" i="0">
                <a:solidFill>
                  <a:srgbClr val="F5B53F"/>
                </a:solidFill>
                <a:latin typeface="Segoe UI"/>
                <a:ea typeface="Segoe UI"/>
                <a:cs typeface="Segoe UI"/>
              </a:rPr>
              <a:t>191.09M</a:t>
            </a:r>
          </a:p>
          <a:p>
            <a:pPr algn="l">
              <a:spcBef>
                <a:spcPts val="0"/>
              </a:spcBef>
              <a:spcAft>
                <a:spcPts val="0"/>
              </a:spcAft>
            </a:pPr>
            <a:r>
              <a:rPr sz="1300" b="1" i="0">
                <a:solidFill>
                  <a:srgbClr val="EEF3F8"/>
                </a:solidFill>
                <a:latin typeface="Segoe UI"/>
                <a:ea typeface="Segoe UI"/>
                <a:cs typeface="Segoe UI"/>
              </a:rPr>
              <a:t>mobile SIMs</a:t>
            </a:r>
          </a:p>
        </p:txBody>
      </p:sp>
      <p:sp>
        <p:nvSpPr>
          <p:cNvPr id="16" name="Rounded Rectangle 15"/>
          <p:cNvSpPr/>
          <p:nvPr/>
        </p:nvSpPr>
        <p:spPr>
          <a:xfrm>
            <a:off x="9504639" y="2377440"/>
            <a:ext cx="2028687" cy="1298448"/>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4095" y="2542032"/>
            <a:ext cx="1589775" cy="969264"/>
          </a:xfrm>
          <a:prstGeom prst="rect">
            <a:avLst/>
          </a:prstGeom>
          <a:noFill/>
        </p:spPr>
        <p:txBody>
          <a:bodyPr wrap="square" lIns="0" rIns="0" tIns="0" bIns="0" anchor="t">
            <a:spAutoFit/>
          </a:bodyPr>
          <a:lstStyle/>
          <a:p>
            <a:pPr algn="l">
              <a:spcBef>
                <a:spcPts val="0"/>
              </a:spcBef>
              <a:spcAft>
                <a:spcPts val="500"/>
              </a:spcAft>
            </a:pPr>
            <a:r>
              <a:rPr sz="2700" b="1" i="0">
                <a:solidFill>
                  <a:srgbClr val="4FD6A8"/>
                </a:solidFill>
                <a:latin typeface="Segoe UI"/>
                <a:ea typeface="Segoe UI"/>
                <a:cs typeface="Segoe UI"/>
              </a:rPr>
              <a:t>87.20M</a:t>
            </a:r>
          </a:p>
          <a:p>
            <a:pPr algn="l">
              <a:spcBef>
                <a:spcPts val="0"/>
              </a:spcBef>
              <a:spcAft>
                <a:spcPts val="0"/>
              </a:spcAft>
            </a:pPr>
            <a:r>
              <a:rPr sz="1300" b="1" i="0">
                <a:solidFill>
                  <a:srgbClr val="EEF3F8"/>
                </a:solidFill>
                <a:latin typeface="Segoe UI"/>
                <a:ea typeface="Segoe UI"/>
                <a:cs typeface="Segoe UI"/>
              </a:rPr>
              <a:t>Grameenphone</a:t>
            </a:r>
          </a:p>
          <a:p>
            <a:pPr algn="l">
              <a:lnSpc>
                <a:spcPct val="118000"/>
              </a:lnSpc>
              <a:spcBef>
                <a:spcPts val="400"/>
              </a:spcBef>
              <a:spcAft>
                <a:spcPts val="0"/>
              </a:spcAft>
            </a:pPr>
            <a:r>
              <a:rPr sz="1050" b="0" i="0">
                <a:solidFill>
                  <a:srgbClr val="93A6BA"/>
                </a:solidFill>
                <a:latin typeface="Segoe UI"/>
                <a:ea typeface="Segoe UI"/>
                <a:cs typeface="Segoe UI"/>
              </a:rPr>
              <a:t>45.6% share</a:t>
            </a:r>
          </a:p>
        </p:txBody>
      </p:sp>
      <p:pic>
        <p:nvPicPr>
          <p:cNvPr id="18" name="Picture 17" descr="precall.png"/>
          <p:cNvPicPr>
            <a:picLocks noChangeAspect="1"/>
          </p:cNvPicPr>
          <p:nvPr/>
        </p:nvPicPr>
        <p:blipFill>
          <a:blip r:embed="rId2"/>
          <a:stretch>
            <a:fillRect/>
          </a:stretch>
        </p:blipFill>
        <p:spPr>
          <a:xfrm>
            <a:off x="658368" y="3803904"/>
            <a:ext cx="897636" cy="1737360"/>
          </a:xfrm>
          <a:prstGeom prst="rect">
            <a:avLst/>
          </a:prstGeom>
        </p:spPr>
      </p:pic>
      <p:sp>
        <p:nvSpPr>
          <p:cNvPr id="19" name="TextBox 18"/>
          <p:cNvSpPr txBox="1"/>
          <p:nvPr/>
        </p:nvSpPr>
        <p:spPr>
          <a:xfrm>
            <a:off x="475488" y="5577840"/>
            <a:ext cx="1446276" cy="237744"/>
          </a:xfrm>
          <a:prstGeom prst="rect">
            <a:avLst/>
          </a:prstGeom>
          <a:noFill/>
        </p:spPr>
        <p:txBody>
          <a:bodyPr wrap="square" lIns="0" rIns="0" tIns="0" bIns="0" anchor="t">
            <a:spAutoFit/>
          </a:bodyPr>
          <a:lstStyle/>
          <a:p>
            <a:pPr algn="ctr">
              <a:spcBef>
                <a:spcPts val="0"/>
              </a:spcBef>
              <a:spcAft>
                <a:spcPts val="0"/>
              </a:spcAft>
            </a:pPr>
            <a:r>
              <a:rPr sz="1000" b="0" i="1">
                <a:solidFill>
                  <a:srgbClr val="93A6BA"/>
                </a:solidFill>
                <a:latin typeface="Segoe UI"/>
                <a:ea typeface="Segoe UI"/>
                <a:cs typeface="Segoe UI"/>
              </a:rPr>
              <a:t>this phone too</a:t>
            </a:r>
          </a:p>
        </p:txBody>
      </p:sp>
      <p:sp>
        <p:nvSpPr>
          <p:cNvPr id="20" name="TextBox 19"/>
          <p:cNvSpPr txBox="1"/>
          <p:nvPr/>
        </p:nvSpPr>
        <p:spPr>
          <a:xfrm>
            <a:off x="2159508" y="3803904"/>
            <a:ext cx="937381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WHY THAT MATTERS FOR GP</a:t>
            </a:r>
          </a:p>
        </p:txBody>
      </p:sp>
      <p:sp>
        <p:nvSpPr>
          <p:cNvPr id="21" name="TextBox 20"/>
          <p:cNvSpPr txBox="1"/>
          <p:nvPr/>
        </p:nvSpPr>
        <p:spPr>
          <a:xfrm>
            <a:off x="2159508" y="4096512"/>
            <a:ext cx="9373819" cy="457200"/>
          </a:xfrm>
          <a:prstGeom prst="rect">
            <a:avLst/>
          </a:prstGeom>
          <a:noFill/>
        </p:spPr>
        <p:txBody>
          <a:bodyPr wrap="square" lIns="0" rIns="0" tIns="0" bIns="0" anchor="t">
            <a:spAutoFit/>
          </a:bodyPr>
          <a:lstStyle/>
          <a:p>
            <a:pPr algn="l">
              <a:spcBef>
                <a:spcPts val="0"/>
              </a:spcBef>
              <a:spcAft>
                <a:spcPts val="0"/>
              </a:spcAft>
            </a:pPr>
            <a:r>
              <a:rPr sz="1450" b="1" i="0">
                <a:solidFill>
                  <a:srgbClr val="F5B53F"/>
                </a:solidFill>
                <a:latin typeface="Segoe UI"/>
                <a:ea typeface="Segoe UI"/>
                <a:cs typeface="Segoe UI"/>
              </a:rPr>
              <a:t>—  </a:t>
            </a:r>
            <a:r>
              <a:rPr sz="1450" b="0" i="0">
                <a:solidFill>
                  <a:srgbClr val="EEF3F8"/>
                </a:solidFill>
                <a:latin typeface="Segoe UI"/>
                <a:ea typeface="Segoe UI"/>
                <a:cs typeface="Segoe UI"/>
              </a:rPr>
              <a:t>1.03 billion MFS transactions in one month</a:t>
            </a:r>
          </a:p>
        </p:txBody>
      </p:sp>
      <p:sp>
        <p:nvSpPr>
          <p:cNvPr id="22" name="TextBox 21"/>
          <p:cNvSpPr txBox="1"/>
          <p:nvPr/>
        </p:nvSpPr>
        <p:spPr>
          <a:xfrm>
            <a:off x="2159508" y="4553712"/>
            <a:ext cx="9373819" cy="457200"/>
          </a:xfrm>
          <a:prstGeom prst="rect">
            <a:avLst/>
          </a:prstGeom>
          <a:noFill/>
        </p:spPr>
        <p:txBody>
          <a:bodyPr wrap="square" lIns="0" rIns="0" tIns="0" bIns="0" anchor="t">
            <a:spAutoFit/>
          </a:bodyPr>
          <a:lstStyle/>
          <a:p>
            <a:pPr algn="l">
              <a:spcBef>
                <a:spcPts val="0"/>
              </a:spcBef>
              <a:spcAft>
                <a:spcPts val="0"/>
              </a:spcAft>
            </a:pPr>
            <a:r>
              <a:rPr sz="1450" b="1" i="0">
                <a:solidFill>
                  <a:srgbClr val="F5B53F"/>
                </a:solidFill>
                <a:latin typeface="Segoe UI"/>
                <a:ea typeface="Segoe UI"/>
                <a:cs typeface="Segoe UI"/>
              </a:rPr>
              <a:t>—  </a:t>
            </a:r>
            <a:r>
              <a:rPr sz="1450" b="0" i="0">
                <a:solidFill>
                  <a:srgbClr val="EEF3F8"/>
                </a:solidFill>
                <a:latin typeface="Segoe UI"/>
                <a:ea typeface="Segoe UI"/>
                <a:cs typeface="Segoe UI"/>
              </a:rPr>
              <a:t>130.2M MFS accounts are rural</a:t>
            </a:r>
          </a:p>
        </p:txBody>
      </p:sp>
      <p:sp>
        <p:nvSpPr>
          <p:cNvPr id="23" name="TextBox 22"/>
          <p:cNvSpPr txBox="1"/>
          <p:nvPr/>
        </p:nvSpPr>
        <p:spPr>
          <a:xfrm>
            <a:off x="2159508" y="5010912"/>
            <a:ext cx="9373819" cy="457200"/>
          </a:xfrm>
          <a:prstGeom prst="rect">
            <a:avLst/>
          </a:prstGeom>
          <a:noFill/>
        </p:spPr>
        <p:txBody>
          <a:bodyPr wrap="square" lIns="0" rIns="0" tIns="0" bIns="0" anchor="t">
            <a:spAutoFit/>
          </a:bodyPr>
          <a:lstStyle/>
          <a:p>
            <a:pPr algn="l">
              <a:spcBef>
                <a:spcPts val="0"/>
              </a:spcBef>
              <a:spcAft>
                <a:spcPts val="0"/>
              </a:spcAft>
            </a:pPr>
            <a:r>
              <a:rPr sz="1450" b="1" i="0">
                <a:solidFill>
                  <a:srgbClr val="F5B53F"/>
                </a:solidFill>
                <a:latin typeface="Segoe UI"/>
                <a:ea typeface="Segoe UI"/>
                <a:cs typeface="Segoe UI"/>
              </a:rPr>
              <a:t>—  </a:t>
            </a:r>
            <a:r>
              <a:rPr sz="1450" b="1" i="0">
                <a:solidFill>
                  <a:srgbClr val="EEF3F8"/>
                </a:solidFill>
                <a:latin typeface="Segoe UI"/>
                <a:ea typeface="Segoe UI"/>
                <a:cs typeface="Segoe UI"/>
              </a:rPr>
              <a:t>68M subscribers are still outside 4G — so the defence cannot live in the cloud</a:t>
            </a:r>
          </a:p>
        </p:txBody>
      </p:sp>
      <p:sp>
        <p:nvSpPr>
          <p:cNvPr id="24" name="TextBox 23"/>
          <p:cNvSpPr txBox="1"/>
          <p:nvPr/>
        </p:nvSpPr>
        <p:spPr>
          <a:xfrm>
            <a:off x="2159508" y="5614416"/>
            <a:ext cx="9373819" cy="274320"/>
          </a:xfrm>
          <a:prstGeom prst="rect">
            <a:avLst/>
          </a:prstGeom>
          <a:noFill/>
        </p:spPr>
        <p:txBody>
          <a:bodyPr wrap="square" lIns="0" rIns="0" tIns="0" bIns="0" anchor="t">
            <a:spAutoFit/>
          </a:bodyPr>
          <a:lstStyle/>
          <a:p>
            <a:pPr algn="l">
              <a:spcBef>
                <a:spcPts val="0"/>
              </a:spcBef>
              <a:spcAft>
                <a:spcPts val="0"/>
              </a:spcAft>
            </a:pPr>
            <a:r>
              <a:rPr sz="950" b="0" i="1">
                <a:solidFill>
                  <a:srgbClr val="93A6BA"/>
                </a:solidFill>
                <a:latin typeface="Segoe UI"/>
                <a:ea typeface="Segoe UI"/>
                <a:cs typeface="Segoe UI"/>
              </a:rPr>
              <a:t>Bangladesh Bank MFS statistics (July 2026) · BTRC mobile subscribers (August 2026) · links and what is calculated: Appendix A1</a:t>
            </a:r>
          </a:p>
        </p:txBody>
      </p:sp>
      <p:sp>
        <p:nvSpPr>
          <p:cNvPr id="25" name="Rounded Rectangle 24"/>
          <p:cNvSpPr/>
          <p:nvPr/>
        </p:nvSpPr>
        <p:spPr>
          <a:xfrm>
            <a:off x="658368" y="5897880"/>
            <a:ext cx="10874959" cy="457200"/>
          </a:xfrm>
          <a:prstGeom prst="roundRect">
            <a:avLst>
              <a:gd name="adj" fmla="val 1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897880"/>
            <a:ext cx="10362895" cy="457200"/>
          </a:xfrm>
          <a:prstGeom prst="rect">
            <a:avLst/>
          </a:prstGeom>
          <a:noFill/>
        </p:spPr>
        <p:txBody>
          <a:bodyPr wrap="square" lIns="0" rIns="0" tIns="0" bIns="0" anchor="ctr">
            <a:spAutoFit/>
          </a:bodyPr>
          <a:lstStyle/>
          <a:p>
            <a:pPr algn="l">
              <a:spcBef>
                <a:spcPts val="0"/>
              </a:spcBef>
              <a:spcAft>
                <a:spcPts val="0"/>
              </a:spcAft>
            </a:pPr>
            <a:r>
              <a:rPr sz="1450" b="1" i="0">
                <a:solidFill>
                  <a:srgbClr val="F5B53F"/>
                </a:solidFill>
                <a:latin typeface="Segoe UI"/>
                <a:ea typeface="Segoe UI"/>
                <a:cs typeface="Segoe UI"/>
              </a:rPr>
              <a:t>The buyer is not the victim:  </a:t>
            </a:r>
            <a:r>
              <a:rPr sz="1450" b="0" i="0">
                <a:solidFill>
                  <a:srgbClr val="EEF3F8"/>
                </a:solidFill>
                <a:latin typeface="Segoe UI"/>
                <a:ea typeface="Segoe UI"/>
                <a:cs typeface="Segoe UI"/>
              </a:rPr>
              <a:t>a parent loses the money, Grameenphone loses the trust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THE SOLUTION</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5 / 10</a:t>
            </a:r>
          </a:p>
        </p:txBody>
      </p:sp>
      <p:sp>
        <p:nvSpPr>
          <p:cNvPr id="6" name="TextBox 5"/>
          <p:cNvSpPr txBox="1"/>
          <p:nvPr/>
        </p:nvSpPr>
        <p:spPr>
          <a:xfrm>
            <a:off x="658368" y="1517904"/>
            <a:ext cx="7498079" cy="548640"/>
          </a:xfrm>
          <a:prstGeom prst="rect">
            <a:avLst/>
          </a:prstGeom>
          <a:noFill/>
        </p:spPr>
        <p:txBody>
          <a:bodyPr wrap="square" lIns="0" rIns="0" tIns="0" bIns="0" anchor="t">
            <a:spAutoFit/>
          </a:bodyPr>
          <a:lstStyle/>
          <a:p>
            <a:pPr algn="l">
              <a:spcBef>
                <a:spcPts val="0"/>
              </a:spcBef>
              <a:spcAft>
                <a:spcPts val="0"/>
              </a:spcAft>
            </a:pPr>
            <a:r>
              <a:rPr sz="2700" b="1" i="0">
                <a:solidFill>
                  <a:srgbClr val="EEF3F8"/>
                </a:solidFill>
                <a:latin typeface="Segoe UI"/>
                <a:ea typeface="Segoe UI"/>
                <a:cs typeface="Segoe UI"/>
              </a:rPr>
              <a:t>Four moments. One defence.</a:t>
            </a:r>
          </a:p>
        </p:txBody>
      </p:sp>
      <p:sp>
        <p:nvSpPr>
          <p:cNvPr id="7" name="Rounded Rectangle 6"/>
          <p:cNvSpPr/>
          <p:nvPr/>
        </p:nvSpPr>
        <p:spPr>
          <a:xfrm>
            <a:off x="8241487" y="1536192"/>
            <a:ext cx="3291840" cy="384048"/>
          </a:xfrm>
          <a:prstGeom prst="roundRect">
            <a:avLst>
              <a:gd name="adj" fmla="val 50000"/>
            </a:avLst>
          </a:prstGeom>
          <a:noFill/>
          <a:ln w="15875">
            <a:solidFill>
              <a:srgbClr val="4FD6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4FD6A8"/>
                </a:solidFill>
                <a:latin typeface="Segoe UI"/>
                <a:ea typeface="Segoe UI"/>
                <a:cs typeface="Segoe UI"/>
              </a:rPr>
              <a:t>captured from the live prototype</a:t>
            </a:r>
          </a:p>
        </p:txBody>
      </p:sp>
      <p:pic>
        <p:nvPicPr>
          <p:cNvPr id="8" name="Picture 7" descr="precall.png"/>
          <p:cNvPicPr>
            <a:picLocks noChangeAspect="1"/>
          </p:cNvPicPr>
          <p:nvPr/>
        </p:nvPicPr>
        <p:blipFill>
          <a:blip r:embed="rId2"/>
          <a:stretch>
            <a:fillRect/>
          </a:stretch>
        </p:blipFill>
        <p:spPr>
          <a:xfrm>
            <a:off x="1179537" y="2103120"/>
            <a:ext cx="1511808" cy="2926080"/>
          </a:xfrm>
          <a:prstGeom prst="rect">
            <a:avLst/>
          </a:prstGeom>
        </p:spPr>
      </p:pic>
      <p:sp>
        <p:nvSpPr>
          <p:cNvPr id="9" name="TextBox 8"/>
          <p:cNvSpPr txBox="1"/>
          <p:nvPr/>
        </p:nvSpPr>
        <p:spPr>
          <a:xfrm>
            <a:off x="658368" y="5157216"/>
            <a:ext cx="2554147" cy="685800"/>
          </a:xfrm>
          <a:prstGeom prst="rect">
            <a:avLst/>
          </a:prstGeom>
          <a:noFill/>
        </p:spPr>
        <p:txBody>
          <a:bodyPr wrap="square" lIns="0" rIns="0" tIns="0" bIns="0" anchor="t">
            <a:spAutoFit/>
          </a:bodyPr>
          <a:lstStyle/>
          <a:p>
            <a:pPr algn="ctr">
              <a:spcBef>
                <a:spcPts val="0"/>
              </a:spcBef>
              <a:spcAft>
                <a:spcPts val="400"/>
              </a:spcAft>
            </a:pPr>
            <a:r>
              <a:rPr sz="1400" b="1" i="0">
                <a:solidFill>
                  <a:srgbClr val="F5B53F"/>
                </a:solidFill>
                <a:latin typeface="Nirmala UI"/>
                <a:ea typeface="Nirmala UI"/>
                <a:cs typeface="Nirmala UI"/>
              </a:rPr>
              <a:t>১  </a:t>
            </a:r>
            <a:r>
              <a:rPr sz="1700" b="1" i="0">
                <a:solidFill>
                  <a:srgbClr val="EEF3F8"/>
                </a:solidFill>
                <a:latin typeface="Nirmala UI"/>
                <a:ea typeface="Nirmala UI"/>
                <a:cs typeface="Nirmala UI"/>
              </a:rPr>
              <a:t>কলের আগে</a:t>
            </a:r>
          </a:p>
          <a:p>
            <a:pPr algn="ctr">
              <a:spcBef>
                <a:spcPts val="0"/>
              </a:spcBef>
              <a:spcAft>
                <a:spcPts val="0"/>
              </a:spcAft>
            </a:pPr>
            <a:r>
              <a:rPr sz="1200" b="0" i="0">
                <a:solidFill>
                  <a:srgbClr val="93A6BA"/>
                </a:solidFill>
                <a:latin typeface="Segoe UI"/>
                <a:ea typeface="Segoe UI"/>
                <a:cs typeface="Segoe UI"/>
              </a:rPr>
              <a:t>before the call</a:t>
            </a:r>
          </a:p>
        </p:txBody>
      </p:sp>
      <p:pic>
        <p:nvPicPr>
          <p:cNvPr id="10" name="Picture 9" descr="during.png"/>
          <p:cNvPicPr>
            <a:picLocks noChangeAspect="1"/>
          </p:cNvPicPr>
          <p:nvPr/>
        </p:nvPicPr>
        <p:blipFill>
          <a:blip r:embed="rId3"/>
          <a:stretch>
            <a:fillRect/>
          </a:stretch>
        </p:blipFill>
        <p:spPr>
          <a:xfrm>
            <a:off x="3943101" y="2103120"/>
            <a:ext cx="1531888" cy="2926080"/>
          </a:xfrm>
          <a:prstGeom prst="rect">
            <a:avLst/>
          </a:prstGeom>
        </p:spPr>
      </p:pic>
      <p:sp>
        <p:nvSpPr>
          <p:cNvPr id="11" name="TextBox 10"/>
          <p:cNvSpPr txBox="1"/>
          <p:nvPr/>
        </p:nvSpPr>
        <p:spPr>
          <a:xfrm>
            <a:off x="3431971" y="5157216"/>
            <a:ext cx="2554147" cy="685800"/>
          </a:xfrm>
          <a:prstGeom prst="rect">
            <a:avLst/>
          </a:prstGeom>
          <a:noFill/>
        </p:spPr>
        <p:txBody>
          <a:bodyPr wrap="square" lIns="0" rIns="0" tIns="0" bIns="0" anchor="t">
            <a:spAutoFit/>
          </a:bodyPr>
          <a:lstStyle/>
          <a:p>
            <a:pPr algn="ctr">
              <a:spcBef>
                <a:spcPts val="0"/>
              </a:spcBef>
              <a:spcAft>
                <a:spcPts val="400"/>
              </a:spcAft>
            </a:pPr>
            <a:r>
              <a:rPr sz="1400" b="1" i="0">
                <a:solidFill>
                  <a:srgbClr val="F5B53F"/>
                </a:solidFill>
                <a:latin typeface="Nirmala UI"/>
                <a:ea typeface="Nirmala UI"/>
                <a:cs typeface="Nirmala UI"/>
              </a:rPr>
              <a:t>২  </a:t>
            </a:r>
            <a:r>
              <a:rPr sz="1700" b="1" i="0">
                <a:solidFill>
                  <a:srgbClr val="EEF3F8"/>
                </a:solidFill>
                <a:latin typeface="Nirmala UI"/>
                <a:ea typeface="Nirmala UI"/>
                <a:cs typeface="Nirmala UI"/>
              </a:rPr>
              <a:t>কলের ভেতরে</a:t>
            </a:r>
          </a:p>
          <a:p>
            <a:pPr algn="ctr">
              <a:spcBef>
                <a:spcPts val="0"/>
              </a:spcBef>
              <a:spcAft>
                <a:spcPts val="0"/>
              </a:spcAft>
            </a:pPr>
            <a:r>
              <a:rPr sz="1200" b="0" i="0">
                <a:solidFill>
                  <a:srgbClr val="93A6BA"/>
                </a:solidFill>
                <a:latin typeface="Segoe UI"/>
                <a:ea typeface="Segoe UI"/>
                <a:cs typeface="Segoe UI"/>
              </a:rPr>
              <a:t>during the call</a:t>
            </a:r>
          </a:p>
        </p:txBody>
      </p:sp>
      <p:pic>
        <p:nvPicPr>
          <p:cNvPr id="12" name="Picture 11" descr="thamun.png"/>
          <p:cNvPicPr>
            <a:picLocks noChangeAspect="1"/>
          </p:cNvPicPr>
          <p:nvPr/>
        </p:nvPicPr>
        <p:blipFill>
          <a:blip r:embed="rId4"/>
          <a:stretch>
            <a:fillRect/>
          </a:stretch>
        </p:blipFill>
        <p:spPr>
          <a:xfrm>
            <a:off x="6716705" y="2103120"/>
            <a:ext cx="1531888" cy="2926080"/>
          </a:xfrm>
          <a:prstGeom prst="rect">
            <a:avLst/>
          </a:prstGeom>
        </p:spPr>
      </p:pic>
      <p:sp>
        <p:nvSpPr>
          <p:cNvPr id="13" name="TextBox 12"/>
          <p:cNvSpPr txBox="1"/>
          <p:nvPr/>
        </p:nvSpPr>
        <p:spPr>
          <a:xfrm>
            <a:off x="6205575" y="5157216"/>
            <a:ext cx="2554147" cy="685800"/>
          </a:xfrm>
          <a:prstGeom prst="rect">
            <a:avLst/>
          </a:prstGeom>
          <a:noFill/>
        </p:spPr>
        <p:txBody>
          <a:bodyPr wrap="square" lIns="0" rIns="0" tIns="0" bIns="0" anchor="t">
            <a:spAutoFit/>
          </a:bodyPr>
          <a:lstStyle/>
          <a:p>
            <a:pPr algn="ctr">
              <a:spcBef>
                <a:spcPts val="0"/>
              </a:spcBef>
              <a:spcAft>
                <a:spcPts val="400"/>
              </a:spcAft>
            </a:pPr>
            <a:r>
              <a:rPr sz="1400" b="1" i="0">
                <a:solidFill>
                  <a:srgbClr val="F5B53F"/>
                </a:solidFill>
                <a:latin typeface="Nirmala UI"/>
                <a:ea typeface="Nirmala UI"/>
                <a:cs typeface="Nirmala UI"/>
              </a:rPr>
              <a:t>৩  </a:t>
            </a:r>
            <a:r>
              <a:rPr sz="1700" b="1" i="0">
                <a:solidFill>
                  <a:srgbClr val="EEF3F8"/>
                </a:solidFill>
                <a:latin typeface="Nirmala UI"/>
                <a:ea typeface="Nirmala UI"/>
                <a:cs typeface="Nirmala UI"/>
              </a:rPr>
              <a:t>থামুন</a:t>
            </a:r>
          </a:p>
          <a:p>
            <a:pPr algn="ctr">
              <a:spcBef>
                <a:spcPts val="0"/>
              </a:spcBef>
              <a:spcAft>
                <a:spcPts val="0"/>
              </a:spcAft>
            </a:pPr>
            <a:r>
              <a:rPr sz="1200" b="0" i="0">
                <a:solidFill>
                  <a:srgbClr val="93A6BA"/>
                </a:solidFill>
                <a:latin typeface="Segoe UI"/>
                <a:ea typeface="Segoe UI"/>
                <a:cs typeface="Segoe UI"/>
              </a:rPr>
              <a:t>the pause</a:t>
            </a:r>
          </a:p>
        </p:txBody>
      </p:sp>
      <p:pic>
        <p:nvPicPr>
          <p:cNvPr id="14" name="Picture 13" descr="after.png"/>
          <p:cNvPicPr>
            <a:picLocks noChangeAspect="1"/>
          </p:cNvPicPr>
          <p:nvPr/>
        </p:nvPicPr>
        <p:blipFill>
          <a:blip r:embed="rId5"/>
          <a:stretch>
            <a:fillRect/>
          </a:stretch>
        </p:blipFill>
        <p:spPr>
          <a:xfrm>
            <a:off x="9490308" y="2103120"/>
            <a:ext cx="1531888" cy="2926080"/>
          </a:xfrm>
          <a:prstGeom prst="rect">
            <a:avLst/>
          </a:prstGeom>
        </p:spPr>
      </p:pic>
      <p:sp>
        <p:nvSpPr>
          <p:cNvPr id="15" name="TextBox 14"/>
          <p:cNvSpPr txBox="1"/>
          <p:nvPr/>
        </p:nvSpPr>
        <p:spPr>
          <a:xfrm>
            <a:off x="8979179" y="5157216"/>
            <a:ext cx="2554147" cy="685800"/>
          </a:xfrm>
          <a:prstGeom prst="rect">
            <a:avLst/>
          </a:prstGeom>
          <a:noFill/>
        </p:spPr>
        <p:txBody>
          <a:bodyPr wrap="square" lIns="0" rIns="0" tIns="0" bIns="0" anchor="t">
            <a:spAutoFit/>
          </a:bodyPr>
          <a:lstStyle/>
          <a:p>
            <a:pPr algn="ctr">
              <a:spcBef>
                <a:spcPts val="0"/>
              </a:spcBef>
              <a:spcAft>
                <a:spcPts val="400"/>
              </a:spcAft>
            </a:pPr>
            <a:r>
              <a:rPr sz="1400" b="1" i="0">
                <a:solidFill>
                  <a:srgbClr val="F5B53F"/>
                </a:solidFill>
                <a:latin typeface="Nirmala UI"/>
                <a:ea typeface="Nirmala UI"/>
                <a:cs typeface="Nirmala UI"/>
              </a:rPr>
              <a:t>৪  </a:t>
            </a:r>
            <a:r>
              <a:rPr sz="1700" b="1" i="0">
                <a:solidFill>
                  <a:srgbClr val="EEF3F8"/>
                </a:solidFill>
                <a:latin typeface="Nirmala UI"/>
                <a:ea typeface="Nirmala UI"/>
                <a:cs typeface="Nirmala UI"/>
              </a:rPr>
              <a:t>রিপোর্ট</a:t>
            </a:r>
          </a:p>
          <a:p>
            <a:pPr algn="ctr">
              <a:spcBef>
                <a:spcPts val="0"/>
              </a:spcBef>
              <a:spcAft>
                <a:spcPts val="0"/>
              </a:spcAft>
            </a:pPr>
            <a:r>
              <a:rPr sz="1200" b="0" i="0">
                <a:solidFill>
                  <a:srgbClr val="93A6BA"/>
                </a:solidFill>
                <a:latin typeface="Segoe UI"/>
                <a:ea typeface="Segoe UI"/>
                <a:cs typeface="Segoe UI"/>
              </a:rPr>
              <a:t>after</a:t>
            </a:r>
          </a:p>
        </p:txBody>
      </p:sp>
      <p:sp>
        <p:nvSpPr>
          <p:cNvPr id="16" name="Rounded Rectangle 15"/>
          <p:cNvSpPr/>
          <p:nvPr/>
        </p:nvSpPr>
        <p:spPr>
          <a:xfrm>
            <a:off x="658368" y="5779008"/>
            <a:ext cx="10874959" cy="475488"/>
          </a:xfrm>
          <a:prstGeom prst="roundRect">
            <a:avLst>
              <a:gd name="adj" fmla="val 1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79008"/>
            <a:ext cx="10362895" cy="475488"/>
          </a:xfrm>
          <a:prstGeom prst="rect">
            <a:avLst/>
          </a:prstGeom>
          <a:noFill/>
        </p:spPr>
        <p:txBody>
          <a:bodyPr wrap="square" lIns="0" rIns="0" tIns="0" bIns="0" anchor="ctr">
            <a:spAutoFit/>
          </a:bodyPr>
          <a:lstStyle/>
          <a:p>
            <a:pPr algn="l">
              <a:spcBef>
                <a:spcPts val="0"/>
              </a:spcBef>
              <a:spcAft>
                <a:spcPts val="0"/>
              </a:spcAft>
            </a:pPr>
            <a:r>
              <a:rPr sz="1600" b="1" i="0">
                <a:solidFill>
                  <a:srgbClr val="F5B53F"/>
                </a:solidFill>
                <a:latin typeface="Segoe UI"/>
                <a:ea typeface="Segoe UI"/>
                <a:cs typeface="Segoe UI"/>
              </a:rPr>
              <a:t>Two of the four need no smartphone at all.</a:t>
            </a:r>
            <a:r>
              <a:rPr sz="1500" b="0" i="0">
                <a:solidFill>
                  <a:srgbClr val="93A6BA"/>
                </a:solidFill>
                <a:latin typeface="Segoe UI"/>
                <a:ea typeface="Segoe UI"/>
                <a:cs typeface="Segoe UI"/>
              </a:rPr>
              <a:t>  They happen in the network.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THE INTERVENTION</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6 / 10</a:t>
            </a:r>
          </a:p>
        </p:txBody>
      </p:sp>
      <p:pic>
        <p:nvPicPr>
          <p:cNvPr id="6" name="Picture 5" descr="thamun.png"/>
          <p:cNvPicPr>
            <a:picLocks noChangeAspect="1"/>
          </p:cNvPicPr>
          <p:nvPr/>
        </p:nvPicPr>
        <p:blipFill>
          <a:blip r:embed="rId2"/>
          <a:stretch>
            <a:fillRect/>
          </a:stretch>
        </p:blipFill>
        <p:spPr>
          <a:xfrm>
            <a:off x="9187622" y="1572768"/>
            <a:ext cx="2345704" cy="4480560"/>
          </a:xfrm>
          <a:prstGeom prst="rect">
            <a:avLst/>
          </a:prstGeom>
        </p:spPr>
      </p:pic>
      <p:sp>
        <p:nvSpPr>
          <p:cNvPr id="7" name="TextBox 6"/>
          <p:cNvSpPr txBox="1"/>
          <p:nvPr/>
        </p:nvSpPr>
        <p:spPr>
          <a:xfrm>
            <a:off x="8913302" y="6089904"/>
            <a:ext cx="2894344" cy="237744"/>
          </a:xfrm>
          <a:prstGeom prst="rect">
            <a:avLst/>
          </a:prstGeom>
          <a:noFill/>
        </p:spPr>
        <p:txBody>
          <a:bodyPr wrap="square" lIns="0" rIns="0" tIns="0" bIns="0" anchor="t">
            <a:spAutoFit/>
          </a:bodyPr>
          <a:lstStyle/>
          <a:p>
            <a:pPr algn="ctr">
              <a:spcBef>
                <a:spcPts val="0"/>
              </a:spcBef>
              <a:spcAft>
                <a:spcPts val="0"/>
              </a:spcAft>
            </a:pPr>
            <a:r>
              <a:rPr sz="1050" b="0" i="1">
                <a:solidFill>
                  <a:srgbClr val="93A6BA"/>
                </a:solidFill>
                <a:latin typeface="Segoe UI"/>
                <a:ea typeface="Segoe UI"/>
                <a:cs typeface="Segoe UI"/>
              </a:rPr>
              <a:t>live capture · risk 100/100</a:t>
            </a:r>
          </a:p>
        </p:txBody>
      </p:sp>
      <p:sp>
        <p:nvSpPr>
          <p:cNvPr id="8" name="TextBox 7"/>
          <p:cNvSpPr txBox="1"/>
          <p:nvPr/>
        </p:nvSpPr>
        <p:spPr>
          <a:xfrm>
            <a:off x="658368" y="1481328"/>
            <a:ext cx="7980614" cy="914400"/>
          </a:xfrm>
          <a:prstGeom prst="rect">
            <a:avLst/>
          </a:prstGeom>
          <a:noFill/>
        </p:spPr>
        <p:txBody>
          <a:bodyPr wrap="square" lIns="0" rIns="0" tIns="0" bIns="0" anchor="t">
            <a:spAutoFit/>
          </a:bodyPr>
          <a:lstStyle/>
          <a:p>
            <a:pPr algn="l">
              <a:spcBef>
                <a:spcPts val="0"/>
              </a:spcBef>
              <a:spcAft>
                <a:spcPts val="0"/>
              </a:spcAft>
            </a:pPr>
            <a:r>
              <a:rPr sz="5800" b="1" i="0">
                <a:solidFill>
                  <a:srgbClr val="FF4D43"/>
                </a:solidFill>
                <a:latin typeface="Nirmala UI"/>
                <a:ea typeface="Nirmala UI"/>
                <a:cs typeface="Nirmala UI"/>
              </a:rPr>
              <a:t>থামুন</a:t>
            </a:r>
          </a:p>
        </p:txBody>
      </p:sp>
      <p:sp>
        <p:nvSpPr>
          <p:cNvPr id="9" name="TextBox 8"/>
          <p:cNvSpPr txBox="1"/>
          <p:nvPr/>
        </p:nvSpPr>
        <p:spPr>
          <a:xfrm>
            <a:off x="658368" y="2505456"/>
            <a:ext cx="7980614" cy="310896"/>
          </a:xfrm>
          <a:prstGeom prst="rect">
            <a:avLst/>
          </a:prstGeom>
          <a:noFill/>
        </p:spPr>
        <p:txBody>
          <a:bodyPr wrap="square" lIns="0" rIns="0" tIns="0" bIns="0" anchor="t">
            <a:spAutoFit/>
          </a:bodyPr>
          <a:lstStyle/>
          <a:p>
            <a:pPr algn="l">
              <a:spcBef>
                <a:spcPts val="0"/>
              </a:spcBef>
              <a:spcAft>
                <a:spcPts val="0"/>
              </a:spcAft>
            </a:pPr>
            <a:r>
              <a:rPr sz="1500" b="0" i="0">
                <a:solidFill>
                  <a:srgbClr val="93A6BA"/>
                </a:solidFill>
                <a:latin typeface="Segoe UI"/>
                <a:ea typeface="Segoe UI"/>
                <a:cs typeface="Segoe UI"/>
              </a:rPr>
              <a:t>One question. Three buttons.</a:t>
            </a:r>
          </a:p>
        </p:txBody>
      </p:sp>
      <p:sp>
        <p:nvSpPr>
          <p:cNvPr id="10" name="Rounded Rectangle 9"/>
          <p:cNvSpPr/>
          <p:nvPr/>
        </p:nvSpPr>
        <p:spPr>
          <a:xfrm>
            <a:off x="658368" y="3072384"/>
            <a:ext cx="5760720" cy="566928"/>
          </a:xfrm>
          <a:prstGeom prst="roundRect">
            <a:avLst>
              <a:gd name="adj" fmla="val 16000"/>
            </a:avLst>
          </a:prstGeom>
          <a:solidFill>
            <a:srgbClr val="18212D"/>
          </a:solidFill>
          <a:ln w="15875">
            <a:solidFill>
              <a:srgbClr val="4FD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072384"/>
            <a:ext cx="2194560" cy="566928"/>
          </a:xfrm>
          <a:prstGeom prst="rect">
            <a:avLst/>
          </a:prstGeom>
          <a:noFill/>
        </p:spPr>
        <p:txBody>
          <a:bodyPr wrap="square" lIns="0" rIns="0" tIns="0" bIns="0" anchor="ctr">
            <a:spAutoFit/>
          </a:bodyPr>
          <a:lstStyle/>
          <a:p>
            <a:pPr algn="l">
              <a:spcBef>
                <a:spcPts val="0"/>
              </a:spcBef>
              <a:spcAft>
                <a:spcPts val="0"/>
              </a:spcAft>
            </a:pPr>
            <a:r>
              <a:rPr sz="1700" b="1" i="0">
                <a:solidFill>
                  <a:srgbClr val="EEF3F8"/>
                </a:solidFill>
                <a:latin typeface="Nirmala UI"/>
                <a:ea typeface="Nirmala UI"/>
                <a:cs typeface="Nirmala UI"/>
              </a:rPr>
              <a:t>যাচাই করুন</a:t>
            </a:r>
          </a:p>
        </p:txBody>
      </p:sp>
      <p:sp>
        <p:nvSpPr>
          <p:cNvPr id="12" name="TextBox 11"/>
          <p:cNvSpPr txBox="1"/>
          <p:nvPr/>
        </p:nvSpPr>
        <p:spPr>
          <a:xfrm>
            <a:off x="3200400" y="3072384"/>
            <a:ext cx="3108960" cy="566928"/>
          </a:xfrm>
          <a:prstGeom prst="rect">
            <a:avLst/>
          </a:prstGeom>
          <a:noFill/>
        </p:spPr>
        <p:txBody>
          <a:bodyPr wrap="square" lIns="0" rIns="0" tIns="0" bIns="0" anchor="ctr">
            <a:spAutoFit/>
          </a:bodyPr>
          <a:lstStyle/>
          <a:p>
            <a:pPr algn="l">
              <a:spcBef>
                <a:spcPts val="0"/>
              </a:spcBef>
              <a:spcAft>
                <a:spcPts val="0"/>
              </a:spcAft>
            </a:pPr>
            <a:r>
              <a:rPr sz="1150" b="0" i="0">
                <a:solidFill>
                  <a:srgbClr val="4FD6A8"/>
                </a:solidFill>
                <a:latin typeface="Segoe UI"/>
                <a:ea typeface="Segoe UI"/>
                <a:cs typeface="Segoe UI"/>
              </a:rPr>
              <a:t>we dial the verification number for you</a:t>
            </a:r>
          </a:p>
        </p:txBody>
      </p:sp>
      <p:sp>
        <p:nvSpPr>
          <p:cNvPr id="13" name="Rounded Rectangle 12"/>
          <p:cNvSpPr/>
          <p:nvPr/>
        </p:nvSpPr>
        <p:spPr>
          <a:xfrm>
            <a:off x="658368" y="3730752"/>
            <a:ext cx="5760720" cy="566928"/>
          </a:xfrm>
          <a:prstGeom prst="roundRect">
            <a:avLst>
              <a:gd name="adj" fmla="val 16000"/>
            </a:avLst>
          </a:prstGeom>
          <a:solidFill>
            <a:srgbClr val="18212D"/>
          </a:solidFill>
          <a:ln w="15875">
            <a:solidFill>
              <a:srgbClr val="4FD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730752"/>
            <a:ext cx="2194560" cy="566928"/>
          </a:xfrm>
          <a:prstGeom prst="rect">
            <a:avLst/>
          </a:prstGeom>
          <a:noFill/>
        </p:spPr>
        <p:txBody>
          <a:bodyPr wrap="square" lIns="0" rIns="0" tIns="0" bIns="0" anchor="ctr">
            <a:spAutoFit/>
          </a:bodyPr>
          <a:lstStyle/>
          <a:p>
            <a:pPr algn="l">
              <a:spcBef>
                <a:spcPts val="0"/>
              </a:spcBef>
              <a:spcAft>
                <a:spcPts val="0"/>
              </a:spcAft>
            </a:pPr>
            <a:r>
              <a:rPr sz="1700" b="1" i="0">
                <a:solidFill>
                  <a:srgbClr val="EEF3F8"/>
                </a:solidFill>
                <a:latin typeface="Nirmala UI"/>
                <a:ea typeface="Nirmala UI"/>
                <a:cs typeface="Nirmala UI"/>
              </a:rPr>
              <a:t>পরিবারকে ফোন</a:t>
            </a:r>
          </a:p>
        </p:txBody>
      </p:sp>
      <p:sp>
        <p:nvSpPr>
          <p:cNvPr id="15" name="TextBox 14"/>
          <p:cNvSpPr txBox="1"/>
          <p:nvPr/>
        </p:nvSpPr>
        <p:spPr>
          <a:xfrm>
            <a:off x="3200400" y="3730752"/>
            <a:ext cx="3108960" cy="566928"/>
          </a:xfrm>
          <a:prstGeom prst="rect">
            <a:avLst/>
          </a:prstGeom>
          <a:noFill/>
        </p:spPr>
        <p:txBody>
          <a:bodyPr wrap="square" lIns="0" rIns="0" tIns="0" bIns="0" anchor="ctr">
            <a:spAutoFit/>
          </a:bodyPr>
          <a:lstStyle/>
          <a:p>
            <a:pPr algn="l">
              <a:spcBef>
                <a:spcPts val="0"/>
              </a:spcBef>
              <a:spcAft>
                <a:spcPts val="0"/>
              </a:spcAft>
            </a:pPr>
            <a:r>
              <a:rPr sz="1150" b="0" i="0">
                <a:solidFill>
                  <a:srgbClr val="4FD6A8"/>
                </a:solidFill>
                <a:latin typeface="Segoe UI"/>
                <a:ea typeface="Segoe UI"/>
                <a:cs typeface="Segoe UI"/>
              </a:rPr>
              <a:t>the family you already saved, one tap</a:t>
            </a:r>
          </a:p>
        </p:txBody>
      </p:sp>
      <p:sp>
        <p:nvSpPr>
          <p:cNvPr id="16" name="Rounded Rectangle 15"/>
          <p:cNvSpPr/>
          <p:nvPr/>
        </p:nvSpPr>
        <p:spPr>
          <a:xfrm>
            <a:off x="658368" y="4389120"/>
            <a:ext cx="5760720" cy="566928"/>
          </a:xfrm>
          <a:prstGeom prst="roundRect">
            <a:avLst>
              <a:gd name="adj" fmla="val 16000"/>
            </a:avLst>
          </a:prstGeom>
          <a:solidFill>
            <a:srgbClr val="18212D"/>
          </a:solidFill>
          <a:ln w="15875">
            <a:solidFill>
              <a:srgbClr val="93A6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389120"/>
            <a:ext cx="2194560" cy="566928"/>
          </a:xfrm>
          <a:prstGeom prst="rect">
            <a:avLst/>
          </a:prstGeom>
          <a:noFill/>
        </p:spPr>
        <p:txBody>
          <a:bodyPr wrap="square" lIns="0" rIns="0" tIns="0" bIns="0" anchor="ctr">
            <a:spAutoFit/>
          </a:bodyPr>
          <a:lstStyle/>
          <a:p>
            <a:pPr algn="l">
              <a:spcBef>
                <a:spcPts val="0"/>
              </a:spcBef>
              <a:spcAft>
                <a:spcPts val="0"/>
              </a:spcAft>
            </a:pPr>
            <a:r>
              <a:rPr sz="1700" b="1" i="0">
                <a:solidFill>
                  <a:srgbClr val="EEF3F8"/>
                </a:solidFill>
                <a:latin typeface="Nirmala UI"/>
                <a:ea typeface="Nirmala UI"/>
                <a:cs typeface="Nirmala UI"/>
              </a:rPr>
              <a:t>আমি জানি</a:t>
            </a:r>
          </a:p>
        </p:txBody>
      </p:sp>
      <p:sp>
        <p:nvSpPr>
          <p:cNvPr id="18" name="TextBox 17"/>
          <p:cNvSpPr txBox="1"/>
          <p:nvPr/>
        </p:nvSpPr>
        <p:spPr>
          <a:xfrm>
            <a:off x="3200400" y="4389120"/>
            <a:ext cx="3108960" cy="566928"/>
          </a:xfrm>
          <a:prstGeom prst="rect">
            <a:avLst/>
          </a:prstGeom>
          <a:noFill/>
        </p:spPr>
        <p:txBody>
          <a:bodyPr wrap="square" lIns="0" rIns="0" tIns="0" bIns="0" anchor="ctr">
            <a:spAutoFit/>
          </a:bodyPr>
          <a:lstStyle/>
          <a:p>
            <a:pPr algn="l">
              <a:spcBef>
                <a:spcPts val="0"/>
              </a:spcBef>
              <a:spcAft>
                <a:spcPts val="0"/>
              </a:spcAft>
            </a:pPr>
            <a:r>
              <a:rPr sz="1150" b="0" i="0">
                <a:solidFill>
                  <a:srgbClr val="93A6BA"/>
                </a:solidFill>
                <a:latin typeface="Segoe UI"/>
                <a:ea typeface="Segoe UI"/>
                <a:cs typeface="Segoe UI"/>
              </a:rPr>
              <a:t>the user decides — and it is still reported</a:t>
            </a:r>
          </a:p>
        </p:txBody>
      </p:sp>
      <p:sp>
        <p:nvSpPr>
          <p:cNvPr id="19" name="TextBox 18"/>
          <p:cNvSpPr txBox="1"/>
          <p:nvPr/>
        </p:nvSpPr>
        <p:spPr>
          <a:xfrm>
            <a:off x="658368" y="5230368"/>
            <a:ext cx="7980614" cy="548640"/>
          </a:xfrm>
          <a:prstGeom prst="rect">
            <a:avLst/>
          </a:prstGeom>
          <a:noFill/>
        </p:spPr>
        <p:txBody>
          <a:bodyPr wrap="square" lIns="0" rIns="0" tIns="0" bIns="0" anchor="t">
            <a:spAutoFit/>
          </a:bodyPr>
          <a:lstStyle/>
          <a:p>
            <a:pPr algn="l">
              <a:spcBef>
                <a:spcPts val="0"/>
              </a:spcBef>
              <a:spcAft>
                <a:spcPts val="0"/>
              </a:spcAft>
            </a:pPr>
            <a:r>
              <a:rPr sz="3000" b="1" i="0">
                <a:solidFill>
                  <a:srgbClr val="F5B53F"/>
                </a:solidFill>
                <a:latin typeface="Segoe UI"/>
                <a:ea typeface="Segoe UI"/>
                <a:cs typeface="Segoe UI"/>
              </a:rPr>
              <a:t>Warn. Never block.</a:t>
            </a:r>
          </a:p>
        </p:txBody>
      </p:sp>
      <p:sp>
        <p:nvSpPr>
          <p:cNvPr id="20" name="TextBox 19"/>
          <p:cNvSpPr txBox="1"/>
          <p:nvPr/>
        </p:nvSpPr>
        <p:spPr>
          <a:xfrm>
            <a:off x="658368" y="5815584"/>
            <a:ext cx="7980614" cy="384048"/>
          </a:xfrm>
          <a:prstGeom prst="rect">
            <a:avLst/>
          </a:prstGeom>
          <a:noFill/>
        </p:spPr>
        <p:txBody>
          <a:bodyPr wrap="square" lIns="0" rIns="0" tIns="0" bIns="0" anchor="t">
            <a:spAutoFit/>
          </a:bodyPr>
          <a:lstStyle/>
          <a:p>
            <a:pPr algn="l">
              <a:spcBef>
                <a:spcPts val="0"/>
              </a:spcBef>
              <a:spcAft>
                <a:spcPts val="0"/>
              </a:spcAft>
            </a:pPr>
            <a:r>
              <a:rPr sz="1500" b="0" i="0">
                <a:solidFill>
                  <a:srgbClr val="93A6BA"/>
                </a:solidFill>
                <a:latin typeface="Segoe UI"/>
                <a:ea typeface="Segoe UI"/>
                <a:cs typeface="Segoe UI"/>
              </a:rPr>
              <a:t>Wrong:  </a:t>
            </a:r>
            <a:r>
              <a:rPr sz="1500" b="1" i="0">
                <a:solidFill>
                  <a:srgbClr val="EEF3F8"/>
                </a:solidFill>
                <a:latin typeface="Segoe UI"/>
                <a:ea typeface="Segoe UI"/>
                <a:cs typeface="Segoe UI"/>
              </a:rPr>
              <a:t>one screen.</a:t>
            </a:r>
            <a:r>
              <a:rPr sz="1500" b="0" i="0">
                <a:solidFill>
                  <a:srgbClr val="93A6BA"/>
                </a:solidFill>
                <a:latin typeface="Segoe UI"/>
                <a:ea typeface="Segoe UI"/>
                <a:cs typeface="Segoe UI"/>
              </a:rPr>
              <a:t>      Right:  </a:t>
            </a:r>
            <a:r>
              <a:rPr sz="1500" b="1" i="0">
                <a:solidFill>
                  <a:srgbClr val="4FD6A8"/>
                </a:solidFill>
                <a:latin typeface="Segoe UI"/>
                <a:ea typeface="Segoe UI"/>
                <a:cs typeface="Segoe UI"/>
              </a:rPr>
              <a:t>Tk 30,000.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AI APPLICATION &amp; TECHNICAL RATIONALE</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7 / 10</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2700" b="1" i="0">
                <a:solidFill>
                  <a:srgbClr val="F5B53F"/>
                </a:solidFill>
                <a:latin typeface="Segoe UI"/>
                <a:ea typeface="Segoe UI"/>
                <a:cs typeface="Segoe UI"/>
              </a:rPr>
              <a:t>Intent</a:t>
            </a:r>
            <a:r>
              <a:rPr sz="2700" b="1" i="0">
                <a:solidFill>
                  <a:srgbClr val="EEF3F8"/>
                </a:solidFill>
                <a:latin typeface="Segoe UI"/>
                <a:ea typeface="Segoe UI"/>
                <a:cs typeface="Segoe UI"/>
              </a:rPr>
              <a:t>, not a word list.</a:t>
            </a:r>
          </a:p>
        </p:txBody>
      </p:sp>
      <p:sp>
        <p:nvSpPr>
          <p:cNvPr id="7" name="TextBox 6"/>
          <p:cNvSpPr txBox="1"/>
          <p:nvPr/>
        </p:nvSpPr>
        <p:spPr>
          <a:xfrm>
            <a:off x="658368" y="2103120"/>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EIGHT SIGNALS</a:t>
            </a:r>
          </a:p>
        </p:txBody>
      </p:sp>
      <p:sp>
        <p:nvSpPr>
          <p:cNvPr id="8" name="Rounded Rectangle 7"/>
          <p:cNvSpPr/>
          <p:nvPr/>
        </p:nvSpPr>
        <p:spPr>
          <a:xfrm>
            <a:off x="658368" y="2377440"/>
            <a:ext cx="1014983" cy="310896"/>
          </a:xfrm>
          <a:prstGeom prst="roundRect">
            <a:avLst>
              <a:gd name="adj" fmla="val 50000"/>
            </a:avLst>
          </a:prstGeom>
          <a:solidFill>
            <a:srgbClr val="1F2A38"/>
          </a:solidFill>
          <a:ln w="1270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0" i="0">
                <a:solidFill>
                  <a:srgbClr val="F5B53F"/>
                </a:solidFill>
                <a:latin typeface="Segoe UI"/>
                <a:ea typeface="Segoe UI"/>
                <a:cs typeface="Segoe UI"/>
              </a:rPr>
              <a:t>authority</a:t>
            </a:r>
          </a:p>
        </p:txBody>
      </p:sp>
      <p:sp>
        <p:nvSpPr>
          <p:cNvPr id="9" name="Rounded Rectangle 8"/>
          <p:cNvSpPr/>
          <p:nvPr/>
        </p:nvSpPr>
        <p:spPr>
          <a:xfrm>
            <a:off x="1792223" y="2377440"/>
            <a:ext cx="932688" cy="310896"/>
          </a:xfrm>
          <a:prstGeom prst="roundRect">
            <a:avLst>
              <a:gd name="adj" fmla="val 50000"/>
            </a:avLst>
          </a:prstGeom>
          <a:solidFill>
            <a:srgbClr val="1F2A38"/>
          </a:solidFill>
          <a:ln w="1270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0" i="0">
                <a:solidFill>
                  <a:srgbClr val="F5B53F"/>
                </a:solidFill>
                <a:latin typeface="Segoe UI"/>
                <a:ea typeface="Segoe UI"/>
                <a:cs typeface="Segoe UI"/>
              </a:rPr>
              <a:t>leverage</a:t>
            </a:r>
          </a:p>
        </p:txBody>
      </p:sp>
      <p:sp>
        <p:nvSpPr>
          <p:cNvPr id="10" name="Rounded Rectangle 9"/>
          <p:cNvSpPr/>
          <p:nvPr/>
        </p:nvSpPr>
        <p:spPr>
          <a:xfrm>
            <a:off x="2843783" y="2377440"/>
            <a:ext cx="850392" cy="310896"/>
          </a:xfrm>
          <a:prstGeom prst="roundRect">
            <a:avLst>
              <a:gd name="adj" fmla="val 50000"/>
            </a:avLst>
          </a:prstGeom>
          <a:solidFill>
            <a:srgbClr val="1F2A38"/>
          </a:solidFill>
          <a:ln w="1270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0" i="0">
                <a:solidFill>
                  <a:srgbClr val="F5B53F"/>
                </a:solidFill>
                <a:latin typeface="Segoe UI"/>
                <a:ea typeface="Segoe UI"/>
                <a:cs typeface="Segoe UI"/>
              </a:rPr>
              <a:t>urgency</a:t>
            </a:r>
          </a:p>
        </p:txBody>
      </p:sp>
      <p:sp>
        <p:nvSpPr>
          <p:cNvPr id="11" name="Rounded Rectangle 10"/>
          <p:cNvSpPr/>
          <p:nvPr/>
        </p:nvSpPr>
        <p:spPr>
          <a:xfrm>
            <a:off x="3813048" y="2377440"/>
            <a:ext cx="850392" cy="310896"/>
          </a:xfrm>
          <a:prstGeom prst="roundRect">
            <a:avLst>
              <a:gd name="adj" fmla="val 50000"/>
            </a:avLst>
          </a:prstGeom>
          <a:solidFill>
            <a:srgbClr val="1F2A38"/>
          </a:solidFill>
          <a:ln w="1270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0" i="0">
                <a:solidFill>
                  <a:srgbClr val="F5B53F"/>
                </a:solidFill>
                <a:latin typeface="Segoe UI"/>
                <a:ea typeface="Segoe UI"/>
                <a:cs typeface="Segoe UI"/>
              </a:rPr>
              <a:t>secrecy</a:t>
            </a:r>
          </a:p>
        </p:txBody>
      </p:sp>
      <p:sp>
        <p:nvSpPr>
          <p:cNvPr id="12" name="Rounded Rectangle 11"/>
          <p:cNvSpPr/>
          <p:nvPr/>
        </p:nvSpPr>
        <p:spPr>
          <a:xfrm>
            <a:off x="4782312" y="2377440"/>
            <a:ext cx="1097280" cy="310896"/>
          </a:xfrm>
          <a:prstGeom prst="roundRect">
            <a:avLst>
              <a:gd name="adj" fmla="val 50000"/>
            </a:avLst>
          </a:prstGeom>
          <a:solidFill>
            <a:srgbClr val="1F2A38"/>
          </a:solidFill>
          <a:ln w="1270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0" i="0">
                <a:solidFill>
                  <a:srgbClr val="F5B53F"/>
                </a:solidFill>
                <a:latin typeface="Segoe UI"/>
                <a:ea typeface="Segoe UI"/>
                <a:cs typeface="Segoe UI"/>
              </a:rPr>
              <a:t>credential</a:t>
            </a:r>
          </a:p>
        </p:txBody>
      </p:sp>
      <p:sp>
        <p:nvSpPr>
          <p:cNvPr id="13" name="Rounded Rectangle 12"/>
          <p:cNvSpPr/>
          <p:nvPr/>
        </p:nvSpPr>
        <p:spPr>
          <a:xfrm>
            <a:off x="658368" y="2761488"/>
            <a:ext cx="850392" cy="310896"/>
          </a:xfrm>
          <a:prstGeom prst="roundRect">
            <a:avLst>
              <a:gd name="adj" fmla="val 50000"/>
            </a:avLst>
          </a:prstGeom>
          <a:solidFill>
            <a:srgbClr val="1F2A38"/>
          </a:solidFill>
          <a:ln w="1270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0" i="0">
                <a:solidFill>
                  <a:srgbClr val="F5B53F"/>
                </a:solidFill>
                <a:latin typeface="Segoe UI"/>
                <a:ea typeface="Segoe UI"/>
                <a:cs typeface="Segoe UI"/>
              </a:rPr>
              <a:t>payment</a:t>
            </a:r>
          </a:p>
        </p:txBody>
      </p:sp>
      <p:sp>
        <p:nvSpPr>
          <p:cNvPr id="14" name="Rounded Rectangle 13"/>
          <p:cNvSpPr/>
          <p:nvPr/>
        </p:nvSpPr>
        <p:spPr>
          <a:xfrm>
            <a:off x="1627632" y="2761488"/>
            <a:ext cx="768096" cy="310896"/>
          </a:xfrm>
          <a:prstGeom prst="roundRect">
            <a:avLst>
              <a:gd name="adj" fmla="val 50000"/>
            </a:avLst>
          </a:prstGeom>
          <a:solidFill>
            <a:srgbClr val="1F2A38"/>
          </a:solidFill>
          <a:ln w="1270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0" i="0">
                <a:solidFill>
                  <a:srgbClr val="F5B53F"/>
                </a:solidFill>
                <a:latin typeface="Segoe UI"/>
                <a:ea typeface="Segoe UI"/>
                <a:cs typeface="Segoe UI"/>
              </a:rPr>
              <a:t>reward</a:t>
            </a:r>
          </a:p>
        </p:txBody>
      </p:sp>
      <p:sp>
        <p:nvSpPr>
          <p:cNvPr id="15" name="Rounded Rectangle 14"/>
          <p:cNvSpPr/>
          <p:nvPr/>
        </p:nvSpPr>
        <p:spPr>
          <a:xfrm>
            <a:off x="2514600" y="2761488"/>
            <a:ext cx="850392" cy="310896"/>
          </a:xfrm>
          <a:prstGeom prst="roundRect">
            <a:avLst>
              <a:gd name="adj" fmla="val 50000"/>
            </a:avLst>
          </a:prstGeom>
          <a:solidFill>
            <a:srgbClr val="1F2A38"/>
          </a:solidFill>
          <a:ln w="1270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0" i="0">
                <a:solidFill>
                  <a:srgbClr val="F5B53F"/>
                </a:solidFill>
                <a:latin typeface="Segoe UI"/>
                <a:ea typeface="Segoe UI"/>
                <a:cs typeface="Segoe UI"/>
              </a:rPr>
              <a:t>install</a:t>
            </a:r>
          </a:p>
        </p:txBody>
      </p:sp>
      <p:sp>
        <p:nvSpPr>
          <p:cNvPr id="16" name="TextBox 15"/>
          <p:cNvSpPr txBox="1"/>
          <p:nvPr/>
        </p:nvSpPr>
        <p:spPr>
          <a:xfrm>
            <a:off x="658368" y="3273552"/>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  THE SITUATION AROUND THEM</a:t>
            </a:r>
          </a:p>
        </p:txBody>
      </p:sp>
      <p:sp>
        <p:nvSpPr>
          <p:cNvPr id="17" name="Rounded Rectangle 16"/>
          <p:cNvSpPr/>
          <p:nvPr/>
        </p:nvSpPr>
        <p:spPr>
          <a:xfrm>
            <a:off x="658368" y="3547872"/>
            <a:ext cx="1334292" cy="310896"/>
          </a:xfrm>
          <a:prstGeom prst="roundRect">
            <a:avLst>
              <a:gd name="adj" fmla="val 50000"/>
            </a:avLst>
          </a:prstGeom>
          <a:solidFill>
            <a:srgbClr val="1F2A38"/>
          </a:solidFill>
          <a:ln w="12700">
            <a:solidFill>
              <a:srgbClr val="93A6B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a:solidFill>
                  <a:srgbClr val="93A6BA"/>
                </a:solidFill>
                <a:latin typeface="Segoe UI"/>
                <a:ea typeface="Segoe UI"/>
                <a:cs typeface="Segoe UI"/>
              </a:rPr>
              <a:t>unknown caller</a:t>
            </a:r>
          </a:p>
        </p:txBody>
      </p:sp>
      <p:sp>
        <p:nvSpPr>
          <p:cNvPr id="18" name="Rounded Rectangle 17"/>
          <p:cNvSpPr/>
          <p:nvPr/>
        </p:nvSpPr>
        <p:spPr>
          <a:xfrm>
            <a:off x="2111532" y="3547872"/>
            <a:ext cx="1485717" cy="310896"/>
          </a:xfrm>
          <a:prstGeom prst="roundRect">
            <a:avLst>
              <a:gd name="adj" fmla="val 50000"/>
            </a:avLst>
          </a:prstGeom>
          <a:solidFill>
            <a:srgbClr val="1F2A38"/>
          </a:solidFill>
          <a:ln w="12700">
            <a:solidFill>
              <a:srgbClr val="93A6B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a:solidFill>
                  <a:srgbClr val="93A6BA"/>
                </a:solidFill>
                <a:latin typeface="Segoe UI"/>
                <a:ea typeface="Segoe UI"/>
                <a:cs typeface="Segoe UI"/>
              </a:rPr>
              <a:t>call in progress</a:t>
            </a:r>
          </a:p>
        </p:txBody>
      </p:sp>
      <p:sp>
        <p:nvSpPr>
          <p:cNvPr id="19" name="Rounded Rectangle 18"/>
          <p:cNvSpPr/>
          <p:nvPr/>
        </p:nvSpPr>
        <p:spPr>
          <a:xfrm>
            <a:off x="3716121" y="3547872"/>
            <a:ext cx="1334292" cy="310896"/>
          </a:xfrm>
          <a:prstGeom prst="roundRect">
            <a:avLst>
              <a:gd name="adj" fmla="val 50000"/>
            </a:avLst>
          </a:prstGeom>
          <a:solidFill>
            <a:srgbClr val="1F2A38"/>
          </a:solidFill>
          <a:ln w="12700">
            <a:solidFill>
              <a:srgbClr val="93A6B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a:solidFill>
                  <a:srgbClr val="93A6BA"/>
                </a:solidFill>
                <a:latin typeface="Segoe UI"/>
                <a:ea typeface="Segoe UI"/>
                <a:cs typeface="Segoe UI"/>
              </a:rPr>
              <a:t>first receiver</a:t>
            </a:r>
          </a:p>
        </p:txBody>
      </p:sp>
      <p:sp>
        <p:nvSpPr>
          <p:cNvPr id="20" name="Rounded Rectangle 19"/>
          <p:cNvSpPr/>
          <p:nvPr/>
        </p:nvSpPr>
        <p:spPr>
          <a:xfrm>
            <a:off x="658368" y="3931920"/>
            <a:ext cx="1334292" cy="310896"/>
          </a:xfrm>
          <a:prstGeom prst="roundRect">
            <a:avLst>
              <a:gd name="adj" fmla="val 50000"/>
            </a:avLst>
          </a:prstGeom>
          <a:solidFill>
            <a:srgbClr val="1F2A38"/>
          </a:solidFill>
          <a:ln w="12700">
            <a:solidFill>
              <a:srgbClr val="93A6B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a:solidFill>
                  <a:srgbClr val="93A6BA"/>
                </a:solidFill>
                <a:latin typeface="Segoe UI"/>
                <a:ea typeface="Segoe UI"/>
                <a:cs typeface="Segoe UI"/>
              </a:rPr>
              <a:t>unusual amount</a:t>
            </a:r>
          </a:p>
        </p:txBody>
      </p:sp>
      <p:sp>
        <p:nvSpPr>
          <p:cNvPr id="21" name="Rounded Rectangle 20"/>
          <p:cNvSpPr/>
          <p:nvPr/>
        </p:nvSpPr>
        <p:spPr>
          <a:xfrm>
            <a:off x="2111532" y="3931920"/>
            <a:ext cx="1031443" cy="310896"/>
          </a:xfrm>
          <a:prstGeom prst="roundRect">
            <a:avLst>
              <a:gd name="adj" fmla="val 50000"/>
            </a:avLst>
          </a:prstGeom>
          <a:solidFill>
            <a:srgbClr val="1F2A38"/>
          </a:solidFill>
          <a:ln w="12700">
            <a:solidFill>
              <a:srgbClr val="93A6B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a:solidFill>
                  <a:srgbClr val="93A6BA"/>
                </a:solidFill>
                <a:latin typeface="Segoe UI"/>
                <a:ea typeface="Segoe UI"/>
                <a:cs typeface="Segoe UI"/>
              </a:rPr>
              <a:t>late night</a:t>
            </a:r>
          </a:p>
        </p:txBody>
      </p:sp>
      <p:sp>
        <p:nvSpPr>
          <p:cNvPr id="22" name="Rounded Rectangle 21"/>
          <p:cNvSpPr/>
          <p:nvPr/>
        </p:nvSpPr>
        <p:spPr>
          <a:xfrm>
            <a:off x="658368" y="4498848"/>
            <a:ext cx="5623560" cy="713232"/>
          </a:xfrm>
          <a:prstGeom prst="roundRect">
            <a:avLst>
              <a:gd name="adj" fmla="val 9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4498848"/>
            <a:ext cx="5184648" cy="713232"/>
          </a:xfrm>
          <a:prstGeom prst="rect">
            <a:avLst/>
          </a:prstGeom>
          <a:noFill/>
        </p:spPr>
        <p:txBody>
          <a:bodyPr wrap="square" lIns="0" rIns="0" tIns="0" bIns="0" anchor="ctr">
            <a:spAutoFit/>
          </a:bodyPr>
          <a:lstStyle/>
          <a:p>
            <a:pPr algn="l">
              <a:spcBef>
                <a:spcPts val="0"/>
              </a:spcBef>
              <a:spcAft>
                <a:spcPts val="0"/>
              </a:spcAft>
            </a:pPr>
            <a:r>
              <a:rPr sz="1900" b="1" i="0">
                <a:solidFill>
                  <a:srgbClr val="F5B53F"/>
                </a:solidFill>
                <a:latin typeface="Segoe UI"/>
                <a:ea typeface="Segoe UI"/>
                <a:cs typeface="Segoe UI"/>
              </a:rPr>
              <a:t>risk ≥ 50</a:t>
            </a:r>
            <a:r>
              <a:rPr sz="1600" b="0" i="0">
                <a:solidFill>
                  <a:srgbClr val="93A6BA"/>
                </a:solidFill>
                <a:latin typeface="Segoe UI"/>
                <a:ea typeface="Segoe UI"/>
                <a:cs typeface="Segoe UI"/>
              </a:rPr>
              <a:t>   +   </a:t>
            </a:r>
            <a:r>
              <a:rPr sz="1900" b="1" i="0">
                <a:solidFill>
                  <a:srgbClr val="F5B53F"/>
                </a:solidFill>
                <a:latin typeface="Segoe UI"/>
                <a:ea typeface="Segoe UI"/>
                <a:cs typeface="Segoe UI"/>
              </a:rPr>
              <a:t>an actual ask</a:t>
            </a:r>
            <a:r>
              <a:rPr sz="1600" b="0" i="0">
                <a:solidFill>
                  <a:srgbClr val="93A6BA"/>
                </a:solidFill>
                <a:latin typeface="Segoe UI"/>
                <a:ea typeface="Segoe UI"/>
                <a:cs typeface="Segoe UI"/>
              </a:rPr>
              <a:t>   =   </a:t>
            </a:r>
            <a:r>
              <a:rPr sz="2000" b="1" i="0">
                <a:solidFill>
                  <a:srgbClr val="FF4D43"/>
                </a:solidFill>
                <a:latin typeface="Nirmala UI"/>
                <a:ea typeface="Nirmala UI"/>
                <a:cs typeface="Nirmala UI"/>
              </a:rPr>
              <a:t>থামুন</a:t>
            </a:r>
          </a:p>
        </p:txBody>
      </p:sp>
      <p:sp>
        <p:nvSpPr>
          <p:cNvPr id="24" name="TextBox 23"/>
          <p:cNvSpPr txBox="1"/>
          <p:nvPr/>
        </p:nvSpPr>
        <p:spPr>
          <a:xfrm>
            <a:off x="658368" y="5358383"/>
            <a:ext cx="5623560" cy="731520"/>
          </a:xfrm>
          <a:prstGeom prst="rect">
            <a:avLst/>
          </a:prstGeom>
          <a:noFill/>
        </p:spPr>
        <p:txBody>
          <a:bodyPr wrap="square" lIns="0" rIns="0" tIns="0" bIns="0" anchor="t">
            <a:spAutoFit/>
          </a:bodyPr>
          <a:lstStyle/>
          <a:p>
            <a:pPr algn="l">
              <a:spcBef>
                <a:spcPts val="0"/>
              </a:spcBef>
              <a:spcAft>
                <a:spcPts val="500"/>
              </a:spcAft>
            </a:pPr>
            <a:r>
              <a:rPr sz="1500" b="1" i="0">
                <a:solidFill>
                  <a:srgbClr val="EEF3F8"/>
                </a:solidFill>
                <a:latin typeface="Segoe UI"/>
                <a:ea typeface="Segoe UI"/>
                <a:cs typeface="Segoe UI"/>
              </a:rPr>
              <a:t>One signal is normal conversation.</a:t>
            </a:r>
          </a:p>
          <a:p>
            <a:pPr algn="l">
              <a:lnSpc>
                <a:spcPct val="120000"/>
              </a:lnSpc>
              <a:spcBef>
                <a:spcPts val="0"/>
              </a:spcBef>
              <a:spcAft>
                <a:spcPts val="0"/>
              </a:spcAft>
            </a:pPr>
            <a:r>
              <a:rPr sz="1250" b="0" i="0">
                <a:solidFill>
                  <a:srgbClr val="93A6BA"/>
                </a:solidFill>
                <a:latin typeface="Segoe UI"/>
                <a:ea typeface="Segoe UI"/>
                <a:cs typeface="Segoe UI"/>
              </a:rPr>
              <a:t>A mother asking for money is not a scam. The combination is.</a:t>
            </a:r>
          </a:p>
        </p:txBody>
      </p:sp>
      <p:sp>
        <p:nvSpPr>
          <p:cNvPr id="25" name="TextBox 24"/>
          <p:cNvSpPr txBox="1"/>
          <p:nvPr/>
        </p:nvSpPr>
        <p:spPr>
          <a:xfrm>
            <a:off x="6693408" y="2103120"/>
            <a:ext cx="483991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THE SAME SENTENCE, JUDGED LIVE</a:t>
            </a:r>
          </a:p>
        </p:txBody>
      </p:sp>
      <p:pic>
        <p:nvPicPr>
          <p:cNvPr id="26" name="Picture 25" descr="verdict.png"/>
          <p:cNvPicPr>
            <a:picLocks noChangeAspect="1"/>
          </p:cNvPicPr>
          <p:nvPr/>
        </p:nvPicPr>
        <p:blipFill>
          <a:blip r:embed="rId2"/>
          <a:stretch>
            <a:fillRect/>
          </a:stretch>
        </p:blipFill>
        <p:spPr>
          <a:xfrm>
            <a:off x="6693408" y="2377440"/>
            <a:ext cx="4839919" cy="1574631"/>
          </a:xfrm>
          <a:prstGeom prst="rect">
            <a:avLst/>
          </a:prstGeom>
        </p:spPr>
      </p:pic>
      <p:sp>
        <p:nvSpPr>
          <p:cNvPr id="27" name="TextBox 26"/>
          <p:cNvSpPr txBox="1"/>
          <p:nvPr/>
        </p:nvSpPr>
        <p:spPr>
          <a:xfrm>
            <a:off x="6693408" y="4043511"/>
            <a:ext cx="4839919" cy="475488"/>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93A6BA"/>
                </a:solidFill>
                <a:latin typeface="Segoe UI"/>
                <a:ea typeface="Segoe UI"/>
                <a:cs typeface="Segoe UI"/>
              </a:rPr>
              <a:t>A hosted model call from the free-play console: risk 95/100, five signals named in Bangla.</a:t>
            </a:r>
          </a:p>
        </p:txBody>
      </p:sp>
      <p:sp>
        <p:nvSpPr>
          <p:cNvPr id="28" name="TextBox 27"/>
          <p:cNvSpPr txBox="1"/>
          <p:nvPr/>
        </p:nvSpPr>
        <p:spPr>
          <a:xfrm>
            <a:off x="6693408" y="4610439"/>
            <a:ext cx="1371600" cy="310896"/>
          </a:xfrm>
          <a:prstGeom prst="rect">
            <a:avLst/>
          </a:prstGeom>
          <a:noFill/>
        </p:spPr>
        <p:txBody>
          <a:bodyPr wrap="square" lIns="0" rIns="0" tIns="0" bIns="0" anchor="t">
            <a:spAutoFit/>
          </a:bodyPr>
          <a:lstStyle/>
          <a:p>
            <a:pPr algn="l">
              <a:spcBef>
                <a:spcPts val="0"/>
              </a:spcBef>
              <a:spcAft>
                <a:spcPts val="0"/>
              </a:spcAft>
            </a:pPr>
            <a:r>
              <a:rPr sz="1600" b="1" i="0">
                <a:solidFill>
                  <a:srgbClr val="4FD6A8"/>
                </a:solidFill>
                <a:latin typeface="Segoe UI"/>
                <a:ea typeface="Segoe UI"/>
                <a:cs typeface="Segoe UI"/>
              </a:rPr>
              <a:t>0 of 10</a:t>
            </a:r>
          </a:p>
        </p:txBody>
      </p:sp>
      <p:sp>
        <p:nvSpPr>
          <p:cNvPr id="29" name="TextBox 28"/>
          <p:cNvSpPr txBox="1"/>
          <p:nvPr/>
        </p:nvSpPr>
        <p:spPr>
          <a:xfrm>
            <a:off x="8110728" y="4610439"/>
            <a:ext cx="3422599" cy="310896"/>
          </a:xfrm>
          <a:prstGeom prst="rect">
            <a:avLst/>
          </a:prstGeom>
          <a:noFill/>
        </p:spPr>
        <p:txBody>
          <a:bodyPr wrap="square" lIns="0" rIns="0" tIns="0" bIns="0" anchor="t">
            <a:spAutoFit/>
          </a:bodyPr>
          <a:lstStyle/>
          <a:p>
            <a:pPr algn="l">
              <a:spcBef>
                <a:spcPts val="0"/>
              </a:spcBef>
              <a:spcAft>
                <a:spcPts val="0"/>
              </a:spcAft>
            </a:pPr>
            <a:r>
              <a:rPr sz="1250" b="0" i="0">
                <a:solidFill>
                  <a:srgbClr val="EEF3F8"/>
                </a:solidFill>
                <a:latin typeface="Segoe UI"/>
                <a:ea typeface="Segoe UI"/>
                <a:cs typeface="Segoe UI"/>
              </a:rPr>
              <a:t>ordinary sentences paused</a:t>
            </a:r>
          </a:p>
        </p:txBody>
      </p:sp>
      <p:sp>
        <p:nvSpPr>
          <p:cNvPr id="30" name="TextBox 29"/>
          <p:cNvSpPr txBox="1"/>
          <p:nvPr/>
        </p:nvSpPr>
        <p:spPr>
          <a:xfrm>
            <a:off x="6693408" y="4976199"/>
            <a:ext cx="1371600" cy="310896"/>
          </a:xfrm>
          <a:prstGeom prst="rect">
            <a:avLst/>
          </a:prstGeom>
          <a:noFill/>
        </p:spPr>
        <p:txBody>
          <a:bodyPr wrap="square" lIns="0" rIns="0" tIns="0" bIns="0" anchor="t">
            <a:spAutoFit/>
          </a:bodyPr>
          <a:lstStyle/>
          <a:p>
            <a:pPr algn="l">
              <a:spcBef>
                <a:spcPts val="0"/>
              </a:spcBef>
              <a:spcAft>
                <a:spcPts val="0"/>
              </a:spcAft>
            </a:pPr>
            <a:r>
              <a:rPr sz="1600" b="1" i="0">
                <a:solidFill>
                  <a:srgbClr val="F5B53F"/>
                </a:solidFill>
                <a:latin typeface="Segoe UI"/>
                <a:ea typeface="Segoe UI"/>
                <a:cs typeface="Segoe UI"/>
              </a:rPr>
              <a:t>4 of 5</a:t>
            </a:r>
          </a:p>
        </p:txBody>
      </p:sp>
      <p:sp>
        <p:nvSpPr>
          <p:cNvPr id="31" name="TextBox 30"/>
          <p:cNvSpPr txBox="1"/>
          <p:nvPr/>
        </p:nvSpPr>
        <p:spPr>
          <a:xfrm>
            <a:off x="8110728" y="4976199"/>
            <a:ext cx="3422599" cy="310896"/>
          </a:xfrm>
          <a:prstGeom prst="rect">
            <a:avLst/>
          </a:prstGeom>
          <a:noFill/>
        </p:spPr>
        <p:txBody>
          <a:bodyPr wrap="square" lIns="0" rIns="0" tIns="0" bIns="0" anchor="t">
            <a:spAutoFit/>
          </a:bodyPr>
          <a:lstStyle/>
          <a:p>
            <a:pPr algn="l">
              <a:spcBef>
                <a:spcPts val="0"/>
              </a:spcBef>
              <a:spcAft>
                <a:spcPts val="0"/>
              </a:spcAft>
            </a:pPr>
            <a:r>
              <a:rPr sz="1250" b="0" i="0">
                <a:solidFill>
                  <a:srgbClr val="EEF3F8"/>
                </a:solidFill>
                <a:latin typeface="Segoe UI"/>
                <a:ea typeface="Segoe UI"/>
                <a:cs typeface="Segoe UI"/>
              </a:rPr>
              <a:t>reworded scam scripts paused</a:t>
            </a:r>
          </a:p>
        </p:txBody>
      </p:sp>
      <p:sp>
        <p:nvSpPr>
          <p:cNvPr id="32" name="TextBox 31"/>
          <p:cNvSpPr txBox="1"/>
          <p:nvPr/>
        </p:nvSpPr>
        <p:spPr>
          <a:xfrm>
            <a:off x="6693408" y="5341959"/>
            <a:ext cx="1371600" cy="310896"/>
          </a:xfrm>
          <a:prstGeom prst="rect">
            <a:avLst/>
          </a:prstGeom>
          <a:noFill/>
        </p:spPr>
        <p:txBody>
          <a:bodyPr wrap="square" lIns="0" rIns="0" tIns="0" bIns="0" anchor="t">
            <a:spAutoFit/>
          </a:bodyPr>
          <a:lstStyle/>
          <a:p>
            <a:pPr algn="l">
              <a:spcBef>
                <a:spcPts val="0"/>
              </a:spcBef>
              <a:spcAft>
                <a:spcPts val="0"/>
              </a:spcAft>
            </a:pPr>
            <a:r>
              <a:rPr sz="1600" b="1" i="0">
                <a:solidFill>
                  <a:srgbClr val="4FD6A8"/>
                </a:solidFill>
                <a:latin typeface="Segoe UI"/>
                <a:ea typeface="Segoe UI"/>
                <a:cs typeface="Segoe UI"/>
              </a:rPr>
              <a:t>69</a:t>
            </a:r>
          </a:p>
        </p:txBody>
      </p:sp>
      <p:sp>
        <p:nvSpPr>
          <p:cNvPr id="33" name="TextBox 32"/>
          <p:cNvSpPr txBox="1"/>
          <p:nvPr/>
        </p:nvSpPr>
        <p:spPr>
          <a:xfrm>
            <a:off x="8110728" y="5341959"/>
            <a:ext cx="3422599" cy="310896"/>
          </a:xfrm>
          <a:prstGeom prst="rect">
            <a:avLst/>
          </a:prstGeom>
          <a:noFill/>
        </p:spPr>
        <p:txBody>
          <a:bodyPr wrap="square" lIns="0" rIns="0" tIns="0" bIns="0" anchor="t">
            <a:spAutoFit/>
          </a:bodyPr>
          <a:lstStyle/>
          <a:p>
            <a:pPr algn="l">
              <a:spcBef>
                <a:spcPts val="0"/>
              </a:spcBef>
              <a:spcAft>
                <a:spcPts val="0"/>
              </a:spcAft>
            </a:pPr>
            <a:r>
              <a:rPr sz="1250" b="0" i="0">
                <a:solidFill>
                  <a:srgbClr val="EEF3F8"/>
                </a:solidFill>
                <a:latin typeface="Segoe UI"/>
                <a:ea typeface="Segoe UI"/>
                <a:cs typeface="Segoe UI"/>
              </a:rPr>
              <a:t>backend checks pass offline</a:t>
            </a:r>
          </a:p>
        </p:txBody>
      </p:sp>
      <p:sp>
        <p:nvSpPr>
          <p:cNvPr id="34" name="TextBox 33"/>
          <p:cNvSpPr txBox="1"/>
          <p:nvPr/>
        </p:nvSpPr>
        <p:spPr>
          <a:xfrm>
            <a:off x="6693408" y="5835735"/>
            <a:ext cx="4839919" cy="457200"/>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5B53F"/>
                </a:solidFill>
                <a:latin typeface="Segoe UI"/>
                <a:ea typeface="Segoe UI"/>
                <a:cs typeface="Segoe UI"/>
              </a:rPr>
              <a:t>On the handset. No cloud call, no per-call bill.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BUSINESS MODEL</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8 / 10</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2700" b="1" i="0">
                <a:solidFill>
                  <a:srgbClr val="EEF3F8"/>
                </a:solidFill>
                <a:latin typeface="Segoe UI"/>
                <a:ea typeface="Segoe UI"/>
                <a:cs typeface="Segoe UI"/>
              </a:rPr>
              <a:t>Who pays, and why they keep paying.</a:t>
            </a:r>
          </a:p>
        </p:txBody>
      </p:sp>
      <p:sp>
        <p:nvSpPr>
          <p:cNvPr id="7" name="Rounded Rectangle 6"/>
          <p:cNvSpPr/>
          <p:nvPr/>
        </p:nvSpPr>
        <p:spPr>
          <a:xfrm>
            <a:off x="658368" y="2103120"/>
            <a:ext cx="3108960" cy="1115568"/>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03120"/>
            <a:ext cx="2743200" cy="1115568"/>
          </a:xfrm>
          <a:prstGeom prst="rect">
            <a:avLst/>
          </a:prstGeom>
          <a:noFill/>
        </p:spPr>
        <p:txBody>
          <a:bodyPr wrap="square" lIns="0" rIns="0" tIns="0" bIns="0" anchor="ctr">
            <a:spAutoFit/>
          </a:bodyPr>
          <a:lstStyle/>
          <a:p>
            <a:pPr algn="ctr">
              <a:spcBef>
                <a:spcPts val="0"/>
              </a:spcBef>
              <a:spcAft>
                <a:spcPts val="400"/>
              </a:spcAft>
            </a:pPr>
            <a:r>
              <a:rPr sz="1000" b="1" i="0">
                <a:solidFill>
                  <a:srgbClr val="93A6BA"/>
                </a:solidFill>
                <a:latin typeface="Segoe UI"/>
                <a:ea typeface="Segoe UI"/>
                <a:cs typeface="Segoe UI"/>
              </a:rPr>
              <a:t>WHO PAYS</a:t>
            </a:r>
          </a:p>
          <a:p>
            <a:pPr algn="ctr">
              <a:spcBef>
                <a:spcPts val="0"/>
              </a:spcBef>
              <a:spcAft>
                <a:spcPts val="400"/>
              </a:spcAft>
            </a:pPr>
            <a:r>
              <a:rPr sz="1700" b="1" i="0">
                <a:solidFill>
                  <a:srgbClr val="4FD6A8"/>
                </a:solidFill>
                <a:latin typeface="Segoe UI"/>
                <a:ea typeface="Segoe UI"/>
                <a:cs typeface="Segoe UI"/>
              </a:rPr>
              <a:t>Subscriber</a:t>
            </a:r>
          </a:p>
          <a:p>
            <a:pPr algn="ctr">
              <a:lnSpc>
                <a:spcPct val="118000"/>
              </a:lnSpc>
              <a:spcBef>
                <a:spcPts val="0"/>
              </a:spcBef>
              <a:spcAft>
                <a:spcPts val="0"/>
              </a:spcAft>
            </a:pPr>
            <a:r>
              <a:rPr sz="1150" b="0" i="0">
                <a:solidFill>
                  <a:srgbClr val="EEF3F8"/>
                </a:solidFill>
                <a:latin typeface="Segoe UI"/>
                <a:ea typeface="Segoe UI"/>
                <a:cs typeface="Segoe UI"/>
              </a:rPr>
              <a:t>Tk 20 a month · opt-in</a:t>
            </a:r>
          </a:p>
        </p:txBody>
      </p:sp>
      <p:sp>
        <p:nvSpPr>
          <p:cNvPr id="9" name="TextBox 8"/>
          <p:cNvSpPr txBox="1"/>
          <p:nvPr/>
        </p:nvSpPr>
        <p:spPr>
          <a:xfrm>
            <a:off x="3767328" y="2478024"/>
            <a:ext cx="502920" cy="365760"/>
          </a:xfrm>
          <a:prstGeom prst="rect">
            <a:avLst/>
          </a:prstGeom>
          <a:noFill/>
        </p:spPr>
        <p:txBody>
          <a:bodyPr wrap="square" lIns="0" rIns="0" tIns="0" bIns="0" anchor="ctr">
            <a:spAutoFit/>
          </a:bodyPr>
          <a:lstStyle/>
          <a:p>
            <a:pPr algn="ctr">
              <a:spcBef>
                <a:spcPts val="0"/>
              </a:spcBef>
              <a:spcAft>
                <a:spcPts val="0"/>
              </a:spcAft>
            </a:pPr>
            <a:r>
              <a:rPr sz="1900" b="1" i="0">
                <a:solidFill>
                  <a:srgbClr val="93A6BA"/>
                </a:solidFill>
                <a:latin typeface="Segoe UI"/>
                <a:ea typeface="Segoe UI"/>
                <a:cs typeface="Segoe UI"/>
              </a:rPr>
              <a:t>→</a:t>
            </a:r>
          </a:p>
        </p:txBody>
      </p:sp>
      <p:sp>
        <p:nvSpPr>
          <p:cNvPr id="10" name="Rounded Rectangle 9"/>
          <p:cNvSpPr/>
          <p:nvPr/>
        </p:nvSpPr>
        <p:spPr>
          <a:xfrm>
            <a:off x="4270248" y="2103120"/>
            <a:ext cx="3108960" cy="1115568"/>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2103120"/>
            <a:ext cx="2743200" cy="1115568"/>
          </a:xfrm>
          <a:prstGeom prst="rect">
            <a:avLst/>
          </a:prstGeom>
          <a:noFill/>
        </p:spPr>
        <p:txBody>
          <a:bodyPr wrap="square" lIns="0" rIns="0" tIns="0" bIns="0" anchor="ctr">
            <a:spAutoFit/>
          </a:bodyPr>
          <a:lstStyle/>
          <a:p>
            <a:pPr algn="ctr">
              <a:spcBef>
                <a:spcPts val="0"/>
              </a:spcBef>
              <a:spcAft>
                <a:spcPts val="400"/>
              </a:spcAft>
            </a:pPr>
            <a:r>
              <a:rPr sz="1000" b="1" i="0">
                <a:solidFill>
                  <a:srgbClr val="93A6BA"/>
                </a:solidFill>
                <a:latin typeface="Segoe UI"/>
                <a:ea typeface="Segoe UI"/>
                <a:cs typeface="Segoe UI"/>
              </a:rPr>
              <a:t>WHO BILLS</a:t>
            </a:r>
          </a:p>
          <a:p>
            <a:pPr algn="ctr">
              <a:spcBef>
                <a:spcPts val="0"/>
              </a:spcBef>
              <a:spcAft>
                <a:spcPts val="400"/>
              </a:spcAft>
            </a:pPr>
            <a:r>
              <a:rPr sz="1700" b="1" i="0">
                <a:solidFill>
                  <a:srgbClr val="F5B53F"/>
                </a:solidFill>
                <a:latin typeface="Segoe UI"/>
                <a:ea typeface="Segoe UI"/>
                <a:cs typeface="Segoe UI"/>
              </a:rPr>
              <a:t>Grameenphone</a:t>
            </a:r>
          </a:p>
          <a:p>
            <a:pPr algn="ctr">
              <a:lnSpc>
                <a:spcPct val="118000"/>
              </a:lnSpc>
              <a:spcBef>
                <a:spcPts val="0"/>
              </a:spcBef>
              <a:spcAft>
                <a:spcPts val="0"/>
              </a:spcAft>
            </a:pPr>
            <a:r>
              <a:rPr sz="1150" b="0" i="0">
                <a:solidFill>
                  <a:srgbClr val="EEF3F8"/>
                </a:solidFill>
                <a:latin typeface="Segoe UI"/>
                <a:ea typeface="Segoe UI"/>
                <a:cs typeface="Segoe UI"/>
              </a:rPr>
              <a:t>on the phone bill, as a pack</a:t>
            </a:r>
          </a:p>
        </p:txBody>
      </p:sp>
      <p:sp>
        <p:nvSpPr>
          <p:cNvPr id="12" name="TextBox 11"/>
          <p:cNvSpPr txBox="1"/>
          <p:nvPr/>
        </p:nvSpPr>
        <p:spPr>
          <a:xfrm>
            <a:off x="7379208" y="2478024"/>
            <a:ext cx="502920" cy="365760"/>
          </a:xfrm>
          <a:prstGeom prst="rect">
            <a:avLst/>
          </a:prstGeom>
          <a:noFill/>
        </p:spPr>
        <p:txBody>
          <a:bodyPr wrap="square" lIns="0" rIns="0" tIns="0" bIns="0" anchor="ctr">
            <a:spAutoFit/>
          </a:bodyPr>
          <a:lstStyle/>
          <a:p>
            <a:pPr algn="ctr">
              <a:spcBef>
                <a:spcPts val="0"/>
              </a:spcBef>
              <a:spcAft>
                <a:spcPts val="0"/>
              </a:spcAft>
            </a:pPr>
            <a:r>
              <a:rPr sz="1900" b="1" i="0">
                <a:solidFill>
                  <a:srgbClr val="93A6BA"/>
                </a:solidFill>
                <a:latin typeface="Segoe UI"/>
                <a:ea typeface="Segoe UI"/>
                <a:cs typeface="Segoe UI"/>
              </a:rPr>
              <a:t>→</a:t>
            </a:r>
          </a:p>
        </p:txBody>
      </p:sp>
      <p:sp>
        <p:nvSpPr>
          <p:cNvPr id="13" name="Rounded Rectangle 12"/>
          <p:cNvSpPr/>
          <p:nvPr/>
        </p:nvSpPr>
        <p:spPr>
          <a:xfrm>
            <a:off x="7882128" y="2103120"/>
            <a:ext cx="3108960" cy="1115568"/>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65008" y="2103120"/>
            <a:ext cx="2743200" cy="1115568"/>
          </a:xfrm>
          <a:prstGeom prst="rect">
            <a:avLst/>
          </a:prstGeom>
          <a:noFill/>
        </p:spPr>
        <p:txBody>
          <a:bodyPr wrap="square" lIns="0" rIns="0" tIns="0" bIns="0" anchor="ctr">
            <a:spAutoFit/>
          </a:bodyPr>
          <a:lstStyle/>
          <a:p>
            <a:pPr algn="ctr">
              <a:spcBef>
                <a:spcPts val="0"/>
              </a:spcBef>
              <a:spcAft>
                <a:spcPts val="400"/>
              </a:spcAft>
            </a:pPr>
            <a:r>
              <a:rPr sz="1000" b="1" i="0">
                <a:solidFill>
                  <a:srgbClr val="93A6BA"/>
                </a:solidFill>
                <a:latin typeface="Segoe UI"/>
                <a:ea typeface="Segoe UI"/>
                <a:cs typeface="Segoe UI"/>
              </a:rPr>
              <a:t>WHO BUILDS</a:t>
            </a:r>
          </a:p>
          <a:p>
            <a:pPr algn="ctr">
              <a:spcBef>
                <a:spcPts val="0"/>
              </a:spcBef>
              <a:spcAft>
                <a:spcPts val="400"/>
              </a:spcAft>
            </a:pPr>
            <a:r>
              <a:rPr sz="1700" b="1" i="0">
                <a:solidFill>
                  <a:srgbClr val="EEF3F8"/>
                </a:solidFill>
                <a:latin typeface="Segoe UI"/>
                <a:ea typeface="Segoe UI"/>
                <a:cs typeface="Segoe UI"/>
              </a:rPr>
              <a:t>Shotorko</a:t>
            </a:r>
          </a:p>
          <a:p>
            <a:pPr algn="ctr">
              <a:lnSpc>
                <a:spcPct val="118000"/>
              </a:lnSpc>
              <a:spcBef>
                <a:spcPts val="0"/>
              </a:spcBef>
              <a:spcAft>
                <a:spcPts val="0"/>
              </a:spcAft>
            </a:pPr>
            <a:r>
              <a:rPr sz="1150" b="0" i="0">
                <a:solidFill>
                  <a:srgbClr val="EEF3F8"/>
                </a:solidFill>
                <a:latin typeface="Segoe UI"/>
                <a:ea typeface="Segoe UI"/>
                <a:cs typeface="Segoe UI"/>
              </a:rPr>
              <a:t>model · engine · report standard</a:t>
            </a:r>
          </a:p>
        </p:txBody>
      </p:sp>
      <p:sp>
        <p:nvSpPr>
          <p:cNvPr id="15" name="Rounded Rectangle 14"/>
          <p:cNvSpPr/>
          <p:nvPr/>
        </p:nvSpPr>
        <p:spPr>
          <a:xfrm>
            <a:off x="658368" y="3456432"/>
            <a:ext cx="3478682" cy="1298448"/>
          </a:xfrm>
          <a:prstGeom prst="roundRect">
            <a:avLst>
              <a:gd name="adj" fmla="val 7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456432"/>
            <a:ext cx="3478682" cy="50292"/>
          </a:xfrm>
          <a:prstGeom prst="rect">
            <a:avLst/>
          </a:prstGeom>
          <a:solidFill>
            <a:srgbClr val="F5B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3611879"/>
            <a:ext cx="3076346" cy="987551"/>
          </a:xfrm>
          <a:prstGeom prst="rect">
            <a:avLst/>
          </a:prstGeom>
          <a:noFill/>
        </p:spPr>
        <p:txBody>
          <a:bodyPr wrap="square" lIns="0" rIns="0" tIns="0" bIns="0" anchor="t">
            <a:spAutoFit/>
          </a:bodyPr>
          <a:lstStyle/>
          <a:p>
            <a:pPr algn="l">
              <a:spcBef>
                <a:spcPts val="0"/>
              </a:spcBef>
              <a:spcAft>
                <a:spcPts val="500"/>
              </a:spcAft>
            </a:pPr>
            <a:r>
              <a:rPr sz="1450" b="1" i="0">
                <a:solidFill>
                  <a:srgbClr val="F5B53F"/>
                </a:solidFill>
                <a:latin typeface="Segoe UI"/>
                <a:ea typeface="Segoe UI"/>
                <a:cs typeface="Segoe UI"/>
              </a:rPr>
              <a:t>Revenue</a:t>
            </a:r>
          </a:p>
          <a:p>
            <a:pPr algn="l">
              <a:lnSpc>
                <a:spcPct val="122000"/>
              </a:lnSpc>
              <a:spcBef>
                <a:spcPts val="0"/>
              </a:spcBef>
              <a:spcAft>
                <a:spcPts val="0"/>
              </a:spcAft>
            </a:pPr>
            <a:r>
              <a:rPr sz="1150" b="0" i="0">
                <a:solidFill>
                  <a:srgbClr val="93A6BA"/>
                </a:solidFill>
                <a:latin typeface="Segoe UI"/>
                <a:ea typeface="Segoe UI"/>
                <a:cs typeface="Segoe UI"/>
              </a:rPr>
              <a:t>Tk 20 × 1% of GP's 87.20M base = Tk 209M in year one</a:t>
            </a:r>
          </a:p>
        </p:txBody>
      </p:sp>
      <p:sp>
        <p:nvSpPr>
          <p:cNvPr id="18" name="Rounded Rectangle 17"/>
          <p:cNvSpPr/>
          <p:nvPr/>
        </p:nvSpPr>
        <p:spPr>
          <a:xfrm>
            <a:off x="4356506" y="3456432"/>
            <a:ext cx="3478682" cy="1298448"/>
          </a:xfrm>
          <a:prstGeom prst="roundRect">
            <a:avLst>
              <a:gd name="adj" fmla="val 7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56506" y="3456432"/>
            <a:ext cx="3478682" cy="50292"/>
          </a:xfrm>
          <a:prstGeom prst="rect">
            <a:avLst/>
          </a:prstGeom>
          <a:solidFill>
            <a:srgbClr val="4F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7674" y="3611879"/>
            <a:ext cx="3076346" cy="987551"/>
          </a:xfrm>
          <a:prstGeom prst="rect">
            <a:avLst/>
          </a:prstGeom>
          <a:noFill/>
        </p:spPr>
        <p:txBody>
          <a:bodyPr wrap="square" lIns="0" rIns="0" tIns="0" bIns="0" anchor="t">
            <a:spAutoFit/>
          </a:bodyPr>
          <a:lstStyle/>
          <a:p>
            <a:pPr algn="l">
              <a:spcBef>
                <a:spcPts val="0"/>
              </a:spcBef>
              <a:spcAft>
                <a:spcPts val="500"/>
              </a:spcAft>
            </a:pPr>
            <a:r>
              <a:rPr sz="1450" b="1" i="0">
                <a:solidFill>
                  <a:srgbClr val="4FD6A8"/>
                </a:solidFill>
                <a:latin typeface="Segoe UI"/>
                <a:ea typeface="Segoe UI"/>
                <a:cs typeface="Segoe UI"/>
              </a:rPr>
              <a:t>Cost avoided</a:t>
            </a:r>
          </a:p>
          <a:p>
            <a:pPr algn="l">
              <a:lnSpc>
                <a:spcPct val="122000"/>
              </a:lnSpc>
              <a:spcBef>
                <a:spcPts val="0"/>
              </a:spcBef>
              <a:spcAft>
                <a:spcPts val="0"/>
              </a:spcAft>
            </a:pPr>
            <a:r>
              <a:rPr sz="1150" b="0" i="0">
                <a:solidFill>
                  <a:srgbClr val="93A6BA"/>
                </a:solidFill>
                <a:latin typeface="Segoe UI"/>
                <a:ea typeface="Segoe UI"/>
                <a:cs typeface="Segoe UI"/>
              </a:rPr>
              <a:t>fraud refunds · hotline minutes · churn after a publicised loss</a:t>
            </a:r>
          </a:p>
        </p:txBody>
      </p:sp>
      <p:sp>
        <p:nvSpPr>
          <p:cNvPr id="21" name="Rounded Rectangle 20"/>
          <p:cNvSpPr/>
          <p:nvPr/>
        </p:nvSpPr>
        <p:spPr>
          <a:xfrm>
            <a:off x="8054644" y="3456432"/>
            <a:ext cx="3478682" cy="1298448"/>
          </a:xfrm>
          <a:prstGeom prst="roundRect">
            <a:avLst>
              <a:gd name="adj" fmla="val 7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4644" y="3456432"/>
            <a:ext cx="3478682" cy="50292"/>
          </a:xfrm>
          <a:prstGeom prst="rect">
            <a:avLst/>
          </a:prstGeom>
          <a:solidFill>
            <a:srgbClr val="93A6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5812" y="3611879"/>
            <a:ext cx="3076346" cy="987551"/>
          </a:xfrm>
          <a:prstGeom prst="rect">
            <a:avLst/>
          </a:prstGeom>
          <a:noFill/>
        </p:spPr>
        <p:txBody>
          <a:bodyPr wrap="square" lIns="0" rIns="0" tIns="0" bIns="0" anchor="t">
            <a:spAutoFit/>
          </a:bodyPr>
          <a:lstStyle/>
          <a:p>
            <a:pPr algn="l">
              <a:spcBef>
                <a:spcPts val="0"/>
              </a:spcBef>
              <a:spcAft>
                <a:spcPts val="500"/>
              </a:spcAft>
            </a:pPr>
            <a:r>
              <a:rPr sz="1450" b="1" i="0">
                <a:solidFill>
                  <a:srgbClr val="93A6BA"/>
                </a:solidFill>
                <a:latin typeface="Segoe UI"/>
                <a:ea typeface="Segoe UI"/>
                <a:cs typeface="Segoe UI"/>
              </a:rPr>
              <a:t>Later</a:t>
            </a:r>
          </a:p>
          <a:p>
            <a:pPr algn="l">
              <a:lnSpc>
                <a:spcPct val="122000"/>
              </a:lnSpc>
              <a:spcBef>
                <a:spcPts val="0"/>
              </a:spcBef>
              <a:spcAft>
                <a:spcPts val="0"/>
              </a:spcAft>
            </a:pPr>
            <a:r>
              <a:rPr sz="1150" b="0" i="0">
                <a:solidFill>
                  <a:srgbClr val="93A6BA"/>
                </a:solidFill>
                <a:latin typeface="Segoe UI"/>
                <a:ea typeface="Segoe UI"/>
                <a:cs typeface="Segoe UI"/>
              </a:rPr>
              <a:t>scam-network intelligence, licensed to MFS operators, 999 and BTRC</a:t>
            </a:r>
          </a:p>
        </p:txBody>
      </p:sp>
      <p:sp>
        <p:nvSpPr>
          <p:cNvPr id="24" name="TextBox 23"/>
          <p:cNvSpPr txBox="1"/>
          <p:nvPr/>
        </p:nvSpPr>
        <p:spPr>
          <a:xfrm>
            <a:off x="658368" y="4974336"/>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PROOF THAT PEOPLE PAY FOR THIS</a:t>
            </a:r>
          </a:p>
        </p:txBody>
      </p:sp>
      <p:sp>
        <p:nvSpPr>
          <p:cNvPr id="25" name="TextBox 24"/>
          <p:cNvSpPr txBox="1"/>
          <p:nvPr/>
        </p:nvSpPr>
        <p:spPr>
          <a:xfrm>
            <a:off x="658368" y="5266944"/>
            <a:ext cx="10874959" cy="292608"/>
          </a:xfrm>
          <a:prstGeom prst="rect">
            <a:avLst/>
          </a:prstGeom>
          <a:noFill/>
        </p:spPr>
        <p:txBody>
          <a:bodyPr wrap="square" lIns="0" rIns="0" tIns="0" bIns="0" anchor="t">
            <a:spAutoFit/>
          </a:bodyPr>
          <a:lstStyle/>
          <a:p>
            <a:pPr algn="l">
              <a:spcBef>
                <a:spcPts val="0"/>
              </a:spcBef>
              <a:spcAft>
                <a:spcPts val="0"/>
              </a:spcAft>
            </a:pPr>
            <a:r>
              <a:rPr sz="1350" b="1" i="0">
                <a:solidFill>
                  <a:srgbClr val="F5B53F"/>
                </a:solidFill>
                <a:latin typeface="Segoe UI"/>
                <a:ea typeface="Segoe UI"/>
                <a:cs typeface="Segoe UI"/>
              </a:rPr>
              <a:t>—  </a:t>
            </a:r>
            <a:r>
              <a:rPr sz="1350" b="0" i="0">
                <a:solidFill>
                  <a:srgbClr val="EEF3F8"/>
                </a:solidFill>
                <a:latin typeface="Segoe UI"/>
                <a:ea typeface="Segoe UI"/>
                <a:cs typeface="Segoe UI"/>
              </a:rPr>
              <a:t>Truecaller: 4M+ paying subscribers, 0.75% of free users convert (Mar 2026)</a:t>
            </a:r>
          </a:p>
        </p:txBody>
      </p:sp>
      <p:sp>
        <p:nvSpPr>
          <p:cNvPr id="26" name="TextBox 25"/>
          <p:cNvSpPr txBox="1"/>
          <p:nvPr/>
        </p:nvSpPr>
        <p:spPr>
          <a:xfrm>
            <a:off x="658368" y="5577840"/>
            <a:ext cx="10874959" cy="292608"/>
          </a:xfrm>
          <a:prstGeom prst="rect">
            <a:avLst/>
          </a:prstGeom>
          <a:noFill/>
        </p:spPr>
        <p:txBody>
          <a:bodyPr wrap="square" lIns="0" rIns="0" tIns="0" bIns="0" anchor="t">
            <a:spAutoFit/>
          </a:bodyPr>
          <a:lstStyle/>
          <a:p>
            <a:pPr algn="l">
              <a:spcBef>
                <a:spcPts val="0"/>
              </a:spcBef>
              <a:spcAft>
                <a:spcPts val="0"/>
              </a:spcAft>
            </a:pPr>
            <a:r>
              <a:rPr sz="1350" b="1" i="0">
                <a:solidFill>
                  <a:srgbClr val="F5B53F"/>
                </a:solidFill>
                <a:latin typeface="Segoe UI"/>
                <a:ea typeface="Segoe UI"/>
                <a:cs typeface="Segoe UI"/>
              </a:rPr>
              <a:t>—  </a:t>
            </a:r>
            <a:r>
              <a:rPr sz="1350" b="0" i="0">
                <a:solidFill>
                  <a:srgbClr val="EEF3F8"/>
                </a:solidFill>
                <a:latin typeface="Segoe UI"/>
                <a:ea typeface="Segoe UI"/>
                <a:cs typeface="Segoe UI"/>
              </a:rPr>
              <a:t>Verizon Call Filter Plus: USD 3.99 a month — and it only blocks numbers</a:t>
            </a:r>
          </a:p>
        </p:txBody>
      </p:sp>
      <p:sp>
        <p:nvSpPr>
          <p:cNvPr id="27" name="Rounded Rectangle 26"/>
          <p:cNvSpPr/>
          <p:nvPr/>
        </p:nvSpPr>
        <p:spPr>
          <a:xfrm>
            <a:off x="658368" y="5943600"/>
            <a:ext cx="10874959" cy="438912"/>
          </a:xfrm>
          <a:prstGeom prst="roundRect">
            <a:avLst>
              <a:gd name="adj" fmla="val 1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943600"/>
            <a:ext cx="10362895" cy="438912"/>
          </a:xfrm>
          <a:prstGeom prst="rect">
            <a:avLst/>
          </a:prstGeom>
          <a:noFill/>
        </p:spPr>
        <p:txBody>
          <a:bodyPr wrap="square" lIns="0" rIns="0" tIns="0" bIns="0" anchor="ctr">
            <a:spAutoFit/>
          </a:bodyPr>
          <a:lstStyle/>
          <a:p>
            <a:pPr algn="l">
              <a:spcBef>
                <a:spcPts val="0"/>
              </a:spcBef>
              <a:spcAft>
                <a:spcPts val="0"/>
              </a:spcAft>
            </a:pPr>
            <a:r>
              <a:rPr sz="1400" b="1" i="0">
                <a:solidFill>
                  <a:srgbClr val="F5B53F"/>
                </a:solidFill>
                <a:latin typeface="Segoe UI"/>
                <a:ea typeface="Segoe UI"/>
                <a:cs typeface="Segoe UI"/>
              </a:rPr>
              <a:t>Margin:  </a:t>
            </a:r>
            <a:r>
              <a:rPr sz="1400" b="0" i="0">
                <a:solidFill>
                  <a:srgbClr val="EEF3F8"/>
                </a:solidFill>
                <a:latin typeface="Segoe UI"/>
                <a:ea typeface="Segoe UI"/>
                <a:cs typeface="Segoe UI"/>
              </a:rPr>
              <a:t>the classifier runs on the handset, so a warning is not a cloud bill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MARKET SIZE · GO-TO-MARKET</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9 / 10</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2900" b="1" i="0">
                <a:solidFill>
                  <a:srgbClr val="F5B53F"/>
                </a:solidFill>
                <a:latin typeface="Segoe UI"/>
                <a:ea typeface="Segoe UI"/>
                <a:cs typeface="Segoe UI"/>
              </a:rPr>
              <a:t>TAM · SAM · SOM</a:t>
            </a:r>
          </a:p>
        </p:txBody>
      </p:sp>
      <p:sp>
        <p:nvSpPr>
          <p:cNvPr id="7" name="Rounded Rectangle 6"/>
          <p:cNvSpPr/>
          <p:nvPr/>
        </p:nvSpPr>
        <p:spPr>
          <a:xfrm>
            <a:off x="658368" y="2103120"/>
            <a:ext cx="3478682" cy="1371600"/>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267712"/>
            <a:ext cx="3039770" cy="1042416"/>
          </a:xfrm>
          <a:prstGeom prst="rect">
            <a:avLst/>
          </a:prstGeom>
          <a:noFill/>
        </p:spPr>
        <p:txBody>
          <a:bodyPr wrap="square" lIns="0" rIns="0" tIns="0" bIns="0" anchor="t">
            <a:spAutoFit/>
          </a:bodyPr>
          <a:lstStyle/>
          <a:p>
            <a:pPr algn="l">
              <a:spcBef>
                <a:spcPts val="0"/>
              </a:spcBef>
              <a:spcAft>
                <a:spcPts val="500"/>
              </a:spcAft>
            </a:pPr>
            <a:r>
              <a:rPr sz="2700" b="1" i="0">
                <a:solidFill>
                  <a:srgbClr val="93A6BA"/>
                </a:solidFill>
                <a:latin typeface="Segoe UI"/>
                <a:ea typeface="Segoe UI"/>
                <a:cs typeface="Segoe UI"/>
              </a:rPr>
              <a:t>Tk 45.9B</a:t>
            </a:r>
          </a:p>
          <a:p>
            <a:pPr algn="l">
              <a:spcBef>
                <a:spcPts val="0"/>
              </a:spcBef>
              <a:spcAft>
                <a:spcPts val="0"/>
              </a:spcAft>
            </a:pPr>
            <a:r>
              <a:rPr sz="1300" b="1" i="0">
                <a:solidFill>
                  <a:srgbClr val="EEF3F8"/>
                </a:solidFill>
                <a:latin typeface="Segoe UI"/>
                <a:ea typeface="Segoe UI"/>
                <a:cs typeface="Segoe UI"/>
              </a:rPr>
              <a:t>TAM · every mobile subscriber</a:t>
            </a:r>
          </a:p>
          <a:p>
            <a:pPr algn="l">
              <a:lnSpc>
                <a:spcPct val="118000"/>
              </a:lnSpc>
              <a:spcBef>
                <a:spcPts val="400"/>
              </a:spcBef>
              <a:spcAft>
                <a:spcPts val="0"/>
              </a:spcAft>
            </a:pPr>
            <a:r>
              <a:rPr sz="1050" b="0" i="0">
                <a:solidFill>
                  <a:srgbClr val="93A6BA"/>
                </a:solidFill>
                <a:latin typeface="Segoe UI"/>
                <a:ea typeface="Segoe UI"/>
                <a:cs typeface="Segoe UI"/>
              </a:rPr>
              <a:t>191.09M × Tk 20 × 12 · calculated</a:t>
            </a:r>
          </a:p>
        </p:txBody>
      </p:sp>
      <p:sp>
        <p:nvSpPr>
          <p:cNvPr id="9" name="Rounded Rectangle 8"/>
          <p:cNvSpPr/>
          <p:nvPr/>
        </p:nvSpPr>
        <p:spPr>
          <a:xfrm>
            <a:off x="4356506" y="2103120"/>
            <a:ext cx="3478682" cy="1371600"/>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5962" y="2267712"/>
            <a:ext cx="3039770" cy="1042416"/>
          </a:xfrm>
          <a:prstGeom prst="rect">
            <a:avLst/>
          </a:prstGeom>
          <a:noFill/>
        </p:spPr>
        <p:txBody>
          <a:bodyPr wrap="square" lIns="0" rIns="0" tIns="0" bIns="0" anchor="t">
            <a:spAutoFit/>
          </a:bodyPr>
          <a:lstStyle/>
          <a:p>
            <a:pPr algn="l">
              <a:spcBef>
                <a:spcPts val="0"/>
              </a:spcBef>
              <a:spcAft>
                <a:spcPts val="500"/>
              </a:spcAft>
            </a:pPr>
            <a:r>
              <a:rPr sz="2700" b="1" i="0">
                <a:solidFill>
                  <a:srgbClr val="F5B53F"/>
                </a:solidFill>
                <a:latin typeface="Segoe UI"/>
                <a:ea typeface="Segoe UI"/>
                <a:cs typeface="Segoe UI"/>
              </a:rPr>
              <a:t>Tk 20.9B</a:t>
            </a:r>
          </a:p>
          <a:p>
            <a:pPr algn="l">
              <a:spcBef>
                <a:spcPts val="0"/>
              </a:spcBef>
              <a:spcAft>
                <a:spcPts val="0"/>
              </a:spcAft>
            </a:pPr>
            <a:r>
              <a:rPr sz="1300" b="1" i="0">
                <a:solidFill>
                  <a:srgbClr val="EEF3F8"/>
                </a:solidFill>
                <a:latin typeface="Segoe UI"/>
                <a:ea typeface="Segoe UI"/>
                <a:cs typeface="Segoe UI"/>
              </a:rPr>
              <a:t>SAM · Grameenphone's base</a:t>
            </a:r>
          </a:p>
          <a:p>
            <a:pPr algn="l">
              <a:lnSpc>
                <a:spcPct val="118000"/>
              </a:lnSpc>
              <a:spcBef>
                <a:spcPts val="400"/>
              </a:spcBef>
              <a:spcAft>
                <a:spcPts val="0"/>
              </a:spcAft>
            </a:pPr>
            <a:r>
              <a:rPr sz="1050" b="0" i="0">
                <a:solidFill>
                  <a:srgbClr val="93A6BA"/>
                </a:solidFill>
                <a:latin typeface="Segoe UI"/>
                <a:ea typeface="Segoe UI"/>
                <a:cs typeface="Segoe UI"/>
              </a:rPr>
              <a:t>87.20M × Tk 20 × 12 · calculated</a:t>
            </a:r>
          </a:p>
        </p:txBody>
      </p:sp>
      <p:sp>
        <p:nvSpPr>
          <p:cNvPr id="11" name="Rounded Rectangle 10"/>
          <p:cNvSpPr/>
          <p:nvPr/>
        </p:nvSpPr>
        <p:spPr>
          <a:xfrm>
            <a:off x="8054644" y="2103120"/>
            <a:ext cx="3478682" cy="1371600"/>
          </a:xfrm>
          <a:prstGeom prst="roundRect">
            <a:avLst>
              <a:gd name="adj" fmla="val 8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4100" y="2267712"/>
            <a:ext cx="3039770" cy="1042416"/>
          </a:xfrm>
          <a:prstGeom prst="rect">
            <a:avLst/>
          </a:prstGeom>
          <a:noFill/>
        </p:spPr>
        <p:txBody>
          <a:bodyPr wrap="square" lIns="0" rIns="0" tIns="0" bIns="0" anchor="t">
            <a:spAutoFit/>
          </a:bodyPr>
          <a:lstStyle/>
          <a:p>
            <a:pPr algn="l">
              <a:spcBef>
                <a:spcPts val="0"/>
              </a:spcBef>
              <a:spcAft>
                <a:spcPts val="500"/>
              </a:spcAft>
            </a:pPr>
            <a:r>
              <a:rPr sz="2700" b="1" i="0">
                <a:solidFill>
                  <a:srgbClr val="4FD6A8"/>
                </a:solidFill>
                <a:latin typeface="Segoe UI"/>
                <a:ea typeface="Segoe UI"/>
                <a:cs typeface="Segoe UI"/>
              </a:rPr>
              <a:t>Tk 209M</a:t>
            </a:r>
          </a:p>
          <a:p>
            <a:pPr algn="l">
              <a:spcBef>
                <a:spcPts val="0"/>
              </a:spcBef>
              <a:spcAft>
                <a:spcPts val="0"/>
              </a:spcAft>
            </a:pPr>
            <a:r>
              <a:rPr sz="1300" b="1" i="0">
                <a:solidFill>
                  <a:srgbClr val="EEF3F8"/>
                </a:solidFill>
                <a:latin typeface="Segoe UI"/>
                <a:ea typeface="Segoe UI"/>
                <a:cs typeface="Segoe UI"/>
              </a:rPr>
              <a:t>SOM · year one</a:t>
            </a:r>
          </a:p>
          <a:p>
            <a:pPr algn="l">
              <a:lnSpc>
                <a:spcPct val="118000"/>
              </a:lnSpc>
              <a:spcBef>
                <a:spcPts val="400"/>
              </a:spcBef>
              <a:spcAft>
                <a:spcPts val="0"/>
              </a:spcAft>
            </a:pPr>
            <a:r>
              <a:rPr sz="1050" b="0" i="0">
                <a:solidFill>
                  <a:srgbClr val="93A6BA"/>
                </a:solidFill>
                <a:latin typeface="Segoe UI"/>
                <a:ea typeface="Segoe UI"/>
                <a:cs typeface="Segoe UI"/>
              </a:rPr>
              <a:t>1% attach · Truecaller converts 0.75%</a:t>
            </a:r>
          </a:p>
        </p:txBody>
      </p:sp>
      <p:sp>
        <p:nvSpPr>
          <p:cNvPr id="13" name="TextBox 12"/>
          <p:cNvSpPr txBox="1"/>
          <p:nvPr/>
        </p:nvSpPr>
        <p:spPr>
          <a:xfrm>
            <a:off x="658368" y="3749039"/>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GO-TO-MARKET</a:t>
            </a:r>
          </a:p>
        </p:txBody>
      </p:sp>
      <p:sp>
        <p:nvSpPr>
          <p:cNvPr id="14" name="Rounded Rectangle 13"/>
          <p:cNvSpPr/>
          <p:nvPr/>
        </p:nvSpPr>
        <p:spPr>
          <a:xfrm>
            <a:off x="658368" y="4041648"/>
            <a:ext cx="3478682" cy="1225296"/>
          </a:xfrm>
          <a:prstGeom prst="roundRect">
            <a:avLst>
              <a:gd name="adj" fmla="val 7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197096"/>
            <a:ext cx="3076346" cy="914400"/>
          </a:xfrm>
          <a:prstGeom prst="rect">
            <a:avLst/>
          </a:prstGeom>
          <a:noFill/>
        </p:spPr>
        <p:txBody>
          <a:bodyPr wrap="square" lIns="0" rIns="0" tIns="0" bIns="0" anchor="t">
            <a:spAutoFit/>
          </a:bodyPr>
          <a:lstStyle/>
          <a:p>
            <a:pPr algn="l">
              <a:spcBef>
                <a:spcPts val="0"/>
              </a:spcBef>
              <a:spcAft>
                <a:spcPts val="500"/>
              </a:spcAft>
            </a:pPr>
            <a:r>
              <a:rPr sz="1400" b="1" i="0">
                <a:solidFill>
                  <a:srgbClr val="F5B53F"/>
                </a:solidFill>
                <a:latin typeface="Segoe UI"/>
                <a:ea typeface="Segoe UI"/>
                <a:cs typeface="Segoe UI"/>
              </a:rPr>
              <a:t>Phase 1 · 0–6 months</a:t>
            </a:r>
          </a:p>
          <a:p>
            <a:pPr algn="l">
              <a:lnSpc>
                <a:spcPct val="122000"/>
              </a:lnSpc>
              <a:spcBef>
                <a:spcPts val="0"/>
              </a:spcBef>
              <a:spcAft>
                <a:spcPts val="0"/>
              </a:spcAft>
            </a:pPr>
            <a:r>
              <a:rPr sz="1150" b="0" i="0">
                <a:solidFill>
                  <a:srgbClr val="93A6BA"/>
                </a:solidFill>
                <a:latin typeface="Segoe UI"/>
                <a:ea typeface="Segoe UI"/>
                <a:cs typeface="Segoe UI"/>
              </a:rPr>
              <a:t>one district · 5,000 opt-in · GP fraud-cell audio · the network warning first</a:t>
            </a:r>
          </a:p>
        </p:txBody>
      </p:sp>
      <p:sp>
        <p:nvSpPr>
          <p:cNvPr id="16" name="Rounded Rectangle 15"/>
          <p:cNvSpPr/>
          <p:nvPr/>
        </p:nvSpPr>
        <p:spPr>
          <a:xfrm>
            <a:off x="4356506" y="4041648"/>
            <a:ext cx="3478682" cy="1225296"/>
          </a:xfrm>
          <a:prstGeom prst="roundRect">
            <a:avLst>
              <a:gd name="adj" fmla="val 7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7674" y="4197096"/>
            <a:ext cx="3076346" cy="914400"/>
          </a:xfrm>
          <a:prstGeom prst="rect">
            <a:avLst/>
          </a:prstGeom>
          <a:noFill/>
        </p:spPr>
        <p:txBody>
          <a:bodyPr wrap="square" lIns="0" rIns="0" tIns="0" bIns="0" anchor="t">
            <a:spAutoFit/>
          </a:bodyPr>
          <a:lstStyle/>
          <a:p>
            <a:pPr algn="l">
              <a:spcBef>
                <a:spcPts val="0"/>
              </a:spcBef>
              <a:spcAft>
                <a:spcPts val="500"/>
              </a:spcAft>
            </a:pPr>
            <a:r>
              <a:rPr sz="1400" b="1" i="0">
                <a:solidFill>
                  <a:srgbClr val="F5B53F"/>
                </a:solidFill>
                <a:latin typeface="Segoe UI"/>
                <a:ea typeface="Segoe UI"/>
                <a:cs typeface="Segoe UI"/>
              </a:rPr>
              <a:t>Phase 2 · 6–18 months</a:t>
            </a:r>
          </a:p>
          <a:p>
            <a:pPr algn="l">
              <a:lnSpc>
                <a:spcPct val="122000"/>
              </a:lnSpc>
              <a:spcBef>
                <a:spcPts val="0"/>
              </a:spcBef>
              <a:spcAft>
                <a:spcPts val="0"/>
              </a:spcAft>
            </a:pPr>
            <a:r>
              <a:rPr sz="1150" b="0" i="0">
                <a:solidFill>
                  <a:srgbClr val="93A6BA"/>
                </a:solidFill>
                <a:latin typeface="Segoe UI"/>
                <a:ea typeface="Segoe UI"/>
                <a:cs typeface="Segoe UI"/>
              </a:rPr>
              <a:t>nationwide add-on pack · MFS agent shops · 999 and fraud-cell handoff</a:t>
            </a:r>
          </a:p>
        </p:txBody>
      </p:sp>
      <p:sp>
        <p:nvSpPr>
          <p:cNvPr id="18" name="Rounded Rectangle 17"/>
          <p:cNvSpPr/>
          <p:nvPr/>
        </p:nvSpPr>
        <p:spPr>
          <a:xfrm>
            <a:off x="8054644" y="4041648"/>
            <a:ext cx="3478682" cy="1225296"/>
          </a:xfrm>
          <a:prstGeom prst="roundRect">
            <a:avLst>
              <a:gd name="adj" fmla="val 7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5812" y="4197096"/>
            <a:ext cx="3076346" cy="914400"/>
          </a:xfrm>
          <a:prstGeom prst="rect">
            <a:avLst/>
          </a:prstGeom>
          <a:noFill/>
        </p:spPr>
        <p:txBody>
          <a:bodyPr wrap="square" lIns="0" rIns="0" tIns="0" bIns="0" anchor="t">
            <a:spAutoFit/>
          </a:bodyPr>
          <a:lstStyle/>
          <a:p>
            <a:pPr algn="l">
              <a:spcBef>
                <a:spcPts val="0"/>
              </a:spcBef>
              <a:spcAft>
                <a:spcPts val="500"/>
              </a:spcAft>
            </a:pPr>
            <a:r>
              <a:rPr sz="1400" b="1" i="0">
                <a:solidFill>
                  <a:srgbClr val="F5B53F"/>
                </a:solidFill>
                <a:latin typeface="Segoe UI"/>
                <a:ea typeface="Segoe UI"/>
                <a:cs typeface="Segoe UI"/>
              </a:rPr>
              <a:t>Phase 3 · 18 months +</a:t>
            </a:r>
          </a:p>
          <a:p>
            <a:pPr algn="l">
              <a:lnSpc>
                <a:spcPct val="122000"/>
              </a:lnSpc>
              <a:spcBef>
                <a:spcPts val="0"/>
              </a:spcBef>
              <a:spcAft>
                <a:spcPts val="0"/>
              </a:spcAft>
            </a:pPr>
            <a:r>
              <a:rPr sz="1150" b="0" i="0">
                <a:solidFill>
                  <a:srgbClr val="93A6BA"/>
                </a:solidFill>
                <a:latin typeface="Segoe UI"/>
                <a:ea typeface="Segoe UI"/>
                <a:cs typeface="Segoe UI"/>
              </a:rPr>
              <a:t>a shared report standard · other operators · licensed to MFS and BTRC</a:t>
            </a:r>
          </a:p>
        </p:txBody>
      </p:sp>
      <p:sp>
        <p:nvSpPr>
          <p:cNvPr id="20" name="TextBox 19"/>
          <p:cNvSpPr txBox="1"/>
          <p:nvPr/>
        </p:nvSpPr>
        <p:spPr>
          <a:xfrm>
            <a:off x="658368" y="5449824"/>
            <a:ext cx="10874959" cy="384048"/>
          </a:xfrm>
          <a:prstGeom prst="rect">
            <a:avLst/>
          </a:prstGeom>
          <a:noFill/>
        </p:spPr>
        <p:txBody>
          <a:bodyPr wrap="square" lIns="0" rIns="0" tIns="0" bIns="0" anchor="t">
            <a:spAutoFit/>
          </a:bodyPr>
          <a:lstStyle/>
          <a:p>
            <a:pPr algn="l">
              <a:spcBef>
                <a:spcPts val="0"/>
              </a:spcBef>
              <a:spcAft>
                <a:spcPts val="0"/>
              </a:spcAft>
            </a:pPr>
            <a:r>
              <a:rPr sz="950" b="0" i="1">
                <a:solidFill>
                  <a:srgbClr val="93A6BA"/>
                </a:solidFill>
                <a:latin typeface="Segoe UI"/>
                <a:ea typeface="Segoe UI"/>
                <a:cs typeface="Segoe UI"/>
              </a:rPr>
              <a:t>Denominators: BTRC subscribers (Aug 2026), Bangladesh Bank MFS (Jul 2026). The Tk 20 price and the 1% attach rate are our assumptions, not a surveyed willingness to pay.</a:t>
            </a:r>
          </a:p>
        </p:txBody>
      </p:sp>
      <p:sp>
        <p:nvSpPr>
          <p:cNvPr id="21" name="Rounded Rectangle 20"/>
          <p:cNvSpPr/>
          <p:nvPr/>
        </p:nvSpPr>
        <p:spPr>
          <a:xfrm>
            <a:off x="658368" y="5815584"/>
            <a:ext cx="10874959" cy="457200"/>
          </a:xfrm>
          <a:prstGeom prst="roundRect">
            <a:avLst>
              <a:gd name="adj" fmla="val 1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815584"/>
            <a:ext cx="10362895" cy="457200"/>
          </a:xfrm>
          <a:prstGeom prst="rect">
            <a:avLst/>
          </a:prstGeom>
          <a:noFill/>
        </p:spPr>
        <p:txBody>
          <a:bodyPr wrap="square" lIns="0" rIns="0" tIns="0" bIns="0" anchor="ctr">
            <a:spAutoFit/>
          </a:bodyPr>
          <a:lstStyle/>
          <a:p>
            <a:pPr algn="l">
              <a:spcBef>
                <a:spcPts val="0"/>
              </a:spcBef>
              <a:spcAft>
                <a:spcPts val="0"/>
              </a:spcAft>
            </a:pPr>
            <a:r>
              <a:rPr sz="1400" b="1" i="0">
                <a:solidFill>
                  <a:srgbClr val="F5B53F"/>
                </a:solidFill>
                <a:latin typeface="Segoe UI"/>
                <a:ea typeface="Segoe UI"/>
                <a:cs typeface="Segoe UI"/>
              </a:rPr>
              <a:t>Entry wedge:  </a:t>
            </a:r>
            <a:r>
              <a:rPr sz="1400" b="0" i="0">
                <a:solidFill>
                  <a:srgbClr val="EEF3F8"/>
                </a:solidFill>
                <a:latin typeface="Segoe UI"/>
                <a:ea typeface="Segoe UI"/>
                <a:cs typeface="Segoe UI"/>
              </a:rPr>
              <a:t>the pre-call network warning reaches every handset GP already serves — no install, no upgrade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IMPACT · THE ASK · LIVE PROOF</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10 / 10</a:t>
            </a:r>
          </a:p>
        </p:txBody>
      </p:sp>
      <p:sp>
        <p:nvSpPr>
          <p:cNvPr id="6" name="TextBox 5"/>
          <p:cNvSpPr txBox="1"/>
          <p:nvPr/>
        </p:nvSpPr>
        <p:spPr>
          <a:xfrm>
            <a:off x="658368" y="1481328"/>
            <a:ext cx="8229600" cy="640080"/>
          </a:xfrm>
          <a:prstGeom prst="rect">
            <a:avLst/>
          </a:prstGeom>
          <a:noFill/>
        </p:spPr>
        <p:txBody>
          <a:bodyPr wrap="square" lIns="0" rIns="0" tIns="0" bIns="0" anchor="t">
            <a:spAutoFit/>
          </a:bodyPr>
          <a:lstStyle/>
          <a:p>
            <a:pPr algn="l">
              <a:spcBef>
                <a:spcPts val="0"/>
              </a:spcBef>
              <a:spcAft>
                <a:spcPts val="0"/>
              </a:spcAft>
            </a:pPr>
            <a:r>
              <a:rPr sz="4000" b="1" i="0">
                <a:solidFill>
                  <a:srgbClr val="F5B53F"/>
                </a:solidFill>
                <a:latin typeface="Nirmala UI"/>
                <a:ea typeface="Nirmala UI"/>
                <a:cs typeface="Nirmala UI"/>
              </a:rPr>
              <a:t>সতর্ক থাকুন।</a:t>
            </a:r>
          </a:p>
        </p:txBody>
      </p:sp>
      <p:sp>
        <p:nvSpPr>
          <p:cNvPr id="7" name="TextBox 6"/>
          <p:cNvSpPr txBox="1"/>
          <p:nvPr/>
        </p:nvSpPr>
        <p:spPr>
          <a:xfrm>
            <a:off x="658368" y="2121408"/>
            <a:ext cx="8229600" cy="256032"/>
          </a:xfrm>
          <a:prstGeom prst="rect">
            <a:avLst/>
          </a:prstGeom>
          <a:noFill/>
        </p:spPr>
        <p:txBody>
          <a:bodyPr wrap="square" lIns="0" rIns="0" tIns="0" bIns="0" anchor="t">
            <a:spAutoFit/>
          </a:bodyPr>
          <a:lstStyle/>
          <a:p>
            <a:pPr algn="l">
              <a:spcBef>
                <a:spcPts val="0"/>
              </a:spcBef>
              <a:spcAft>
                <a:spcPts val="0"/>
              </a:spcAft>
            </a:pPr>
            <a:r>
              <a:rPr sz="1300" b="0" i="1">
                <a:solidFill>
                  <a:srgbClr val="93A6BA"/>
                </a:solidFill>
                <a:latin typeface="Segoe UI"/>
                <a:ea typeface="Segoe UI"/>
                <a:cs typeface="Segoe UI"/>
              </a:rPr>
              <a:t>Stay alert. Tell the family.</a:t>
            </a:r>
          </a:p>
        </p:txBody>
      </p:sp>
      <p:sp>
        <p:nvSpPr>
          <p:cNvPr id="8" name="TextBox 7"/>
          <p:cNvSpPr txBox="1"/>
          <p:nvPr/>
        </p:nvSpPr>
        <p:spPr>
          <a:xfrm>
            <a:off x="658368" y="2542032"/>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WHAT CHANGES IF THIS WORKS</a:t>
            </a:r>
          </a:p>
        </p:txBody>
      </p:sp>
      <p:sp>
        <p:nvSpPr>
          <p:cNvPr id="9" name="TextBox 8"/>
          <p:cNvSpPr txBox="1"/>
          <p:nvPr/>
        </p:nvSpPr>
        <p:spPr>
          <a:xfrm>
            <a:off x="658368" y="2816352"/>
            <a:ext cx="8138160" cy="329184"/>
          </a:xfrm>
          <a:prstGeom prst="rect">
            <a:avLst/>
          </a:prstGeom>
          <a:noFill/>
        </p:spPr>
        <p:txBody>
          <a:bodyPr wrap="square" lIns="0" rIns="0" tIns="0" bIns="0" anchor="t">
            <a:spAutoFit/>
          </a:bodyPr>
          <a:lstStyle/>
          <a:p>
            <a:pPr algn="l">
              <a:spcBef>
                <a:spcPts val="0"/>
              </a:spcBef>
              <a:spcAft>
                <a:spcPts val="0"/>
              </a:spcAft>
            </a:pPr>
            <a:r>
              <a:rPr sz="1350" b="1" i="0">
                <a:solidFill>
                  <a:srgbClr val="F5B53F"/>
                </a:solidFill>
                <a:latin typeface="Segoe UI"/>
                <a:ea typeface="Segoe UI"/>
                <a:cs typeface="Segoe UI"/>
              </a:rPr>
              <a:t>—  </a:t>
            </a:r>
            <a:r>
              <a:rPr sz="1350" b="0" i="0">
                <a:solidFill>
                  <a:srgbClr val="EEF3F8"/>
                </a:solidFill>
                <a:latin typeface="Segoe UI"/>
                <a:ea typeface="Segoe UI"/>
                <a:cs typeface="Segoe UI"/>
              </a:rPr>
              <a:t>Tk 30,000 stays with the person least able to lose it</a:t>
            </a:r>
          </a:p>
        </p:txBody>
      </p:sp>
      <p:sp>
        <p:nvSpPr>
          <p:cNvPr id="10" name="TextBox 9"/>
          <p:cNvSpPr txBox="1"/>
          <p:nvPr/>
        </p:nvSpPr>
        <p:spPr>
          <a:xfrm>
            <a:off x="658368" y="3163824"/>
            <a:ext cx="8138160" cy="329184"/>
          </a:xfrm>
          <a:prstGeom prst="rect">
            <a:avLst/>
          </a:prstGeom>
          <a:noFill/>
        </p:spPr>
        <p:txBody>
          <a:bodyPr wrap="square" lIns="0" rIns="0" tIns="0" bIns="0" anchor="t">
            <a:spAutoFit/>
          </a:bodyPr>
          <a:lstStyle/>
          <a:p>
            <a:pPr algn="l">
              <a:spcBef>
                <a:spcPts val="0"/>
              </a:spcBef>
              <a:spcAft>
                <a:spcPts val="0"/>
              </a:spcAft>
            </a:pPr>
            <a:r>
              <a:rPr sz="1350" b="1" i="0">
                <a:solidFill>
                  <a:srgbClr val="F5B53F"/>
                </a:solidFill>
                <a:latin typeface="Segoe UI"/>
                <a:ea typeface="Segoe UI"/>
                <a:cs typeface="Segoe UI"/>
              </a:rPr>
              <a:t>—  </a:t>
            </a:r>
            <a:r>
              <a:rPr sz="1350" b="0" i="0">
                <a:solidFill>
                  <a:srgbClr val="EEF3F8"/>
                </a:solidFill>
                <a:latin typeface="Segoe UI"/>
                <a:ea typeface="Segoe UI"/>
                <a:cs typeface="Segoe UI"/>
              </a:rPr>
              <a:t>one filed report instead of one family argument</a:t>
            </a:r>
          </a:p>
        </p:txBody>
      </p:sp>
      <p:sp>
        <p:nvSpPr>
          <p:cNvPr id="11" name="TextBox 10"/>
          <p:cNvSpPr txBox="1"/>
          <p:nvPr/>
        </p:nvSpPr>
        <p:spPr>
          <a:xfrm>
            <a:off x="658368" y="3511296"/>
            <a:ext cx="8138160" cy="329184"/>
          </a:xfrm>
          <a:prstGeom prst="rect">
            <a:avLst/>
          </a:prstGeom>
          <a:noFill/>
        </p:spPr>
        <p:txBody>
          <a:bodyPr wrap="square" lIns="0" rIns="0" tIns="0" bIns="0" anchor="t">
            <a:spAutoFit/>
          </a:bodyPr>
          <a:lstStyle/>
          <a:p>
            <a:pPr algn="l">
              <a:spcBef>
                <a:spcPts val="0"/>
              </a:spcBef>
              <a:spcAft>
                <a:spcPts val="0"/>
              </a:spcAft>
            </a:pPr>
            <a:r>
              <a:rPr sz="1350" b="1" i="0">
                <a:solidFill>
                  <a:srgbClr val="F5B53F"/>
                </a:solidFill>
                <a:latin typeface="Segoe UI"/>
                <a:ea typeface="Segoe UI"/>
                <a:cs typeface="Segoe UI"/>
              </a:rPr>
              <a:t>—  </a:t>
            </a:r>
            <a:r>
              <a:rPr sz="1350" b="0" i="0">
                <a:solidFill>
                  <a:srgbClr val="EEF3F8"/>
                </a:solidFill>
                <a:latin typeface="Segoe UI"/>
                <a:ea typeface="Segoe UI"/>
                <a:cs typeface="Segoe UI"/>
              </a:rPr>
              <a:t>trust in digital money stays with Grameenphone</a:t>
            </a:r>
          </a:p>
        </p:txBody>
      </p:sp>
      <p:sp>
        <p:nvSpPr>
          <p:cNvPr id="12" name="TextBox 11"/>
          <p:cNvSpPr txBox="1"/>
          <p:nvPr/>
        </p:nvSpPr>
        <p:spPr>
          <a:xfrm>
            <a:off x="658368" y="4023360"/>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WHAT WE ASK GP FOR</a:t>
            </a:r>
          </a:p>
        </p:txBody>
      </p:sp>
      <p:sp>
        <p:nvSpPr>
          <p:cNvPr id="13" name="TextBox 12"/>
          <p:cNvSpPr txBox="1"/>
          <p:nvPr/>
        </p:nvSpPr>
        <p:spPr>
          <a:xfrm>
            <a:off x="658368" y="4297680"/>
            <a:ext cx="8138160" cy="310896"/>
          </a:xfrm>
          <a:prstGeom prst="rect">
            <a:avLst/>
          </a:prstGeom>
          <a:noFill/>
        </p:spPr>
        <p:txBody>
          <a:bodyPr wrap="square" lIns="0" rIns="0" tIns="0" bIns="0" anchor="t">
            <a:spAutoFit/>
          </a:bodyPr>
          <a:lstStyle/>
          <a:p>
            <a:pPr algn="l">
              <a:spcBef>
                <a:spcPts val="0"/>
              </a:spcBef>
              <a:spcAft>
                <a:spcPts val="0"/>
              </a:spcAft>
            </a:pPr>
            <a:r>
              <a:rPr sz="1350" b="1" i="0">
                <a:solidFill>
                  <a:srgbClr val="4FD6A8"/>
                </a:solidFill>
                <a:latin typeface="Segoe UI"/>
                <a:ea typeface="Segoe UI"/>
                <a:cs typeface="Segoe UI"/>
              </a:rPr>
              <a:t>1.  </a:t>
            </a:r>
            <a:r>
              <a:rPr sz="1350" b="0" i="0">
                <a:solidFill>
                  <a:srgbClr val="EEF3F8"/>
                </a:solidFill>
                <a:latin typeface="Segoe UI"/>
                <a:ea typeface="Segoe UI"/>
                <a:cs typeface="Segoe UI"/>
              </a:rPr>
              <a:t>fraud-call audio and CDR patterns, anonymised</a:t>
            </a:r>
          </a:p>
        </p:txBody>
      </p:sp>
      <p:sp>
        <p:nvSpPr>
          <p:cNvPr id="14" name="TextBox 13"/>
          <p:cNvSpPr txBox="1"/>
          <p:nvPr/>
        </p:nvSpPr>
        <p:spPr>
          <a:xfrm>
            <a:off x="658368" y="4626864"/>
            <a:ext cx="8138160" cy="310896"/>
          </a:xfrm>
          <a:prstGeom prst="rect">
            <a:avLst/>
          </a:prstGeom>
          <a:noFill/>
        </p:spPr>
        <p:txBody>
          <a:bodyPr wrap="square" lIns="0" rIns="0" tIns="0" bIns="0" anchor="t">
            <a:spAutoFit/>
          </a:bodyPr>
          <a:lstStyle/>
          <a:p>
            <a:pPr algn="l">
              <a:spcBef>
                <a:spcPts val="0"/>
              </a:spcBef>
              <a:spcAft>
                <a:spcPts val="0"/>
              </a:spcAft>
            </a:pPr>
            <a:r>
              <a:rPr sz="1350" b="1" i="0">
                <a:solidFill>
                  <a:srgbClr val="4FD6A8"/>
                </a:solidFill>
                <a:latin typeface="Segoe UI"/>
                <a:ea typeface="Segoe UI"/>
                <a:cs typeface="Segoe UI"/>
              </a:rPr>
              <a:t>2.  </a:t>
            </a:r>
            <a:r>
              <a:rPr sz="1350" b="0" i="0">
                <a:solidFill>
                  <a:srgbClr val="EEF3F8"/>
                </a:solidFill>
                <a:latin typeface="Segoe UI"/>
                <a:ea typeface="Segoe UI"/>
                <a:cs typeface="Segoe UI"/>
              </a:rPr>
              <a:t>one network announcement slot</a:t>
            </a:r>
          </a:p>
        </p:txBody>
      </p:sp>
      <p:sp>
        <p:nvSpPr>
          <p:cNvPr id="15" name="TextBox 14"/>
          <p:cNvSpPr txBox="1"/>
          <p:nvPr/>
        </p:nvSpPr>
        <p:spPr>
          <a:xfrm>
            <a:off x="658368" y="4956048"/>
            <a:ext cx="8138160" cy="310896"/>
          </a:xfrm>
          <a:prstGeom prst="rect">
            <a:avLst/>
          </a:prstGeom>
          <a:noFill/>
        </p:spPr>
        <p:txBody>
          <a:bodyPr wrap="square" lIns="0" rIns="0" tIns="0" bIns="0" anchor="t">
            <a:spAutoFit/>
          </a:bodyPr>
          <a:lstStyle/>
          <a:p>
            <a:pPr algn="l">
              <a:spcBef>
                <a:spcPts val="0"/>
              </a:spcBef>
              <a:spcAft>
                <a:spcPts val="0"/>
              </a:spcAft>
            </a:pPr>
            <a:r>
              <a:rPr sz="1350" b="1" i="0">
                <a:solidFill>
                  <a:srgbClr val="4FD6A8"/>
                </a:solidFill>
                <a:latin typeface="Segoe UI"/>
                <a:ea typeface="Segoe UI"/>
                <a:cs typeface="Segoe UI"/>
              </a:rPr>
              <a:t>3.  </a:t>
            </a:r>
            <a:r>
              <a:rPr sz="1350" b="0" i="0">
                <a:solidFill>
                  <a:srgbClr val="EEF3F8"/>
                </a:solidFill>
                <a:latin typeface="Segoe UI"/>
                <a:ea typeface="Segoe UI"/>
                <a:cs typeface="Segoe UI"/>
              </a:rPr>
              <a:t>one USSD gating test on *21</a:t>
            </a:r>
          </a:p>
        </p:txBody>
      </p:sp>
      <p:sp>
        <p:nvSpPr>
          <p:cNvPr id="16" name="TextBox 15"/>
          <p:cNvSpPr txBox="1"/>
          <p:nvPr/>
        </p:nvSpPr>
        <p:spPr>
          <a:xfrm>
            <a:off x="658368" y="5285232"/>
            <a:ext cx="8138160" cy="310896"/>
          </a:xfrm>
          <a:prstGeom prst="rect">
            <a:avLst/>
          </a:prstGeom>
          <a:noFill/>
        </p:spPr>
        <p:txBody>
          <a:bodyPr wrap="square" lIns="0" rIns="0" tIns="0" bIns="0" anchor="t">
            <a:spAutoFit/>
          </a:bodyPr>
          <a:lstStyle/>
          <a:p>
            <a:pPr algn="l">
              <a:spcBef>
                <a:spcPts val="0"/>
              </a:spcBef>
              <a:spcAft>
                <a:spcPts val="0"/>
              </a:spcAft>
            </a:pPr>
            <a:r>
              <a:rPr sz="1350" b="1" i="0">
                <a:solidFill>
                  <a:srgbClr val="4FD6A8"/>
                </a:solidFill>
                <a:latin typeface="Segoe UI"/>
                <a:ea typeface="Segoe UI"/>
                <a:cs typeface="Segoe UI"/>
              </a:rPr>
              <a:t>4.  </a:t>
            </a:r>
            <a:r>
              <a:rPr sz="1350" b="0" i="0">
                <a:solidFill>
                  <a:srgbClr val="EEF3F8"/>
                </a:solidFill>
                <a:latin typeface="Segoe UI"/>
                <a:ea typeface="Segoe UI"/>
                <a:cs typeface="Segoe UI"/>
              </a:rPr>
              <a:t>one pilot district · 90 days</a:t>
            </a:r>
          </a:p>
        </p:txBody>
      </p:sp>
      <p:sp>
        <p:nvSpPr>
          <p:cNvPr id="17" name="Rounded Rectangle 16"/>
          <p:cNvSpPr/>
          <p:nvPr/>
        </p:nvSpPr>
        <p:spPr>
          <a:xfrm>
            <a:off x="8945575" y="1517904"/>
            <a:ext cx="2706624" cy="2706624"/>
          </a:xfrm>
          <a:prstGeom prst="roundRect">
            <a:avLst>
              <a:gd name="adj" fmla="val 5000"/>
            </a:avLst>
          </a:prstGeom>
          <a:solidFill>
            <a:srgbClr val="EEF3F8"/>
          </a:solidFill>
          <a:ln w="19050">
            <a:solidFill>
              <a:srgbClr val="F5B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qr-abukawser.png"/>
          <p:cNvPicPr>
            <a:picLocks noChangeAspect="1"/>
          </p:cNvPicPr>
          <p:nvPr/>
        </p:nvPicPr>
        <p:blipFill>
          <a:blip r:embed="rId2"/>
          <a:stretch>
            <a:fillRect/>
          </a:stretch>
        </p:blipFill>
        <p:spPr>
          <a:xfrm>
            <a:off x="9064447" y="1645920"/>
            <a:ext cx="2468880" cy="2468880"/>
          </a:xfrm>
          <a:prstGeom prst="rect">
            <a:avLst/>
          </a:prstGeom>
        </p:spPr>
      </p:pic>
      <p:sp>
        <p:nvSpPr>
          <p:cNvPr id="19" name="TextBox 18"/>
          <p:cNvSpPr txBox="1"/>
          <p:nvPr/>
        </p:nvSpPr>
        <p:spPr>
          <a:xfrm>
            <a:off x="8515807" y="4315968"/>
            <a:ext cx="3566160" cy="457200"/>
          </a:xfrm>
          <a:prstGeom prst="rect">
            <a:avLst/>
          </a:prstGeom>
          <a:noFill/>
        </p:spPr>
        <p:txBody>
          <a:bodyPr wrap="square" lIns="0" rIns="0" tIns="0" bIns="0" anchor="t">
            <a:spAutoFit/>
          </a:bodyPr>
          <a:lstStyle/>
          <a:p>
            <a:pPr algn="ctr">
              <a:spcBef>
                <a:spcPts val="0"/>
              </a:spcBef>
              <a:spcAft>
                <a:spcPts val="300"/>
              </a:spcAft>
            </a:pPr>
            <a:r>
              <a:rPr sz="1700" b="1" i="0">
                <a:solidFill>
                  <a:srgbClr val="4FD6A8"/>
                </a:solidFill>
                <a:latin typeface="Segoe UI"/>
                <a:ea typeface="Segoe UI"/>
                <a:cs typeface="Segoe UI"/>
              </a:rPr>
              <a:t>abukawser.xyz</a:t>
            </a:r>
          </a:p>
          <a:p>
            <a:pPr algn="ctr">
              <a:spcBef>
                <a:spcPts val="0"/>
              </a:spcBef>
              <a:spcAft>
                <a:spcPts val="0"/>
              </a:spcAft>
            </a:pPr>
            <a:r>
              <a:rPr sz="1050" b="0" i="0">
                <a:solidFill>
                  <a:srgbClr val="93A6BA"/>
                </a:solidFill>
                <a:latin typeface="Segoe UI"/>
                <a:ea typeface="Segoe UI"/>
                <a:cs typeface="Segoe UI"/>
              </a:rPr>
              <a:t>no login · no install · works on a phone</a:t>
            </a:r>
          </a:p>
        </p:txBody>
      </p:sp>
      <p:sp>
        <p:nvSpPr>
          <p:cNvPr id="20" name="TextBox 19"/>
          <p:cNvSpPr txBox="1"/>
          <p:nvPr/>
        </p:nvSpPr>
        <p:spPr>
          <a:xfrm>
            <a:off x="658368" y="5742432"/>
            <a:ext cx="10874959" cy="566928"/>
          </a:xfrm>
          <a:prstGeom prst="rect">
            <a:avLst/>
          </a:prstGeom>
          <a:noFill/>
        </p:spPr>
        <p:txBody>
          <a:bodyPr wrap="square" lIns="0" rIns="0" tIns="0" bIns="0" anchor="t">
            <a:spAutoFit/>
          </a:bodyPr>
          <a:lstStyle/>
          <a:p>
            <a:pPr algn="l">
              <a:lnSpc>
                <a:spcPct val="125000"/>
              </a:lnSpc>
              <a:spcBef>
                <a:spcPts val="0"/>
              </a:spcBef>
              <a:spcAft>
                <a:spcPts val="400"/>
              </a:spcAft>
            </a:pPr>
            <a:r>
              <a:rPr sz="1200" b="0" i="0">
                <a:solidFill>
                  <a:srgbClr val="93A6BA"/>
                </a:solidFill>
                <a:latin typeface="Segoe UI"/>
                <a:ea typeface="Segoe UI"/>
                <a:cs typeface="Segoe UI"/>
              </a:rPr>
              <a:t>On the site:  </a:t>
            </a:r>
            <a:r>
              <a:rPr sz="1200" b="1" i="0">
                <a:solidFill>
                  <a:srgbClr val="EEF3F8"/>
                </a:solidFill>
                <a:latin typeface="Segoe UI"/>
                <a:ea typeface="Segoe UI"/>
                <a:cs typeface="Segoe UI"/>
              </a:rPr>
              <a:t>Play the story</a:t>
            </a:r>
            <a:r>
              <a:rPr sz="1200" b="0" i="0">
                <a:solidFill>
                  <a:srgbClr val="93A6BA"/>
                </a:solidFill>
                <a:latin typeface="Segoe UI"/>
                <a:ea typeface="Segoe UI"/>
                <a:cs typeface="Segoe UI"/>
              </a:rPr>
              <a:t>  runs the whole intervention in under a minute;  </a:t>
            </a:r>
            <a:r>
              <a:rPr sz="1200" b="0" i="0">
                <a:solidFill>
                  <a:srgbClr val="93A6BA"/>
                </a:solidFill>
                <a:latin typeface="Nirmala UI"/>
                <a:ea typeface="Nirmala UI"/>
                <a:cs typeface="Nirmala UI"/>
              </a:rPr>
              <a:t>নিজে যাচাই </a:t>
            </a:r>
            <a:r>
              <a:rPr sz="1200" b="0" i="0">
                <a:solidFill>
                  <a:srgbClr val="93A6BA"/>
                </a:solidFill>
                <a:latin typeface="Segoe UI"/>
                <a:ea typeface="Segoe UI"/>
                <a:cs typeface="Segoe UI"/>
              </a:rPr>
              <a:t>takes a scam line you were actually sent.</a:t>
            </a:r>
          </a:p>
          <a:p>
            <a:pPr algn="l">
              <a:spcBef>
                <a:spcPts val="0"/>
              </a:spcBef>
              <a:spcAft>
                <a:spcPts val="0"/>
              </a:spcAft>
            </a:pPr>
            <a:r>
              <a:rPr sz="1100" b="0" i="0">
                <a:solidFill>
                  <a:srgbClr val="F5B53F"/>
                </a:solidFill>
                <a:latin typeface="Segoe UI"/>
                <a:ea typeface="Segoe UI"/>
                <a:cs typeface="Segoe UI"/>
              </a:rPr>
              <a:t>Reputations and radar records are demo data, and the page says so on every screen.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APPENDIX · SOURCES</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A1 / A3</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2600" b="1" i="0">
                <a:solidFill>
                  <a:srgbClr val="EEF3F8"/>
                </a:solidFill>
                <a:latin typeface="Segoe UI"/>
                <a:ea typeface="Segoe UI"/>
                <a:cs typeface="Segoe UI"/>
              </a:rPr>
              <a:t>Every number, and where it came from.</a:t>
            </a:r>
          </a:p>
        </p:txBody>
      </p:sp>
      <p:sp>
        <p:nvSpPr>
          <p:cNvPr id="7" name="Rounded Rectangle 6"/>
          <p:cNvSpPr/>
          <p:nvPr/>
        </p:nvSpPr>
        <p:spPr>
          <a:xfrm>
            <a:off x="658368" y="2103120"/>
            <a:ext cx="10874959" cy="457200"/>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03120"/>
            <a:ext cx="3108960" cy="457200"/>
          </a:xfrm>
          <a:prstGeom prst="rect">
            <a:avLst/>
          </a:prstGeom>
          <a:noFill/>
        </p:spPr>
        <p:txBody>
          <a:bodyPr wrap="square" lIns="0" rIns="0" tIns="0" bIns="0" anchor="ctr">
            <a:spAutoFit/>
          </a:bodyPr>
          <a:lstStyle/>
          <a:p>
            <a:pPr algn="l">
              <a:spcBef>
                <a:spcPts val="0"/>
              </a:spcBef>
              <a:spcAft>
                <a:spcPts val="0"/>
              </a:spcAft>
            </a:pPr>
            <a:r>
              <a:rPr sz="1250" b="1" i="0">
                <a:solidFill>
                  <a:srgbClr val="F5B53F"/>
                </a:solidFill>
                <a:latin typeface="Segoe UI"/>
                <a:ea typeface="Segoe UI"/>
                <a:cs typeface="Segoe UI"/>
              </a:rPr>
              <a:t>Tk 2.17T · Tk 182.7B · 258.7M</a:t>
            </a:r>
          </a:p>
        </p:txBody>
      </p:sp>
      <p:sp>
        <p:nvSpPr>
          <p:cNvPr id="9" name="TextBox 8"/>
          <p:cNvSpPr txBox="1"/>
          <p:nvPr/>
        </p:nvSpPr>
        <p:spPr>
          <a:xfrm>
            <a:off x="4041648" y="2103120"/>
            <a:ext cx="7263079" cy="457200"/>
          </a:xfrm>
          <a:prstGeom prst="rect">
            <a:avLst/>
          </a:prstGeom>
          <a:noFill/>
        </p:spPr>
        <p:txBody>
          <a:bodyPr wrap="square" lIns="0" rIns="0" tIns="0" bIns="0" anchor="ctr">
            <a:spAutoFit/>
          </a:bodyPr>
          <a:lstStyle/>
          <a:p>
            <a:pPr algn="l">
              <a:spcBef>
                <a:spcPts val="0"/>
              </a:spcBef>
              <a:spcAft>
                <a:spcPts val="0"/>
              </a:spcAft>
            </a:pPr>
            <a:r>
              <a:rPr sz="900" b="0" i="0">
                <a:solidFill>
                  <a:srgbClr val="93A6BA"/>
                </a:solidFill>
                <a:latin typeface="Segoe UI"/>
                <a:ea typeface="Segoe UI"/>
                <a:cs typeface="Segoe UI"/>
              </a:rPr>
              <a:t>Bangladesh Bank, MFS statistics: transactions table 9, accounts table 8, July 2026 — bb.org.bd/econdata/fin_digitalfstat</a:t>
            </a:r>
          </a:p>
        </p:txBody>
      </p:sp>
      <p:sp>
        <p:nvSpPr>
          <p:cNvPr id="10" name="Rounded Rectangle 9"/>
          <p:cNvSpPr/>
          <p:nvPr/>
        </p:nvSpPr>
        <p:spPr>
          <a:xfrm>
            <a:off x="658368" y="2624328"/>
            <a:ext cx="10874959" cy="457200"/>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624328"/>
            <a:ext cx="3108960" cy="457200"/>
          </a:xfrm>
          <a:prstGeom prst="rect">
            <a:avLst/>
          </a:prstGeom>
          <a:noFill/>
        </p:spPr>
        <p:txBody>
          <a:bodyPr wrap="square" lIns="0" rIns="0" tIns="0" bIns="0" anchor="ctr">
            <a:spAutoFit/>
          </a:bodyPr>
          <a:lstStyle/>
          <a:p>
            <a:pPr algn="l">
              <a:spcBef>
                <a:spcPts val="0"/>
              </a:spcBef>
              <a:spcAft>
                <a:spcPts val="0"/>
              </a:spcAft>
            </a:pPr>
            <a:r>
              <a:rPr sz="1250" b="1" i="0">
                <a:solidFill>
                  <a:srgbClr val="F5B53F"/>
                </a:solidFill>
                <a:latin typeface="Segoe UI"/>
                <a:ea typeface="Segoe UI"/>
                <a:cs typeface="Segoe UI"/>
              </a:rPr>
              <a:t>191.09M · 87.20M</a:t>
            </a:r>
          </a:p>
        </p:txBody>
      </p:sp>
      <p:sp>
        <p:nvSpPr>
          <p:cNvPr id="12" name="TextBox 11"/>
          <p:cNvSpPr txBox="1"/>
          <p:nvPr/>
        </p:nvSpPr>
        <p:spPr>
          <a:xfrm>
            <a:off x="4041648" y="2624328"/>
            <a:ext cx="7263079" cy="457200"/>
          </a:xfrm>
          <a:prstGeom prst="rect">
            <a:avLst/>
          </a:prstGeom>
          <a:noFill/>
        </p:spPr>
        <p:txBody>
          <a:bodyPr wrap="square" lIns="0" rIns="0" tIns="0" bIns="0" anchor="ctr">
            <a:spAutoFit/>
          </a:bodyPr>
          <a:lstStyle/>
          <a:p>
            <a:pPr algn="l">
              <a:spcBef>
                <a:spcPts val="0"/>
              </a:spcBef>
              <a:spcAft>
                <a:spcPts val="0"/>
              </a:spcAft>
            </a:pPr>
            <a:r>
              <a:rPr sz="900" b="0" i="0">
                <a:solidFill>
                  <a:srgbClr val="93A6BA"/>
                </a:solidFill>
                <a:latin typeface="Segoe UI"/>
                <a:ea typeface="Segoe UI"/>
                <a:cs typeface="Segoe UI"/>
              </a:rPr>
              <a:t>BTRC, mobile subscribers by operator, August 2026 — btrc.gov.bd/pages/static-pages/6922dda8933eb65569e15c3d</a:t>
            </a:r>
          </a:p>
        </p:txBody>
      </p:sp>
      <p:sp>
        <p:nvSpPr>
          <p:cNvPr id="13" name="Rounded Rectangle 12"/>
          <p:cNvSpPr/>
          <p:nvPr/>
        </p:nvSpPr>
        <p:spPr>
          <a:xfrm>
            <a:off x="658368" y="3145536"/>
            <a:ext cx="10874959" cy="457200"/>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3145536"/>
            <a:ext cx="3108960" cy="457200"/>
          </a:xfrm>
          <a:prstGeom prst="rect">
            <a:avLst/>
          </a:prstGeom>
          <a:noFill/>
        </p:spPr>
        <p:txBody>
          <a:bodyPr wrap="square" lIns="0" rIns="0" tIns="0" bIns="0" anchor="ctr">
            <a:spAutoFit/>
          </a:bodyPr>
          <a:lstStyle/>
          <a:p>
            <a:pPr algn="l">
              <a:spcBef>
                <a:spcPts val="0"/>
              </a:spcBef>
              <a:spcAft>
                <a:spcPts val="0"/>
              </a:spcAft>
            </a:pPr>
            <a:r>
              <a:rPr sz="1250" b="1" i="0">
                <a:solidFill>
                  <a:srgbClr val="F5B53F"/>
                </a:solidFill>
                <a:latin typeface="Segoe UI"/>
                <a:ea typeface="Segoe UI"/>
                <a:cs typeface="Segoe UI"/>
              </a:rPr>
              <a:t>122.71M on 4G · 69.18% internet</a:t>
            </a:r>
          </a:p>
        </p:txBody>
      </p:sp>
      <p:sp>
        <p:nvSpPr>
          <p:cNvPr id="15" name="TextBox 14"/>
          <p:cNvSpPr txBox="1"/>
          <p:nvPr/>
        </p:nvSpPr>
        <p:spPr>
          <a:xfrm>
            <a:off x="4041648" y="3145536"/>
            <a:ext cx="7263079" cy="457200"/>
          </a:xfrm>
          <a:prstGeom prst="rect">
            <a:avLst/>
          </a:prstGeom>
          <a:noFill/>
        </p:spPr>
        <p:txBody>
          <a:bodyPr wrap="square" lIns="0" rIns="0" tIns="0" bIns="0" anchor="ctr">
            <a:spAutoFit/>
          </a:bodyPr>
          <a:lstStyle/>
          <a:p>
            <a:pPr algn="l">
              <a:spcBef>
                <a:spcPts val="0"/>
              </a:spcBef>
              <a:spcAft>
                <a:spcPts val="0"/>
              </a:spcAft>
            </a:pPr>
            <a:r>
              <a:rPr sz="900" b="0" i="0">
                <a:solidFill>
                  <a:srgbClr val="93A6BA"/>
                </a:solidFill>
                <a:latin typeface="Segoe UI"/>
                <a:ea typeface="Segoe UI"/>
                <a:cs typeface="Segoe UI"/>
              </a:rPr>
              <a:t>BTRC, teledensity and penetration, August 2026 — btrc.gov.bd/pages/static-pages/teledensity-penetration-8ecc0e-6922e009933eb65569e2524c</a:t>
            </a:r>
          </a:p>
        </p:txBody>
      </p:sp>
      <p:sp>
        <p:nvSpPr>
          <p:cNvPr id="16" name="Rounded Rectangle 15"/>
          <p:cNvSpPr/>
          <p:nvPr/>
        </p:nvSpPr>
        <p:spPr>
          <a:xfrm>
            <a:off x="658368" y="3666744"/>
            <a:ext cx="10874959" cy="457200"/>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3666744"/>
            <a:ext cx="3108960" cy="457200"/>
          </a:xfrm>
          <a:prstGeom prst="rect">
            <a:avLst/>
          </a:prstGeom>
          <a:noFill/>
        </p:spPr>
        <p:txBody>
          <a:bodyPr wrap="square" lIns="0" rIns="0" tIns="0" bIns="0" anchor="ctr">
            <a:spAutoFit/>
          </a:bodyPr>
          <a:lstStyle/>
          <a:p>
            <a:pPr algn="l">
              <a:spcBef>
                <a:spcPts val="0"/>
              </a:spcBef>
              <a:spcAft>
                <a:spcPts val="0"/>
              </a:spcAft>
            </a:pPr>
            <a:r>
              <a:rPr sz="1250" b="1" i="0">
                <a:solidFill>
                  <a:srgbClr val="F5B53F"/>
                </a:solidFill>
                <a:latin typeface="Segoe UI"/>
                <a:ea typeface="Segoe UI"/>
                <a:cs typeface="Segoe UI"/>
              </a:rPr>
              <a:t>4M+ subscribers · 0.75% conversion</a:t>
            </a:r>
          </a:p>
        </p:txBody>
      </p:sp>
      <p:sp>
        <p:nvSpPr>
          <p:cNvPr id="18" name="TextBox 17"/>
          <p:cNvSpPr txBox="1"/>
          <p:nvPr/>
        </p:nvSpPr>
        <p:spPr>
          <a:xfrm>
            <a:off x="4041648" y="3666744"/>
            <a:ext cx="7263079" cy="457200"/>
          </a:xfrm>
          <a:prstGeom prst="rect">
            <a:avLst/>
          </a:prstGeom>
          <a:noFill/>
        </p:spPr>
        <p:txBody>
          <a:bodyPr wrap="square" lIns="0" rIns="0" tIns="0" bIns="0" anchor="ctr">
            <a:spAutoFit/>
          </a:bodyPr>
          <a:lstStyle/>
          <a:p>
            <a:pPr algn="l">
              <a:spcBef>
                <a:spcPts val="0"/>
              </a:spcBef>
              <a:spcAft>
                <a:spcPts val="0"/>
              </a:spcAft>
            </a:pPr>
            <a:r>
              <a:rPr sz="900" b="0" i="0">
                <a:solidFill>
                  <a:srgbClr val="93A6BA"/>
                </a:solidFill>
                <a:latin typeface="Segoe UI"/>
                <a:ea typeface="Segoe UI"/>
                <a:cs typeface="Segoe UI"/>
              </a:rPr>
              <a:t>Truecaller AB, 10 March 2026 — news.cision.com/truecaller-ab/r/truecaller-surpasses-4-million-premium-subscribers,c4318816</a:t>
            </a:r>
          </a:p>
        </p:txBody>
      </p:sp>
      <p:sp>
        <p:nvSpPr>
          <p:cNvPr id="19" name="Rounded Rectangle 18"/>
          <p:cNvSpPr/>
          <p:nvPr/>
        </p:nvSpPr>
        <p:spPr>
          <a:xfrm>
            <a:off x="658368" y="4187952"/>
            <a:ext cx="10874959" cy="457200"/>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187952"/>
            <a:ext cx="3108960" cy="457200"/>
          </a:xfrm>
          <a:prstGeom prst="rect">
            <a:avLst/>
          </a:prstGeom>
          <a:noFill/>
        </p:spPr>
        <p:txBody>
          <a:bodyPr wrap="square" lIns="0" rIns="0" tIns="0" bIns="0" anchor="ctr">
            <a:spAutoFit/>
          </a:bodyPr>
          <a:lstStyle/>
          <a:p>
            <a:pPr algn="l">
              <a:spcBef>
                <a:spcPts val="0"/>
              </a:spcBef>
              <a:spcAft>
                <a:spcPts val="0"/>
              </a:spcAft>
            </a:pPr>
            <a:r>
              <a:rPr sz="1250" b="1" i="0">
                <a:solidFill>
                  <a:srgbClr val="F5B53F"/>
                </a:solidFill>
                <a:latin typeface="Segoe UI"/>
                <a:ea typeface="Segoe UI"/>
                <a:cs typeface="Segoe UI"/>
              </a:rPr>
              <a:t>USD 3.99 a month</a:t>
            </a:r>
          </a:p>
        </p:txBody>
      </p:sp>
      <p:sp>
        <p:nvSpPr>
          <p:cNvPr id="21" name="TextBox 20"/>
          <p:cNvSpPr txBox="1"/>
          <p:nvPr/>
        </p:nvSpPr>
        <p:spPr>
          <a:xfrm>
            <a:off x="4041648" y="4187952"/>
            <a:ext cx="7263079" cy="457200"/>
          </a:xfrm>
          <a:prstGeom prst="rect">
            <a:avLst/>
          </a:prstGeom>
          <a:noFill/>
        </p:spPr>
        <p:txBody>
          <a:bodyPr wrap="square" lIns="0" rIns="0" tIns="0" bIns="0" anchor="ctr">
            <a:spAutoFit/>
          </a:bodyPr>
          <a:lstStyle/>
          <a:p>
            <a:pPr algn="l">
              <a:spcBef>
                <a:spcPts val="0"/>
              </a:spcBef>
              <a:spcAft>
                <a:spcPts val="0"/>
              </a:spcAft>
            </a:pPr>
            <a:r>
              <a:rPr sz="900" b="0" i="0">
                <a:solidFill>
                  <a:srgbClr val="93A6BA"/>
                </a:solidFill>
                <a:latin typeface="Segoe UI"/>
                <a:ea typeface="Segoe UI"/>
                <a:cs typeface="Segoe UI"/>
              </a:rPr>
              <a:t>Verizon Call Filter Plus — verizon.com/support/call-filter-faqs</a:t>
            </a:r>
          </a:p>
        </p:txBody>
      </p:sp>
      <p:sp>
        <p:nvSpPr>
          <p:cNvPr id="22" name="Rounded Rectangle 21"/>
          <p:cNvSpPr/>
          <p:nvPr/>
        </p:nvSpPr>
        <p:spPr>
          <a:xfrm>
            <a:off x="658368" y="4709160"/>
            <a:ext cx="10874959" cy="457200"/>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7" y="4709160"/>
            <a:ext cx="3108960" cy="457200"/>
          </a:xfrm>
          <a:prstGeom prst="rect">
            <a:avLst/>
          </a:prstGeom>
          <a:noFill/>
        </p:spPr>
        <p:txBody>
          <a:bodyPr wrap="square" lIns="0" rIns="0" tIns="0" bIns="0" anchor="ctr">
            <a:spAutoFit/>
          </a:bodyPr>
          <a:lstStyle/>
          <a:p>
            <a:pPr algn="l">
              <a:spcBef>
                <a:spcPts val="0"/>
              </a:spcBef>
              <a:spcAft>
                <a:spcPts val="0"/>
              </a:spcAft>
            </a:pPr>
            <a:r>
              <a:rPr sz="1250" b="1" i="0">
                <a:solidFill>
                  <a:srgbClr val="F5B53F"/>
                </a:solidFill>
                <a:latin typeface="Segoe UI"/>
                <a:ea typeface="Segoe UI"/>
                <a:cs typeface="Segoe UI"/>
              </a:rPr>
              <a:t>USD 3.5B lost to imposter scams</a:t>
            </a:r>
          </a:p>
        </p:txBody>
      </p:sp>
      <p:sp>
        <p:nvSpPr>
          <p:cNvPr id="24" name="TextBox 23"/>
          <p:cNvSpPr txBox="1"/>
          <p:nvPr/>
        </p:nvSpPr>
        <p:spPr>
          <a:xfrm>
            <a:off x="4041648" y="4709160"/>
            <a:ext cx="7263079" cy="457200"/>
          </a:xfrm>
          <a:prstGeom prst="rect">
            <a:avLst/>
          </a:prstGeom>
          <a:noFill/>
        </p:spPr>
        <p:txBody>
          <a:bodyPr wrap="square" lIns="0" rIns="0" tIns="0" bIns="0" anchor="ctr">
            <a:spAutoFit/>
          </a:bodyPr>
          <a:lstStyle/>
          <a:p>
            <a:pPr algn="l">
              <a:spcBef>
                <a:spcPts val="0"/>
              </a:spcBef>
              <a:spcAft>
                <a:spcPts val="0"/>
              </a:spcAft>
            </a:pPr>
            <a:r>
              <a:rPr sz="900" b="0" i="0">
                <a:solidFill>
                  <a:srgbClr val="93A6BA"/>
                </a:solidFill>
                <a:latin typeface="Segoe UI"/>
                <a:ea typeface="Segoe UI"/>
                <a:cs typeface="Segoe UI"/>
              </a:rPr>
              <a:t>US Federal Trade Commission, 15 June 2026 — ftc.gov/news-events/news/press-releases/2026/06/ftc-data-show-people-reported-losing-3-point-5-billion-imposter-scams-2025</a:t>
            </a:r>
          </a:p>
        </p:txBody>
      </p:sp>
      <p:sp>
        <p:nvSpPr>
          <p:cNvPr id="25" name="Rounded Rectangle 24"/>
          <p:cNvSpPr/>
          <p:nvPr/>
        </p:nvSpPr>
        <p:spPr>
          <a:xfrm>
            <a:off x="658368" y="5230368"/>
            <a:ext cx="10874959" cy="457200"/>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7" y="5230368"/>
            <a:ext cx="3108960" cy="457200"/>
          </a:xfrm>
          <a:prstGeom prst="rect">
            <a:avLst/>
          </a:prstGeom>
          <a:noFill/>
        </p:spPr>
        <p:txBody>
          <a:bodyPr wrap="square" lIns="0" rIns="0" tIns="0" bIns="0" anchor="ctr">
            <a:spAutoFit/>
          </a:bodyPr>
          <a:lstStyle/>
          <a:p>
            <a:pPr algn="l">
              <a:spcBef>
                <a:spcPts val="0"/>
              </a:spcBef>
              <a:spcAft>
                <a:spcPts val="0"/>
              </a:spcAft>
            </a:pPr>
            <a:r>
              <a:rPr sz="1250" b="1" i="0">
                <a:solidFill>
                  <a:srgbClr val="F5B53F"/>
                </a:solidFill>
                <a:latin typeface="Segoe UI"/>
                <a:ea typeface="Segoe UI"/>
                <a:cs typeface="Segoe UI"/>
              </a:rPr>
              <a:t>Tk 45.9B · 20.9B · 209M</a:t>
            </a:r>
          </a:p>
        </p:txBody>
      </p:sp>
      <p:sp>
        <p:nvSpPr>
          <p:cNvPr id="27" name="TextBox 26"/>
          <p:cNvSpPr txBox="1"/>
          <p:nvPr/>
        </p:nvSpPr>
        <p:spPr>
          <a:xfrm>
            <a:off x="4041648" y="5230368"/>
            <a:ext cx="7263079" cy="457200"/>
          </a:xfrm>
          <a:prstGeom prst="rect">
            <a:avLst/>
          </a:prstGeom>
          <a:noFill/>
        </p:spPr>
        <p:txBody>
          <a:bodyPr wrap="square" lIns="0" rIns="0" tIns="0" bIns="0" anchor="ctr">
            <a:spAutoFit/>
          </a:bodyPr>
          <a:lstStyle/>
          <a:p>
            <a:pPr algn="l">
              <a:spcBef>
                <a:spcPts val="0"/>
              </a:spcBef>
              <a:spcAft>
                <a:spcPts val="0"/>
              </a:spcAft>
            </a:pPr>
            <a:r>
              <a:rPr sz="900" b="0" i="0">
                <a:solidFill>
                  <a:srgbClr val="93A6BA"/>
                </a:solidFill>
                <a:latin typeface="Segoe UI"/>
                <a:ea typeface="Segoe UI"/>
                <a:cs typeface="Segoe UI"/>
              </a:rPr>
              <a:t>calculated by us from the tables above; the Tk 20 price and 1% attach rate are our own assumptions</a:t>
            </a:r>
          </a:p>
        </p:txBody>
      </p:sp>
      <p:sp>
        <p:nvSpPr>
          <p:cNvPr id="28" name="Rounded Rectangle 27"/>
          <p:cNvSpPr/>
          <p:nvPr/>
        </p:nvSpPr>
        <p:spPr>
          <a:xfrm>
            <a:off x="658368" y="5870448"/>
            <a:ext cx="10874959" cy="475488"/>
          </a:xfrm>
          <a:prstGeom prst="roundRect">
            <a:avLst>
              <a:gd name="adj" fmla="val 1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870448"/>
            <a:ext cx="10362895" cy="475488"/>
          </a:xfrm>
          <a:prstGeom prst="rect">
            <a:avLst/>
          </a:prstGeom>
          <a:noFill/>
        </p:spPr>
        <p:txBody>
          <a:bodyPr wrap="square" lIns="0" rIns="0" tIns="0" bIns="0" anchor="ctr">
            <a:spAutoFit/>
          </a:bodyPr>
          <a:lstStyle/>
          <a:p>
            <a:pPr algn="l">
              <a:spcBef>
                <a:spcPts val="0"/>
              </a:spcBef>
              <a:spcAft>
                <a:spcPts val="0"/>
              </a:spcAft>
            </a:pPr>
            <a:r>
              <a:rPr sz="1400" b="1" i="0">
                <a:solidFill>
                  <a:srgbClr val="F5B53F"/>
                </a:solidFill>
                <a:latin typeface="Segoe UI"/>
                <a:ea typeface="Segoe UI"/>
                <a:cs typeface="Segoe UI"/>
              </a:rPr>
              <a:t>What we will not claim:  </a:t>
            </a:r>
            <a:r>
              <a:rPr sz="1400" b="0" i="0">
                <a:solidFill>
                  <a:srgbClr val="EEF3F8"/>
                </a:solidFill>
                <a:latin typeface="Segoe UI"/>
                <a:ea typeface="Segoe UI"/>
                <a:cs typeface="Segoe UI"/>
              </a:rPr>
              <a:t>there is no published Bangladeshi national fraud-loss figure, and we did not invent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APPENDIX · UNIT ECONOMICS</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A2 / A3</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2600" b="1" i="0">
                <a:solidFill>
                  <a:srgbClr val="EEF3F8"/>
                </a:solidFill>
                <a:latin typeface="Segoe UI"/>
                <a:ea typeface="Segoe UI"/>
                <a:cs typeface="Segoe UI"/>
              </a:rPr>
              <a:t>Sensitivity, and what it costs to serve.</a:t>
            </a:r>
          </a:p>
        </p:txBody>
      </p:sp>
      <p:sp>
        <p:nvSpPr>
          <p:cNvPr id="7" name="TextBox 6"/>
          <p:cNvSpPr txBox="1"/>
          <p:nvPr/>
        </p:nvSpPr>
        <p:spPr>
          <a:xfrm>
            <a:off x="658368" y="2084831"/>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GP BASE OF 87.20M SUBSCRIBERS, AT Tk 20 A MONTH</a:t>
            </a:r>
          </a:p>
        </p:txBody>
      </p:sp>
      <p:sp>
        <p:nvSpPr>
          <p:cNvPr id="8" name="TextBox 7"/>
          <p:cNvSpPr txBox="1"/>
          <p:nvPr/>
        </p:nvSpPr>
        <p:spPr>
          <a:xfrm>
            <a:off x="658368" y="2395728"/>
            <a:ext cx="941831" cy="457200"/>
          </a:xfrm>
          <a:prstGeom prst="rect">
            <a:avLst/>
          </a:prstGeom>
          <a:noFill/>
        </p:spPr>
        <p:txBody>
          <a:bodyPr wrap="square" lIns="0" rIns="0" tIns="0" bIns="0" anchor="ctr">
            <a:spAutoFit/>
          </a:bodyPr>
          <a:lstStyle/>
          <a:p>
            <a:pPr algn="l">
              <a:spcBef>
                <a:spcPts val="0"/>
              </a:spcBef>
              <a:spcAft>
                <a:spcPts val="0"/>
              </a:spcAft>
            </a:pPr>
            <a:r>
              <a:rPr sz="1300" b="1" i="0">
                <a:solidFill>
                  <a:srgbClr val="EEF3F8"/>
                </a:solidFill>
                <a:latin typeface="Segoe UI"/>
                <a:ea typeface="Segoe UI"/>
                <a:cs typeface="Segoe UI"/>
              </a:rPr>
              <a:t>0.5%</a:t>
            </a:r>
          </a:p>
        </p:txBody>
      </p:sp>
      <p:sp>
        <p:nvSpPr>
          <p:cNvPr id="9" name="Rounded Rectangle 8"/>
          <p:cNvSpPr/>
          <p:nvPr/>
        </p:nvSpPr>
        <p:spPr>
          <a:xfrm>
            <a:off x="1709928" y="2487168"/>
            <a:ext cx="6949440" cy="274320"/>
          </a:xfrm>
          <a:prstGeom prst="roundRect">
            <a:avLst>
              <a:gd name="adj" fmla="val 5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709928" y="2487168"/>
            <a:ext cx="1158240" cy="274320"/>
          </a:xfrm>
          <a:prstGeom prst="roundRect">
            <a:avLst>
              <a:gd name="adj" fmla="val 50000"/>
            </a:avLst>
          </a:prstGeom>
          <a:solidFill>
            <a:srgbClr val="93A6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05672" y="2395728"/>
            <a:ext cx="1417320" cy="457200"/>
          </a:xfrm>
          <a:prstGeom prst="rect">
            <a:avLst/>
          </a:prstGeom>
          <a:noFill/>
        </p:spPr>
        <p:txBody>
          <a:bodyPr wrap="square" lIns="0" rIns="0" tIns="0" bIns="0" anchor="ctr">
            <a:spAutoFit/>
          </a:bodyPr>
          <a:lstStyle/>
          <a:p>
            <a:pPr algn="l">
              <a:spcBef>
                <a:spcPts val="0"/>
              </a:spcBef>
              <a:spcAft>
                <a:spcPts val="0"/>
              </a:spcAft>
            </a:pPr>
            <a:r>
              <a:rPr sz="1350" b="1" i="0">
                <a:solidFill>
                  <a:srgbClr val="93A6BA"/>
                </a:solidFill>
                <a:latin typeface="Segoe UI"/>
                <a:ea typeface="Segoe UI"/>
                <a:cs typeface="Segoe UI"/>
              </a:rPr>
              <a:t>Tk 105M / yr</a:t>
            </a:r>
          </a:p>
        </p:txBody>
      </p:sp>
      <p:sp>
        <p:nvSpPr>
          <p:cNvPr id="12" name="TextBox 11"/>
          <p:cNvSpPr txBox="1"/>
          <p:nvPr/>
        </p:nvSpPr>
        <p:spPr>
          <a:xfrm>
            <a:off x="658368" y="2907792"/>
            <a:ext cx="941831" cy="457200"/>
          </a:xfrm>
          <a:prstGeom prst="rect">
            <a:avLst/>
          </a:prstGeom>
          <a:noFill/>
        </p:spPr>
        <p:txBody>
          <a:bodyPr wrap="square" lIns="0" rIns="0" tIns="0" bIns="0" anchor="ctr">
            <a:spAutoFit/>
          </a:bodyPr>
          <a:lstStyle/>
          <a:p>
            <a:pPr algn="l">
              <a:spcBef>
                <a:spcPts val="0"/>
              </a:spcBef>
              <a:spcAft>
                <a:spcPts val="0"/>
              </a:spcAft>
            </a:pPr>
            <a:r>
              <a:rPr sz="1300" b="1" i="0">
                <a:solidFill>
                  <a:srgbClr val="EEF3F8"/>
                </a:solidFill>
                <a:latin typeface="Segoe UI"/>
                <a:ea typeface="Segoe UI"/>
                <a:cs typeface="Segoe UI"/>
              </a:rPr>
              <a:t>1%</a:t>
            </a:r>
          </a:p>
        </p:txBody>
      </p:sp>
      <p:sp>
        <p:nvSpPr>
          <p:cNvPr id="13" name="Rounded Rectangle 12"/>
          <p:cNvSpPr/>
          <p:nvPr/>
        </p:nvSpPr>
        <p:spPr>
          <a:xfrm>
            <a:off x="1709928" y="2999232"/>
            <a:ext cx="6949440" cy="274320"/>
          </a:xfrm>
          <a:prstGeom prst="roundRect">
            <a:avLst>
              <a:gd name="adj" fmla="val 5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09928" y="2999232"/>
            <a:ext cx="2316480" cy="274320"/>
          </a:xfrm>
          <a:prstGeom prst="roundRect">
            <a:avLst>
              <a:gd name="adj" fmla="val 50000"/>
            </a:avLst>
          </a:prstGeom>
          <a:solidFill>
            <a:srgbClr val="F5B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05672" y="2907792"/>
            <a:ext cx="1417320" cy="457200"/>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Tk 209M / yr</a:t>
            </a:r>
          </a:p>
        </p:txBody>
      </p:sp>
      <p:sp>
        <p:nvSpPr>
          <p:cNvPr id="16" name="TextBox 15"/>
          <p:cNvSpPr txBox="1"/>
          <p:nvPr/>
        </p:nvSpPr>
        <p:spPr>
          <a:xfrm>
            <a:off x="10213847" y="2907792"/>
            <a:ext cx="914400" cy="457200"/>
          </a:xfrm>
          <a:prstGeom prst="rect">
            <a:avLst/>
          </a:prstGeom>
          <a:noFill/>
        </p:spPr>
        <p:txBody>
          <a:bodyPr wrap="square" lIns="0" rIns="0" tIns="0" bIns="0" anchor="ctr">
            <a:spAutoFit/>
          </a:bodyPr>
          <a:lstStyle/>
          <a:p>
            <a:pPr algn="l">
              <a:spcBef>
                <a:spcPts val="0"/>
              </a:spcBef>
              <a:spcAft>
                <a:spcPts val="0"/>
              </a:spcAft>
            </a:pPr>
            <a:r>
              <a:rPr sz="1050" b="0" i="1">
                <a:solidFill>
                  <a:srgbClr val="93A6BA"/>
                </a:solidFill>
                <a:latin typeface="Segoe UI"/>
                <a:ea typeface="Segoe UI"/>
                <a:cs typeface="Segoe UI"/>
              </a:rPr>
              <a:t>base case</a:t>
            </a:r>
          </a:p>
        </p:txBody>
      </p:sp>
      <p:sp>
        <p:nvSpPr>
          <p:cNvPr id="17" name="TextBox 16"/>
          <p:cNvSpPr txBox="1"/>
          <p:nvPr/>
        </p:nvSpPr>
        <p:spPr>
          <a:xfrm>
            <a:off x="658368" y="3419856"/>
            <a:ext cx="941831" cy="457200"/>
          </a:xfrm>
          <a:prstGeom prst="rect">
            <a:avLst/>
          </a:prstGeom>
          <a:noFill/>
        </p:spPr>
        <p:txBody>
          <a:bodyPr wrap="square" lIns="0" rIns="0" tIns="0" bIns="0" anchor="ctr">
            <a:spAutoFit/>
          </a:bodyPr>
          <a:lstStyle/>
          <a:p>
            <a:pPr algn="l">
              <a:spcBef>
                <a:spcPts val="0"/>
              </a:spcBef>
              <a:spcAft>
                <a:spcPts val="0"/>
              </a:spcAft>
            </a:pPr>
            <a:r>
              <a:rPr sz="1300" b="1" i="0">
                <a:solidFill>
                  <a:srgbClr val="EEF3F8"/>
                </a:solidFill>
                <a:latin typeface="Segoe UI"/>
                <a:ea typeface="Segoe UI"/>
                <a:cs typeface="Segoe UI"/>
              </a:rPr>
              <a:t>2%</a:t>
            </a:r>
          </a:p>
        </p:txBody>
      </p:sp>
      <p:sp>
        <p:nvSpPr>
          <p:cNvPr id="18" name="Rounded Rectangle 17"/>
          <p:cNvSpPr/>
          <p:nvPr/>
        </p:nvSpPr>
        <p:spPr>
          <a:xfrm>
            <a:off x="1709928" y="3511296"/>
            <a:ext cx="6949440" cy="274320"/>
          </a:xfrm>
          <a:prstGeom prst="roundRect">
            <a:avLst>
              <a:gd name="adj" fmla="val 5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709928" y="3511296"/>
            <a:ext cx="4632960" cy="274320"/>
          </a:xfrm>
          <a:prstGeom prst="roundRect">
            <a:avLst>
              <a:gd name="adj" fmla="val 50000"/>
            </a:avLst>
          </a:prstGeom>
          <a:solidFill>
            <a:srgbClr val="93A6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05672" y="3419856"/>
            <a:ext cx="1417320" cy="457200"/>
          </a:xfrm>
          <a:prstGeom prst="rect">
            <a:avLst/>
          </a:prstGeom>
          <a:noFill/>
        </p:spPr>
        <p:txBody>
          <a:bodyPr wrap="square" lIns="0" rIns="0" tIns="0" bIns="0" anchor="ctr">
            <a:spAutoFit/>
          </a:bodyPr>
          <a:lstStyle/>
          <a:p>
            <a:pPr algn="l">
              <a:spcBef>
                <a:spcPts val="0"/>
              </a:spcBef>
              <a:spcAft>
                <a:spcPts val="0"/>
              </a:spcAft>
            </a:pPr>
            <a:r>
              <a:rPr sz="1350" b="1" i="0">
                <a:solidFill>
                  <a:srgbClr val="93A6BA"/>
                </a:solidFill>
                <a:latin typeface="Segoe UI"/>
                <a:ea typeface="Segoe UI"/>
                <a:cs typeface="Segoe UI"/>
              </a:rPr>
              <a:t>Tk 419M / yr</a:t>
            </a:r>
          </a:p>
        </p:txBody>
      </p:sp>
      <p:sp>
        <p:nvSpPr>
          <p:cNvPr id="21" name="TextBox 20"/>
          <p:cNvSpPr txBox="1"/>
          <p:nvPr/>
        </p:nvSpPr>
        <p:spPr>
          <a:xfrm>
            <a:off x="658368" y="3931920"/>
            <a:ext cx="941831" cy="457200"/>
          </a:xfrm>
          <a:prstGeom prst="rect">
            <a:avLst/>
          </a:prstGeom>
          <a:noFill/>
        </p:spPr>
        <p:txBody>
          <a:bodyPr wrap="square" lIns="0" rIns="0" tIns="0" bIns="0" anchor="ctr">
            <a:spAutoFit/>
          </a:bodyPr>
          <a:lstStyle/>
          <a:p>
            <a:pPr algn="l">
              <a:spcBef>
                <a:spcPts val="0"/>
              </a:spcBef>
              <a:spcAft>
                <a:spcPts val="0"/>
              </a:spcAft>
            </a:pPr>
            <a:r>
              <a:rPr sz="1300" b="1" i="0">
                <a:solidFill>
                  <a:srgbClr val="EEF3F8"/>
                </a:solidFill>
                <a:latin typeface="Segoe UI"/>
                <a:ea typeface="Segoe UI"/>
                <a:cs typeface="Segoe UI"/>
              </a:rPr>
              <a:t>3%</a:t>
            </a:r>
          </a:p>
        </p:txBody>
      </p:sp>
      <p:sp>
        <p:nvSpPr>
          <p:cNvPr id="22" name="Rounded Rectangle 21"/>
          <p:cNvSpPr/>
          <p:nvPr/>
        </p:nvSpPr>
        <p:spPr>
          <a:xfrm>
            <a:off x="1709928" y="4023360"/>
            <a:ext cx="6949440" cy="274320"/>
          </a:xfrm>
          <a:prstGeom prst="roundRect">
            <a:avLst>
              <a:gd name="adj" fmla="val 50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709928" y="4023360"/>
            <a:ext cx="6949440" cy="274320"/>
          </a:xfrm>
          <a:prstGeom prst="roundRect">
            <a:avLst>
              <a:gd name="adj" fmla="val 50000"/>
            </a:avLst>
          </a:prstGeom>
          <a:solidFill>
            <a:srgbClr val="93A6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05672" y="3931920"/>
            <a:ext cx="1417320" cy="457200"/>
          </a:xfrm>
          <a:prstGeom prst="rect">
            <a:avLst/>
          </a:prstGeom>
          <a:noFill/>
        </p:spPr>
        <p:txBody>
          <a:bodyPr wrap="square" lIns="0" rIns="0" tIns="0" bIns="0" anchor="ctr">
            <a:spAutoFit/>
          </a:bodyPr>
          <a:lstStyle/>
          <a:p>
            <a:pPr algn="l">
              <a:spcBef>
                <a:spcPts val="0"/>
              </a:spcBef>
              <a:spcAft>
                <a:spcPts val="0"/>
              </a:spcAft>
            </a:pPr>
            <a:r>
              <a:rPr sz="1350" b="1" i="0">
                <a:solidFill>
                  <a:srgbClr val="93A6BA"/>
                </a:solidFill>
                <a:latin typeface="Segoe UI"/>
                <a:ea typeface="Segoe UI"/>
                <a:cs typeface="Segoe UI"/>
              </a:rPr>
              <a:t>Tk 628M / yr</a:t>
            </a:r>
          </a:p>
        </p:txBody>
      </p:sp>
      <p:sp>
        <p:nvSpPr>
          <p:cNvPr id="25" name="TextBox 24"/>
          <p:cNvSpPr txBox="1"/>
          <p:nvPr/>
        </p:nvSpPr>
        <p:spPr>
          <a:xfrm>
            <a:off x="658368" y="4617720"/>
            <a:ext cx="10874959"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COST TO SERVE</a:t>
            </a:r>
          </a:p>
        </p:txBody>
      </p:sp>
      <p:sp>
        <p:nvSpPr>
          <p:cNvPr id="26" name="TextBox 25"/>
          <p:cNvSpPr txBox="1"/>
          <p:nvPr/>
        </p:nvSpPr>
        <p:spPr>
          <a:xfrm>
            <a:off x="658368" y="4910328"/>
            <a:ext cx="5440680" cy="292608"/>
          </a:xfrm>
          <a:prstGeom prst="rect">
            <a:avLst/>
          </a:prstGeom>
          <a:noFill/>
        </p:spPr>
        <p:txBody>
          <a:bodyPr wrap="square" lIns="0" rIns="0" tIns="0" bIns="0" anchor="t">
            <a:spAutoFit/>
          </a:bodyPr>
          <a:lstStyle/>
          <a:p>
            <a:pPr algn="l">
              <a:spcBef>
                <a:spcPts val="0"/>
              </a:spcBef>
              <a:spcAft>
                <a:spcPts val="0"/>
              </a:spcAft>
            </a:pPr>
            <a:r>
              <a:rPr sz="1200" b="1" i="0">
                <a:solidFill>
                  <a:srgbClr val="93A6BA"/>
                </a:solidFill>
                <a:latin typeface="Segoe UI"/>
                <a:ea typeface="Segoe UI"/>
                <a:cs typeface="Segoe UI"/>
              </a:rPr>
              <a:t>—  </a:t>
            </a:r>
            <a:r>
              <a:rPr sz="1200" b="0" i="0">
                <a:solidFill>
                  <a:srgbClr val="EEF3F8"/>
                </a:solidFill>
                <a:latin typeface="Segoe UI"/>
                <a:ea typeface="Segoe UI"/>
                <a:cs typeface="Segoe UI"/>
              </a:rPr>
              <a:t>the classifier runs on the handset — no inference per call</a:t>
            </a:r>
          </a:p>
        </p:txBody>
      </p:sp>
      <p:sp>
        <p:nvSpPr>
          <p:cNvPr id="27" name="TextBox 26"/>
          <p:cNvSpPr txBox="1"/>
          <p:nvPr/>
        </p:nvSpPr>
        <p:spPr>
          <a:xfrm>
            <a:off x="658368" y="5221224"/>
            <a:ext cx="5440680" cy="292608"/>
          </a:xfrm>
          <a:prstGeom prst="rect">
            <a:avLst/>
          </a:prstGeom>
          <a:noFill/>
        </p:spPr>
        <p:txBody>
          <a:bodyPr wrap="square" lIns="0" rIns="0" tIns="0" bIns="0" anchor="t">
            <a:spAutoFit/>
          </a:bodyPr>
          <a:lstStyle/>
          <a:p>
            <a:pPr algn="l">
              <a:spcBef>
                <a:spcPts val="0"/>
              </a:spcBef>
              <a:spcAft>
                <a:spcPts val="0"/>
              </a:spcAft>
            </a:pPr>
            <a:r>
              <a:rPr sz="1200" b="1" i="0">
                <a:solidFill>
                  <a:srgbClr val="93A6BA"/>
                </a:solidFill>
                <a:latin typeface="Segoe UI"/>
                <a:ea typeface="Segoe UI"/>
                <a:cs typeface="Segoe UI"/>
              </a:rPr>
              <a:t>—  </a:t>
            </a:r>
            <a:r>
              <a:rPr sz="1200" b="0" i="0">
                <a:solidFill>
                  <a:srgbClr val="EEF3F8"/>
                </a:solidFill>
                <a:latin typeface="Segoe UI"/>
                <a:ea typeface="Segoe UI"/>
                <a:cs typeface="Segoe UI"/>
              </a:rPr>
              <a:t>the cloud is used only to write the complaint letter</a:t>
            </a:r>
          </a:p>
        </p:txBody>
      </p:sp>
      <p:sp>
        <p:nvSpPr>
          <p:cNvPr id="28" name="TextBox 27"/>
          <p:cNvSpPr txBox="1"/>
          <p:nvPr/>
        </p:nvSpPr>
        <p:spPr>
          <a:xfrm>
            <a:off x="658368" y="5532120"/>
            <a:ext cx="5440680" cy="292608"/>
          </a:xfrm>
          <a:prstGeom prst="rect">
            <a:avLst/>
          </a:prstGeom>
          <a:noFill/>
        </p:spPr>
        <p:txBody>
          <a:bodyPr wrap="square" lIns="0" rIns="0" tIns="0" bIns="0" anchor="t">
            <a:spAutoFit/>
          </a:bodyPr>
          <a:lstStyle/>
          <a:p>
            <a:pPr algn="l">
              <a:spcBef>
                <a:spcPts val="0"/>
              </a:spcBef>
              <a:spcAft>
                <a:spcPts val="0"/>
              </a:spcAft>
            </a:pPr>
            <a:r>
              <a:rPr sz="1200" b="1" i="0">
                <a:solidFill>
                  <a:srgbClr val="93A6BA"/>
                </a:solidFill>
                <a:latin typeface="Segoe UI"/>
                <a:ea typeface="Segoe UI"/>
                <a:cs typeface="Segoe UI"/>
              </a:rPr>
              <a:t>—  </a:t>
            </a:r>
            <a:r>
              <a:rPr sz="1200" b="0" i="0">
                <a:solidFill>
                  <a:srgbClr val="EEF3F8"/>
                </a:solidFill>
                <a:latin typeface="Segoe UI"/>
                <a:ea typeface="Segoe UI"/>
                <a:cs typeface="Segoe UI"/>
              </a:rPr>
              <a:t>no app-store royalty: the product is a network service</a:t>
            </a:r>
          </a:p>
        </p:txBody>
      </p:sp>
      <p:sp>
        <p:nvSpPr>
          <p:cNvPr id="29" name="TextBox 28"/>
          <p:cNvSpPr txBox="1"/>
          <p:nvPr/>
        </p:nvSpPr>
        <p:spPr>
          <a:xfrm>
            <a:off x="6309360" y="4617720"/>
            <a:ext cx="5223967" cy="237744"/>
          </a:xfrm>
          <a:prstGeom prst="rect">
            <a:avLst/>
          </a:prstGeom>
          <a:noFill/>
        </p:spPr>
        <p:txBody>
          <a:bodyPr wrap="square" lIns="0" rIns="0" tIns="0" bIns="0" anchor="t">
            <a:spAutoFit/>
          </a:bodyPr>
          <a:lstStyle/>
          <a:p>
            <a:pPr algn="l">
              <a:spcBef>
                <a:spcPts val="0"/>
              </a:spcBef>
              <a:spcAft>
                <a:spcPts val="0"/>
              </a:spcAft>
            </a:pPr>
            <a:r>
              <a:rPr sz="1050" b="1" i="0">
                <a:solidFill>
                  <a:srgbClr val="93A6BA"/>
                </a:solidFill>
                <a:latin typeface="Segoe UI"/>
                <a:ea typeface="Segoe UI"/>
                <a:cs typeface="Segoe UI"/>
              </a:rPr>
              <a:t>WHY GP WOULD BUY IT</a:t>
            </a:r>
          </a:p>
        </p:txBody>
      </p:sp>
      <p:sp>
        <p:nvSpPr>
          <p:cNvPr id="30" name="TextBox 29"/>
          <p:cNvSpPr txBox="1"/>
          <p:nvPr/>
        </p:nvSpPr>
        <p:spPr>
          <a:xfrm>
            <a:off x="6309360" y="4910328"/>
            <a:ext cx="5223967" cy="292608"/>
          </a:xfrm>
          <a:prstGeom prst="rect">
            <a:avLst/>
          </a:prstGeom>
          <a:noFill/>
        </p:spPr>
        <p:txBody>
          <a:bodyPr wrap="square" lIns="0" rIns="0" tIns="0" bIns="0" anchor="t">
            <a:spAutoFit/>
          </a:bodyPr>
          <a:lstStyle/>
          <a:p>
            <a:pPr algn="l">
              <a:spcBef>
                <a:spcPts val="0"/>
              </a:spcBef>
              <a:spcAft>
                <a:spcPts val="0"/>
              </a:spcAft>
            </a:pPr>
            <a:r>
              <a:rPr sz="1200" b="1" i="0">
                <a:solidFill>
                  <a:srgbClr val="4FD6A8"/>
                </a:solidFill>
                <a:latin typeface="Segoe UI"/>
                <a:ea typeface="Segoe UI"/>
                <a:cs typeface="Segoe UI"/>
              </a:rPr>
              <a:t>—  </a:t>
            </a:r>
            <a:r>
              <a:rPr sz="1200" b="0" i="0">
                <a:solidFill>
                  <a:srgbClr val="EEF3F8"/>
                </a:solidFill>
                <a:latin typeface="Segoe UI"/>
                <a:ea typeface="Segoe UI"/>
                <a:cs typeface="Segoe UI"/>
              </a:rPr>
              <a:t>retention: safety is a reason to stay on the network</a:t>
            </a:r>
          </a:p>
        </p:txBody>
      </p:sp>
      <p:sp>
        <p:nvSpPr>
          <p:cNvPr id="31" name="TextBox 30"/>
          <p:cNvSpPr txBox="1"/>
          <p:nvPr/>
        </p:nvSpPr>
        <p:spPr>
          <a:xfrm>
            <a:off x="6309360" y="5221224"/>
            <a:ext cx="5223967" cy="292608"/>
          </a:xfrm>
          <a:prstGeom prst="rect">
            <a:avLst/>
          </a:prstGeom>
          <a:noFill/>
        </p:spPr>
        <p:txBody>
          <a:bodyPr wrap="square" lIns="0" rIns="0" tIns="0" bIns="0" anchor="t">
            <a:spAutoFit/>
          </a:bodyPr>
          <a:lstStyle/>
          <a:p>
            <a:pPr algn="l">
              <a:spcBef>
                <a:spcPts val="0"/>
              </a:spcBef>
              <a:spcAft>
                <a:spcPts val="0"/>
              </a:spcAft>
            </a:pPr>
            <a:r>
              <a:rPr sz="1200" b="1" i="0">
                <a:solidFill>
                  <a:srgbClr val="4FD6A8"/>
                </a:solidFill>
                <a:latin typeface="Segoe UI"/>
                <a:ea typeface="Segoe UI"/>
                <a:cs typeface="Segoe UI"/>
              </a:rPr>
              <a:t>—  </a:t>
            </a:r>
            <a:r>
              <a:rPr sz="1200" b="0" i="0">
                <a:solidFill>
                  <a:srgbClr val="EEF3F8"/>
                </a:solidFill>
                <a:latin typeface="Segoe UI"/>
                <a:ea typeface="Segoe UI"/>
                <a:cs typeface="Segoe UI"/>
              </a:rPr>
              <a:t>Tk 182.7B of e-money float depends on trust</a:t>
            </a:r>
          </a:p>
        </p:txBody>
      </p:sp>
      <p:sp>
        <p:nvSpPr>
          <p:cNvPr id="32" name="TextBox 31"/>
          <p:cNvSpPr txBox="1"/>
          <p:nvPr/>
        </p:nvSpPr>
        <p:spPr>
          <a:xfrm>
            <a:off x="6309360" y="5532120"/>
            <a:ext cx="5223967" cy="292608"/>
          </a:xfrm>
          <a:prstGeom prst="rect">
            <a:avLst/>
          </a:prstGeom>
          <a:noFill/>
        </p:spPr>
        <p:txBody>
          <a:bodyPr wrap="square" lIns="0" rIns="0" tIns="0" bIns="0" anchor="t">
            <a:spAutoFit/>
          </a:bodyPr>
          <a:lstStyle/>
          <a:p>
            <a:pPr algn="l">
              <a:spcBef>
                <a:spcPts val="0"/>
              </a:spcBef>
              <a:spcAft>
                <a:spcPts val="0"/>
              </a:spcAft>
            </a:pPr>
            <a:r>
              <a:rPr sz="1200" b="1" i="0">
                <a:solidFill>
                  <a:srgbClr val="4FD6A8"/>
                </a:solidFill>
                <a:latin typeface="Segoe UI"/>
                <a:ea typeface="Segoe UI"/>
                <a:cs typeface="Segoe UI"/>
              </a:rPr>
              <a:t>—  </a:t>
            </a:r>
            <a:r>
              <a:rPr sz="1200" b="0" i="0">
                <a:solidFill>
                  <a:srgbClr val="EEF3F8"/>
                </a:solidFill>
                <a:latin typeface="Segoe UI"/>
                <a:ea typeface="Segoe UI"/>
                <a:cs typeface="Segoe UI"/>
              </a:rPr>
              <a:t>fewer fraud tickets in the contact centre</a:t>
            </a:r>
          </a:p>
        </p:txBody>
      </p:sp>
      <p:sp>
        <p:nvSpPr>
          <p:cNvPr id="33" name="TextBox 32"/>
          <p:cNvSpPr txBox="1"/>
          <p:nvPr/>
        </p:nvSpPr>
        <p:spPr>
          <a:xfrm>
            <a:off x="6309360" y="5843016"/>
            <a:ext cx="5223967" cy="292608"/>
          </a:xfrm>
          <a:prstGeom prst="rect">
            <a:avLst/>
          </a:prstGeom>
          <a:noFill/>
        </p:spPr>
        <p:txBody>
          <a:bodyPr wrap="square" lIns="0" rIns="0" tIns="0" bIns="0" anchor="t">
            <a:spAutoFit/>
          </a:bodyPr>
          <a:lstStyle/>
          <a:p>
            <a:pPr algn="l">
              <a:spcBef>
                <a:spcPts val="0"/>
              </a:spcBef>
              <a:spcAft>
                <a:spcPts val="0"/>
              </a:spcAft>
            </a:pPr>
            <a:r>
              <a:rPr sz="1200" b="1" i="0">
                <a:solidFill>
                  <a:srgbClr val="4FD6A8"/>
                </a:solidFill>
                <a:latin typeface="Segoe UI"/>
                <a:ea typeface="Segoe UI"/>
                <a:cs typeface="Segoe UI"/>
              </a:rPr>
              <a:t>—  </a:t>
            </a:r>
            <a:r>
              <a:rPr sz="1200" b="0" i="0">
                <a:solidFill>
                  <a:srgbClr val="EEF3F8"/>
                </a:solidFill>
                <a:latin typeface="Segoe UI"/>
                <a:ea typeface="Segoe UI"/>
                <a:cs typeface="Segoe UI"/>
              </a:rPr>
              <a:t>consumer-protection leadership with BTRC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02336"/>
            <a:ext cx="8229600" cy="237744"/>
          </a:xfrm>
          <a:prstGeom prst="rect">
            <a:avLst/>
          </a:prstGeom>
          <a:noFill/>
        </p:spPr>
        <p:txBody>
          <a:bodyPr wrap="square" lIns="0" rIns="0" tIns="0" bIns="0" anchor="t">
            <a:spAutoFit/>
          </a:bodyPr>
          <a:lstStyle/>
          <a:p>
            <a:pPr algn="l">
              <a:spcBef>
                <a:spcPts val="0"/>
              </a:spcBef>
              <a:spcAft>
                <a:spcPts val="0"/>
              </a:spcAft>
            </a:pPr>
            <a:r>
              <a:rPr sz="1150" b="1" i="0">
                <a:solidFill>
                  <a:srgbClr val="F5B53F"/>
                </a:solidFill>
                <a:latin typeface="Segoe UI"/>
                <a:ea typeface="Segoe UI"/>
                <a:cs typeface="Segoe UI"/>
              </a:rPr>
              <a:t>APPENDIX · Q&amp;A PREPARATION</a:t>
            </a:r>
          </a:p>
        </p:txBody>
      </p:sp>
      <p:sp>
        <p:nvSpPr>
          <p:cNvPr id="3" name="Rectangle 2"/>
          <p:cNvSpPr/>
          <p:nvPr/>
        </p:nvSpPr>
        <p:spPr>
          <a:xfrm>
            <a:off x="658368" y="1371600"/>
            <a:ext cx="10874959" cy="15875"/>
          </a:xfrm>
          <a:prstGeom prst="rect">
            <a:avLst/>
          </a:prstGeom>
          <a:solidFill>
            <a:srgbClr val="2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37376"/>
            <a:ext cx="6400800" cy="237744"/>
          </a:xfrm>
          <a:prstGeom prst="rect">
            <a:avLst/>
          </a:prstGeom>
          <a:noFill/>
        </p:spPr>
        <p:txBody>
          <a:bodyPr wrap="square" lIns="0" rIns="0" tIns="0" bIns="0" anchor="t">
            <a:spAutoFit/>
          </a:bodyPr>
          <a:lstStyle/>
          <a:p>
            <a:pPr algn="l">
              <a:spcBef>
                <a:spcPts val="0"/>
              </a:spcBef>
              <a:spcAft>
                <a:spcPts val="0"/>
              </a:spcAft>
            </a:pPr>
            <a:r>
              <a:rPr sz="900" b="0" i="0">
                <a:solidFill>
                  <a:srgbClr val="93A6BA"/>
                </a:solidFill>
                <a:latin typeface="Segoe UI"/>
                <a:ea typeface="Segoe UI"/>
                <a:cs typeface="Segoe UI"/>
              </a:rPr>
              <a:t>Shotorko · </a:t>
            </a:r>
            <a:r>
              <a:rPr sz="900" b="0" i="0">
                <a:solidFill>
                  <a:srgbClr val="93A6BA"/>
                </a:solidFill>
                <a:latin typeface="Nirmala UI"/>
                <a:ea typeface="Nirmala UI"/>
                <a:cs typeface="Nirmala UI"/>
              </a:rPr>
              <a:t>সতর্ক · </a:t>
            </a:r>
            <a:r>
              <a:rPr sz="900" b="0" i="0">
                <a:solidFill>
                  <a:srgbClr val="93A6BA"/>
                </a:solidFill>
                <a:latin typeface="Segoe UI"/>
                <a:ea typeface="Segoe UI"/>
                <a:cs typeface="Segoe UI"/>
              </a:rPr>
              <a:t>GP FutureMakers 2026</a:t>
            </a:r>
          </a:p>
        </p:txBody>
      </p:sp>
      <p:sp>
        <p:nvSpPr>
          <p:cNvPr id="5" name="TextBox 4"/>
          <p:cNvSpPr txBox="1"/>
          <p:nvPr/>
        </p:nvSpPr>
        <p:spPr>
          <a:xfrm>
            <a:off x="10527487" y="6437376"/>
            <a:ext cx="1005840" cy="237744"/>
          </a:xfrm>
          <a:prstGeom prst="rect">
            <a:avLst/>
          </a:prstGeom>
          <a:noFill/>
        </p:spPr>
        <p:txBody>
          <a:bodyPr wrap="square" lIns="0" rIns="0" tIns="0" bIns="0" anchor="t">
            <a:spAutoFit/>
          </a:bodyPr>
          <a:lstStyle/>
          <a:p>
            <a:pPr algn="r">
              <a:spcBef>
                <a:spcPts val="0"/>
              </a:spcBef>
              <a:spcAft>
                <a:spcPts val="0"/>
              </a:spcAft>
            </a:pPr>
            <a:r>
              <a:rPr sz="900" b="0" i="0">
                <a:solidFill>
                  <a:srgbClr val="93A6BA"/>
                </a:solidFill>
                <a:latin typeface="Segoe UI"/>
                <a:ea typeface="Segoe UI"/>
                <a:cs typeface="Segoe UI"/>
              </a:rPr>
              <a:t>A3 / A3</a:t>
            </a:r>
          </a:p>
        </p:txBody>
      </p:sp>
      <p:sp>
        <p:nvSpPr>
          <p:cNvPr id="6" name="TextBox 5"/>
          <p:cNvSpPr txBox="1"/>
          <p:nvPr/>
        </p:nvSpPr>
        <p:spPr>
          <a:xfrm>
            <a:off x="658368" y="1517904"/>
            <a:ext cx="10874959" cy="548640"/>
          </a:xfrm>
          <a:prstGeom prst="rect">
            <a:avLst/>
          </a:prstGeom>
          <a:noFill/>
        </p:spPr>
        <p:txBody>
          <a:bodyPr wrap="square" lIns="0" rIns="0" tIns="0" bIns="0" anchor="t">
            <a:spAutoFit/>
          </a:bodyPr>
          <a:lstStyle/>
          <a:p>
            <a:pPr algn="l">
              <a:spcBef>
                <a:spcPts val="0"/>
              </a:spcBef>
              <a:spcAft>
                <a:spcPts val="0"/>
              </a:spcAft>
            </a:pPr>
            <a:r>
              <a:rPr sz="2600" b="1" i="0">
                <a:solidFill>
                  <a:srgbClr val="EEF3F8"/>
                </a:solidFill>
                <a:latin typeface="Segoe UI"/>
                <a:ea typeface="Segoe UI"/>
                <a:cs typeface="Segoe UI"/>
              </a:rPr>
              <a:t>If the three minutes go to the market.</a:t>
            </a:r>
          </a:p>
        </p:txBody>
      </p:sp>
      <p:sp>
        <p:nvSpPr>
          <p:cNvPr id="7" name="Rounded Rectangle 6"/>
          <p:cNvSpPr/>
          <p:nvPr/>
        </p:nvSpPr>
        <p:spPr>
          <a:xfrm>
            <a:off x="658368" y="2103120"/>
            <a:ext cx="10874959" cy="438912"/>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03120"/>
            <a:ext cx="2834640" cy="438912"/>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How big is it?</a:t>
            </a:r>
          </a:p>
        </p:txBody>
      </p:sp>
      <p:sp>
        <p:nvSpPr>
          <p:cNvPr id="9" name="TextBox 8"/>
          <p:cNvSpPr txBox="1"/>
          <p:nvPr/>
        </p:nvSpPr>
        <p:spPr>
          <a:xfrm>
            <a:off x="3767328" y="2103120"/>
            <a:ext cx="7537399" cy="438912"/>
          </a:xfrm>
          <a:prstGeom prst="rect">
            <a:avLst/>
          </a:prstGeom>
          <a:noFill/>
        </p:spPr>
        <p:txBody>
          <a:bodyPr wrap="square" lIns="0" rIns="0" tIns="0" bIns="0" anchor="ctr">
            <a:spAutoFit/>
          </a:bodyPr>
          <a:lstStyle/>
          <a:p>
            <a:pPr algn="l">
              <a:spcBef>
                <a:spcPts val="0"/>
              </a:spcBef>
              <a:spcAft>
                <a:spcPts val="0"/>
              </a:spcAft>
            </a:pPr>
            <a:r>
              <a:rPr sz="1250" b="0" i="0">
                <a:solidFill>
                  <a:srgbClr val="EEF3F8"/>
                </a:solidFill>
                <a:latin typeface="Segoe UI"/>
                <a:ea typeface="Segoe UI"/>
                <a:cs typeface="Segoe UI"/>
              </a:rPr>
              <a:t>Tk 45.9B TAM · Tk 20.9B on GP's base · calculated</a:t>
            </a:r>
          </a:p>
        </p:txBody>
      </p:sp>
      <p:sp>
        <p:nvSpPr>
          <p:cNvPr id="10" name="Rounded Rectangle 9"/>
          <p:cNvSpPr/>
          <p:nvPr/>
        </p:nvSpPr>
        <p:spPr>
          <a:xfrm>
            <a:off x="658368" y="2596896"/>
            <a:ext cx="10874959" cy="438912"/>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596896"/>
            <a:ext cx="2834640" cy="438912"/>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Who pays?</a:t>
            </a:r>
          </a:p>
        </p:txBody>
      </p:sp>
      <p:sp>
        <p:nvSpPr>
          <p:cNvPr id="12" name="TextBox 11"/>
          <p:cNvSpPr txBox="1"/>
          <p:nvPr/>
        </p:nvSpPr>
        <p:spPr>
          <a:xfrm>
            <a:off x="3767328" y="2596896"/>
            <a:ext cx="7537399" cy="438912"/>
          </a:xfrm>
          <a:prstGeom prst="rect">
            <a:avLst/>
          </a:prstGeom>
          <a:noFill/>
        </p:spPr>
        <p:txBody>
          <a:bodyPr wrap="square" lIns="0" rIns="0" tIns="0" bIns="0" anchor="ctr">
            <a:spAutoFit/>
          </a:bodyPr>
          <a:lstStyle/>
          <a:p>
            <a:pPr algn="l">
              <a:spcBef>
                <a:spcPts val="0"/>
              </a:spcBef>
              <a:spcAft>
                <a:spcPts val="0"/>
              </a:spcAft>
            </a:pPr>
            <a:r>
              <a:rPr sz="1250" b="0" i="0">
                <a:solidFill>
                  <a:srgbClr val="EEF3F8"/>
                </a:solidFill>
                <a:latin typeface="Segoe UI"/>
                <a:ea typeface="Segoe UI"/>
                <a:cs typeface="Segoe UI"/>
              </a:rPr>
              <a:t>the subscriber, billed by Grameenphone as a Tk 20 pack</a:t>
            </a:r>
          </a:p>
        </p:txBody>
      </p:sp>
      <p:sp>
        <p:nvSpPr>
          <p:cNvPr id="13" name="Rounded Rectangle 12"/>
          <p:cNvSpPr/>
          <p:nvPr/>
        </p:nvSpPr>
        <p:spPr>
          <a:xfrm>
            <a:off x="658368" y="3090672"/>
            <a:ext cx="10874959" cy="438912"/>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3090672"/>
            <a:ext cx="2834640" cy="438912"/>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Will anyone pay?</a:t>
            </a:r>
          </a:p>
        </p:txBody>
      </p:sp>
      <p:sp>
        <p:nvSpPr>
          <p:cNvPr id="15" name="TextBox 14"/>
          <p:cNvSpPr txBox="1"/>
          <p:nvPr/>
        </p:nvSpPr>
        <p:spPr>
          <a:xfrm>
            <a:off x="3767328" y="3090672"/>
            <a:ext cx="7537399" cy="438912"/>
          </a:xfrm>
          <a:prstGeom prst="rect">
            <a:avLst/>
          </a:prstGeom>
          <a:noFill/>
        </p:spPr>
        <p:txBody>
          <a:bodyPr wrap="square" lIns="0" rIns="0" tIns="0" bIns="0" anchor="ctr">
            <a:spAutoFit/>
          </a:bodyPr>
          <a:lstStyle/>
          <a:p>
            <a:pPr algn="l">
              <a:spcBef>
                <a:spcPts val="0"/>
              </a:spcBef>
              <a:spcAft>
                <a:spcPts val="0"/>
              </a:spcAft>
            </a:pPr>
            <a:r>
              <a:rPr sz="1250" b="0" i="0">
                <a:solidFill>
                  <a:srgbClr val="EEF3F8"/>
                </a:solidFill>
                <a:latin typeface="Segoe UI"/>
                <a:ea typeface="Segoe UI"/>
                <a:cs typeface="Segoe UI"/>
              </a:rPr>
              <a:t>Truecaller converts 0.75%; we assume 1% of an opt-in base</a:t>
            </a:r>
          </a:p>
        </p:txBody>
      </p:sp>
      <p:sp>
        <p:nvSpPr>
          <p:cNvPr id="16" name="Rounded Rectangle 15"/>
          <p:cNvSpPr/>
          <p:nvPr/>
        </p:nvSpPr>
        <p:spPr>
          <a:xfrm>
            <a:off x="658368" y="3584448"/>
            <a:ext cx="10874959" cy="438912"/>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3584448"/>
            <a:ext cx="2834640" cy="438912"/>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Why not just an app?</a:t>
            </a:r>
          </a:p>
        </p:txBody>
      </p:sp>
      <p:sp>
        <p:nvSpPr>
          <p:cNvPr id="18" name="TextBox 17"/>
          <p:cNvSpPr txBox="1"/>
          <p:nvPr/>
        </p:nvSpPr>
        <p:spPr>
          <a:xfrm>
            <a:off x="3767328" y="3584448"/>
            <a:ext cx="7537399" cy="438912"/>
          </a:xfrm>
          <a:prstGeom prst="rect">
            <a:avLst/>
          </a:prstGeom>
          <a:noFill/>
        </p:spPr>
        <p:txBody>
          <a:bodyPr wrap="square" lIns="0" rIns="0" tIns="0" bIns="0" anchor="ctr">
            <a:spAutoFit/>
          </a:bodyPr>
          <a:lstStyle/>
          <a:p>
            <a:pPr algn="l">
              <a:spcBef>
                <a:spcPts val="0"/>
              </a:spcBef>
              <a:spcAft>
                <a:spcPts val="0"/>
              </a:spcAft>
            </a:pPr>
            <a:r>
              <a:rPr sz="1250" b="0" i="0">
                <a:solidFill>
                  <a:srgbClr val="EEF3F8"/>
                </a:solidFill>
                <a:latin typeface="Segoe UI"/>
                <a:ea typeface="Segoe UI"/>
                <a:cs typeface="Segoe UI"/>
              </a:rPr>
              <a:t>the phone at risk is a Tk 800 button phone — it needs the network</a:t>
            </a:r>
          </a:p>
        </p:txBody>
      </p:sp>
      <p:sp>
        <p:nvSpPr>
          <p:cNvPr id="19" name="Rounded Rectangle 18"/>
          <p:cNvSpPr/>
          <p:nvPr/>
        </p:nvSpPr>
        <p:spPr>
          <a:xfrm>
            <a:off x="658368" y="4078224"/>
            <a:ext cx="10874959" cy="438912"/>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078224"/>
            <a:ext cx="2834640" cy="438912"/>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Why Grameenphone?</a:t>
            </a:r>
          </a:p>
        </p:txBody>
      </p:sp>
      <p:sp>
        <p:nvSpPr>
          <p:cNvPr id="21" name="TextBox 20"/>
          <p:cNvSpPr txBox="1"/>
          <p:nvPr/>
        </p:nvSpPr>
        <p:spPr>
          <a:xfrm>
            <a:off x="3767328" y="4078224"/>
            <a:ext cx="7537399" cy="438912"/>
          </a:xfrm>
          <a:prstGeom prst="rect">
            <a:avLst/>
          </a:prstGeom>
          <a:noFill/>
        </p:spPr>
        <p:txBody>
          <a:bodyPr wrap="square" lIns="0" rIns="0" tIns="0" bIns="0" anchor="ctr">
            <a:spAutoFit/>
          </a:bodyPr>
          <a:lstStyle/>
          <a:p>
            <a:pPr algn="l">
              <a:spcBef>
                <a:spcPts val="0"/>
              </a:spcBef>
              <a:spcAft>
                <a:spcPts val="0"/>
              </a:spcAft>
            </a:pPr>
            <a:r>
              <a:rPr sz="1250" b="0" i="0">
                <a:solidFill>
                  <a:srgbClr val="EEF3F8"/>
                </a:solidFill>
                <a:latin typeface="Segoe UI"/>
                <a:ea typeface="Segoe UI"/>
                <a:cs typeface="Segoe UI"/>
              </a:rPr>
              <a:t>warn before the ring, and reputation without a cold start</a:t>
            </a:r>
          </a:p>
        </p:txBody>
      </p:sp>
      <p:sp>
        <p:nvSpPr>
          <p:cNvPr id="22" name="Rounded Rectangle 21"/>
          <p:cNvSpPr/>
          <p:nvPr/>
        </p:nvSpPr>
        <p:spPr>
          <a:xfrm>
            <a:off x="658368" y="4572000"/>
            <a:ext cx="10874959" cy="438912"/>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7" y="4572000"/>
            <a:ext cx="2834640" cy="438912"/>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Cost to serve?</a:t>
            </a:r>
          </a:p>
        </p:txBody>
      </p:sp>
      <p:sp>
        <p:nvSpPr>
          <p:cNvPr id="24" name="TextBox 23"/>
          <p:cNvSpPr txBox="1"/>
          <p:nvPr/>
        </p:nvSpPr>
        <p:spPr>
          <a:xfrm>
            <a:off x="3767328" y="4572000"/>
            <a:ext cx="7537399" cy="438912"/>
          </a:xfrm>
          <a:prstGeom prst="rect">
            <a:avLst/>
          </a:prstGeom>
          <a:noFill/>
        </p:spPr>
        <p:txBody>
          <a:bodyPr wrap="square" lIns="0" rIns="0" tIns="0" bIns="0" anchor="ctr">
            <a:spAutoFit/>
          </a:bodyPr>
          <a:lstStyle/>
          <a:p>
            <a:pPr algn="l">
              <a:spcBef>
                <a:spcPts val="0"/>
              </a:spcBef>
              <a:spcAft>
                <a:spcPts val="0"/>
              </a:spcAft>
            </a:pPr>
            <a:r>
              <a:rPr sz="1250" b="0" i="0">
                <a:solidFill>
                  <a:srgbClr val="EEF3F8"/>
                </a:solidFill>
                <a:latin typeface="Segoe UI"/>
                <a:ea typeface="Segoe UI"/>
                <a:cs typeface="Segoe UI"/>
              </a:rPr>
              <a:t>on-device inference: a warning costs no cloud call</a:t>
            </a:r>
          </a:p>
        </p:txBody>
      </p:sp>
      <p:sp>
        <p:nvSpPr>
          <p:cNvPr id="25" name="Rounded Rectangle 24"/>
          <p:cNvSpPr/>
          <p:nvPr/>
        </p:nvSpPr>
        <p:spPr>
          <a:xfrm>
            <a:off x="658368" y="5065776"/>
            <a:ext cx="10874959" cy="438912"/>
          </a:xfrm>
          <a:prstGeom prst="roundRect">
            <a:avLst>
              <a:gd name="adj" fmla="val 12000"/>
            </a:avLst>
          </a:prstGeom>
          <a:solidFill>
            <a:srgbClr val="18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7" y="5065776"/>
            <a:ext cx="2834640" cy="438912"/>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Past GP?</a:t>
            </a:r>
          </a:p>
        </p:txBody>
      </p:sp>
      <p:sp>
        <p:nvSpPr>
          <p:cNvPr id="27" name="TextBox 26"/>
          <p:cNvSpPr txBox="1"/>
          <p:nvPr/>
        </p:nvSpPr>
        <p:spPr>
          <a:xfrm>
            <a:off x="3767328" y="5065776"/>
            <a:ext cx="7537399" cy="438912"/>
          </a:xfrm>
          <a:prstGeom prst="rect">
            <a:avLst/>
          </a:prstGeom>
          <a:noFill/>
        </p:spPr>
        <p:txBody>
          <a:bodyPr wrap="square" lIns="0" rIns="0" tIns="0" bIns="0" anchor="ctr">
            <a:spAutoFit/>
          </a:bodyPr>
          <a:lstStyle/>
          <a:p>
            <a:pPr algn="l">
              <a:spcBef>
                <a:spcPts val="0"/>
              </a:spcBef>
              <a:spcAft>
                <a:spcPts val="0"/>
              </a:spcAft>
            </a:pPr>
            <a:r>
              <a:rPr sz="1250" b="0" i="0">
                <a:solidFill>
                  <a:srgbClr val="EEF3F8"/>
                </a:solidFill>
                <a:latin typeface="Segoe UI"/>
                <a:ea typeface="Segoe UI"/>
                <a:cs typeface="Segoe UI"/>
              </a:rPr>
              <a:t>a shared report standard, then operators, MFS and BTRC</a:t>
            </a:r>
          </a:p>
        </p:txBody>
      </p:sp>
      <p:sp>
        <p:nvSpPr>
          <p:cNvPr id="28" name="Rounded Rectangle 27"/>
          <p:cNvSpPr/>
          <p:nvPr/>
        </p:nvSpPr>
        <p:spPr>
          <a:xfrm>
            <a:off x="658368" y="5559552"/>
            <a:ext cx="10874959" cy="438912"/>
          </a:xfrm>
          <a:prstGeom prst="roundRect">
            <a:avLst>
              <a:gd name="adj" fmla="val 12000"/>
            </a:avLst>
          </a:prstGeom>
          <a:solidFill>
            <a:srgbClr val="1F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5559552"/>
            <a:ext cx="2834640" cy="438912"/>
          </a:xfrm>
          <a:prstGeom prst="rect">
            <a:avLst/>
          </a:prstGeom>
          <a:noFill/>
        </p:spPr>
        <p:txBody>
          <a:bodyPr wrap="square" lIns="0" rIns="0" tIns="0" bIns="0" anchor="ctr">
            <a:spAutoFit/>
          </a:bodyPr>
          <a:lstStyle/>
          <a:p>
            <a:pPr algn="l">
              <a:spcBef>
                <a:spcPts val="0"/>
              </a:spcBef>
              <a:spcAft>
                <a:spcPts val="0"/>
              </a:spcAft>
            </a:pPr>
            <a:r>
              <a:rPr sz="1350" b="1" i="0">
                <a:solidFill>
                  <a:srgbClr val="F5B53F"/>
                </a:solidFill>
                <a:latin typeface="Segoe UI"/>
                <a:ea typeface="Segoe UI"/>
                <a:cs typeface="Segoe UI"/>
              </a:rPr>
              <a:t>What would stop us?</a:t>
            </a:r>
          </a:p>
        </p:txBody>
      </p:sp>
      <p:sp>
        <p:nvSpPr>
          <p:cNvPr id="30" name="TextBox 29"/>
          <p:cNvSpPr txBox="1"/>
          <p:nvPr/>
        </p:nvSpPr>
        <p:spPr>
          <a:xfrm>
            <a:off x="3767328" y="5559552"/>
            <a:ext cx="7537399" cy="438912"/>
          </a:xfrm>
          <a:prstGeom prst="rect">
            <a:avLst/>
          </a:prstGeom>
          <a:noFill/>
        </p:spPr>
        <p:txBody>
          <a:bodyPr wrap="square" lIns="0" rIns="0" tIns="0" bIns="0" anchor="ctr">
            <a:spAutoFit/>
          </a:bodyPr>
          <a:lstStyle/>
          <a:p>
            <a:pPr algn="l">
              <a:spcBef>
                <a:spcPts val="0"/>
              </a:spcBef>
              <a:spcAft>
                <a:spcPts val="0"/>
              </a:spcAft>
            </a:pPr>
            <a:r>
              <a:rPr sz="1250" b="0" i="0">
                <a:solidFill>
                  <a:srgbClr val="EEF3F8"/>
                </a:solidFill>
                <a:latin typeface="Segoe UI"/>
                <a:ea typeface="Segoe UI"/>
                <a:cs typeface="Segoe UI"/>
              </a:rPr>
              <a:t>if four weeks of real Bangla speech cannot hold the false-positive rate</a:t>
            </a:r>
          </a:p>
        </p:txBody>
      </p:sp>
      <p:sp>
        <p:nvSpPr>
          <p:cNvPr id="31" name="TextBox 30"/>
          <p:cNvSpPr txBox="1"/>
          <p:nvPr/>
        </p:nvSpPr>
        <p:spPr>
          <a:xfrm>
            <a:off x="658368" y="6144768"/>
            <a:ext cx="10874959" cy="201168"/>
          </a:xfrm>
          <a:prstGeom prst="rect">
            <a:avLst/>
          </a:prstGeom>
          <a:noFill/>
        </p:spPr>
        <p:txBody>
          <a:bodyPr wrap="square" lIns="0" rIns="0" tIns="0" bIns="0" anchor="t">
            <a:spAutoFit/>
          </a:bodyPr>
          <a:lstStyle/>
          <a:p>
            <a:pPr algn="l">
              <a:spcBef>
                <a:spcPts val="0"/>
              </a:spcBef>
              <a:spcAft>
                <a:spcPts val="0"/>
              </a:spcAft>
            </a:pPr>
            <a:r>
              <a:rPr sz="950" b="0" i="1">
                <a:solidFill>
                  <a:srgbClr val="93A6BA"/>
                </a:solidFill>
                <a:latin typeface="Segoe UI"/>
                <a:ea typeface="Segoe UI"/>
                <a:cs typeface="Segoe UI"/>
              </a:rPr>
              <a:t>The full bank of twenty-three questions, with the criterion each one scores, is in pitch/deck-and-qa.md and in the notes pane of every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Shotorko (সতর্ক) — GP FutureMakers 2026 Concept Pitch</dc:title>
  <dc:subject/>
  <dc:creator>Shotorko</dc:creator>
  <cp:keywords/>
  <dc:description>10 projector slides + 3 appendix. Screenshots from the live prototype at abukawser.xyz. Market figures trace to Bangladesh Bank, BTRC, Truecaller, Verizon and the US FTC (Appendix A1). Speaker notes carry timing, criterion and Q&amp;A pointers.</dc:description>
  <cp:lastModifiedBy>Steve Canny</cp:lastModifiedBy>
  <cp:revision>1</cp:revision>
  <dcterms:created xsi:type="dcterms:W3CDTF">2013-01-27T09:14:16Z</dcterms:created>
  <dcterms:modified xsi:type="dcterms:W3CDTF">2013-01-27T09:15:58Z</dcterms:modified>
  <cp:category/>
</cp:coreProperties>
</file>